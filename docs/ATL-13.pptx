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7" r:id="rId8"/>
    <p:sldId id="261" r:id="rId9"/>
    <p:sldId id="265" r:id="rId10"/>
    <p:sldId id="262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30">
          <p15:clr>
            <a:srgbClr val="747775"/>
          </p15:clr>
        </p15:guide>
        <p15:guide id="2" pos="144">
          <p15:clr>
            <a:srgbClr val="747775"/>
          </p15:clr>
        </p15:guide>
        <p15:guide id="3" orient="horz" pos="360">
          <p15:clr>
            <a:srgbClr val="747775"/>
          </p15:clr>
        </p15:guide>
        <p15:guide id="4" pos="446">
          <p15:clr>
            <a:srgbClr val="747775"/>
          </p15:clr>
        </p15:guide>
        <p15:guide id="5" pos="5477">
          <p15:clr>
            <a:srgbClr val="747775"/>
          </p15:clr>
        </p15:guide>
        <p15:guide id="6" orient="horz" pos="1253">
          <p15:clr>
            <a:srgbClr val="747775"/>
          </p15:clr>
        </p15:guide>
        <p15:guide id="7" pos="284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530251-C406-4842-BE4E-697FB0008ECC}">
  <a:tblStyle styleId="{B0530251-C406-4842-BE4E-697FB0008E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75"/>
  </p:normalViewPr>
  <p:slideViewPr>
    <p:cSldViewPr snapToGrid="0">
      <p:cViewPr varScale="1">
        <p:scale>
          <a:sx n="159" d="100"/>
          <a:sy n="159" d="100"/>
        </p:scale>
        <p:origin x="216" y="176"/>
      </p:cViewPr>
      <p:guideLst>
        <p:guide orient="horz" pos="3130"/>
        <p:guide pos="144"/>
        <p:guide orient="horz" pos="360"/>
        <p:guide pos="446"/>
        <p:guide pos="5477"/>
        <p:guide orient="horz" pos="1253"/>
        <p:guide pos="2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6d7e2a9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76d7e2a9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52fa8b8a4798773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52fa8b8a4798773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52fa8b8a4798773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52fa8b8a4798773f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2fa8b8a4798773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2fa8b8a4798773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2fa8b8a4798773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2fa8b8a4798773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user is the city's economic-development officer in the anchor-closure track: an employer has announced it leaves in 90 days, there is a $50,000 fund, and nobody has applied yet. The officer clicks the closing employer, sets the budget and an assumption about what a grant changes. The agent walks the graph to the shops that lose weekday trade and then backward to their suppliers, and the map shows every path. Hovering a business gives its grant, what it protects and why it beat the runner-up. The officer can change the assumption and rerun, then export a grant memo that states its assumptions and which evidence is modeled. The change: help arrives inside the 90-day window instead of after closures, and every dollar comes with a case the officer can defend.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52fa8b8a4798773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52fa8b8a4798773f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2fa8b8a4798773f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2fa8b8a4798773f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officer picks a closing employer block, a budget and an assumption about what a grant changes. The map posts that scenario to our ADK root agent on Agent Runtime, a </a:t>
            </a:r>
            <a:r>
              <a:rPr dirty="0" err="1"/>
              <a:t>SequentialAgent</a:t>
            </a:r>
            <a:r>
              <a:rPr dirty="0"/>
              <a:t> with four Gemini sub-agents. Each writes its result into shared session state for the next one. The Cascade Scout and Risk Assessor reach </a:t>
            </a:r>
            <a:r>
              <a:rPr dirty="0" err="1"/>
              <a:t>BigQuery</a:t>
            </a:r>
            <a:r>
              <a:rPr dirty="0"/>
              <a:t> through MCP Toolbox, which runs our two-leg GQL traversal on the property graph. The Allocator and Memo Writer call our own Python tools, so every dollar amount is computed, not generated. The result comes back as </a:t>
            </a:r>
            <a:r>
              <a:rPr dirty="0" err="1"/>
              <a:t>decisions.json</a:t>
            </a:r>
            <a:r>
              <a:rPr dirty="0"/>
              <a:t>, which the map reads so hovering is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noFill/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1" name="Google Shape;11;p2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21317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title="Asset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200" y="1779099"/>
            <a:ext cx="2861000" cy="18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6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26" y="689350"/>
            <a:ext cx="2707675" cy="37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7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577750" y="514609"/>
            <a:ext cx="28377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Our Team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8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2380650" y="6541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Challenge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Overview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9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7" name="Google Shape;77;p19"/>
          <p:cNvSpPr txBox="1"/>
          <p:nvPr/>
        </p:nvSpPr>
        <p:spPr>
          <a:xfrm>
            <a:off x="2380650" y="11113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Impact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20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-207025" y="490822"/>
            <a:ext cx="43827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Sources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/>
        </p:nvSpPr>
        <p:spPr>
          <a:xfrm>
            <a:off x="918646" y="662463"/>
            <a:ext cx="26796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  Architecture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1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121317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13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/>
        </p:nvSpPr>
        <p:spPr>
          <a:xfrm>
            <a:off x="577752" y="405687"/>
            <a:ext cx="43827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Instructions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26" y="689350"/>
            <a:ext cx="2707675" cy="37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>
            <a:spLocks noGrp="1"/>
          </p:cNvSpPr>
          <p:nvPr>
            <p:ph type="sldNum" idx="12"/>
          </p:nvPr>
        </p:nvSpPr>
        <p:spPr>
          <a:xfrm>
            <a:off x="8365633" y="473065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fld>
            <a:endParaRPr sz="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77750" y="1305100"/>
            <a:ext cx="5333400" cy="3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 this slide template as the pitch deck you will submit, please </a:t>
            </a:r>
            <a:r>
              <a:rPr lang="en" sz="15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 NOT</a:t>
            </a: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add any additional slides. Any additional slides may not be reviewed as part of your submission. You should have</a:t>
            </a:r>
            <a:r>
              <a:rPr lang="en" sz="15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6 slides total.</a:t>
            </a: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“Our Team” slide, slide 3, needs to be completely filled out.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 Flex"/>
              <a:buAutoNum type="arabicPeriod"/>
            </a:pPr>
            <a:r>
              <a:rPr lang="en" sz="15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Reminder- you must also submit: </a:t>
            </a:r>
            <a:endParaRPr sz="15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squad environment link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demo / live app link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Your Github repo link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ogle Sans"/>
              <a:buAutoNum type="alphaLcPeriod"/>
            </a:pP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Recorded pitch video, </a:t>
            </a:r>
            <a:r>
              <a:rPr lang="en" u="sng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under</a:t>
            </a: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3 minutes. </a:t>
            </a:r>
            <a:r>
              <a:rPr lang="en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Please record yourselves briefly explaining/pitching your solution.</a:t>
            </a:r>
            <a:r>
              <a:rPr lang="en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You can record this from any device.  </a:t>
            </a:r>
            <a:endParaRPr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F8F8F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/>
        </p:nvSpPr>
        <p:spPr>
          <a:xfrm>
            <a:off x="5790775" y="2586700"/>
            <a:ext cx="30807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650" tIns="61650" rIns="61650" bIns="616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Team name here</a:t>
            </a:r>
            <a:endParaRPr sz="24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20" name="Google Shape;120;p28" title="A4I_whiteArtboard 38.5-NYC.png"/>
          <p:cNvPicPr preferRelativeResize="0"/>
          <p:nvPr/>
        </p:nvPicPr>
        <p:blipFill rotWithShape="1">
          <a:blip r:embed="rId3">
            <a:alphaModFix/>
          </a:blip>
          <a:srcRect t="27378" b="25727"/>
          <a:stretch/>
        </p:blipFill>
        <p:spPr>
          <a:xfrm rot="10800000" flipH="1">
            <a:off x="3586375" y="2509998"/>
            <a:ext cx="2276050" cy="6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29"/>
          <p:cNvGraphicFramePr/>
          <p:nvPr/>
        </p:nvGraphicFramePr>
        <p:xfrm>
          <a:off x="577750" y="1357275"/>
          <a:ext cx="8117675" cy="3569355"/>
        </p:xfrm>
        <a:graphic>
          <a:graphicData uri="http://schemas.openxmlformats.org/drawingml/2006/table">
            <a:tbl>
              <a:tblPr>
                <a:noFill/>
                <a:tableStyleId>{B0530251-C406-4842-BE4E-697FB0008ECC}</a:tableStyleId>
              </a:tblPr>
              <a:tblGrid>
                <a:gridCol w="135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NAME 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EMAIL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PHONE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FILMING AVAILABILITY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(between 10AM-3PM on 10/29)</a:t>
                      </a:r>
                      <a:endParaRPr sz="600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PROJECT SHARING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SHARE WITH </a:t>
                      </a:r>
                      <a:br>
                        <a:rPr lang="en" sz="800" b="1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</a:br>
                      <a:r>
                        <a:rPr lang="en" sz="600">
                          <a:solidFill>
                            <a:schemeClr val="lt1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(provide emails)</a:t>
                      </a:r>
                      <a:endParaRPr sz="600"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Amogh U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Nabil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Mastan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Julio 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7" name="Google Shape;127;p29"/>
          <p:cNvSpPr txBox="1"/>
          <p:nvPr/>
        </p:nvSpPr>
        <p:spPr>
          <a:xfrm>
            <a:off x="3415450" y="468350"/>
            <a:ext cx="53760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Filming Availability: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Should your team be selected as the winner, indicate if and when you are able to return to the Coca-Cola Roxy between 1:00-4:00 PM on Thursday 10/29 to film a team pitch of your project. 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Project Sharing: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Mark “yes” if you are OK with us sharing what you built with your team at work.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Share With: </a:t>
            </a: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If “yes” to the above, is there anyone specific you’d like us to share it with at work?  Provide email(s).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👉 </a:t>
            </a:r>
            <a:r>
              <a:rPr lang="en"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 your Discord channel tonight to learn if you won. We will contact you no later than 9:00 PM.  </a:t>
            </a:r>
            <a:endParaRPr sz="800" b="1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33" name="Google Shape;133;p30" title="A4I_whiteArtboard 28.5-NYC.png"/>
          <p:cNvPicPr preferRelativeResize="0"/>
          <p:nvPr/>
        </p:nvPicPr>
        <p:blipFill rotWithShape="1">
          <a:blip r:embed="rId3">
            <a:alphaModFix/>
          </a:blip>
          <a:srcRect l="32349" r="40091"/>
          <a:stretch/>
        </p:blipFill>
        <p:spPr>
          <a:xfrm>
            <a:off x="1774475" y="471199"/>
            <a:ext cx="1003551" cy="2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 title="A4I_whiteArtboard 28.5-NYC.png"/>
          <p:cNvPicPr preferRelativeResize="0"/>
          <p:nvPr/>
        </p:nvPicPr>
        <p:blipFill rotWithShape="1">
          <a:blip r:embed="rId3">
            <a:alphaModFix/>
          </a:blip>
          <a:srcRect l="32349" r="40091"/>
          <a:stretch/>
        </p:blipFill>
        <p:spPr>
          <a:xfrm rot="10800000">
            <a:off x="6382750" y="506306"/>
            <a:ext cx="1003551" cy="2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2769600" y="2637075"/>
            <a:ext cx="3604800" cy="20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Real-world challenge</a:t>
            </a:r>
            <a:b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clear description of the specific real-world challenge your team is tackling.</a:t>
            </a:r>
            <a:endParaRPr sz="1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Details</a:t>
            </a:r>
            <a:b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Call out who benefits from solving this challenge and why it matters on a broader societal scale.</a:t>
            </a:r>
            <a:endParaRPr sz="1200">
              <a:solidFill>
                <a:srgbClr val="F8F8F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ctr" rtl="0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</a:pP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1" name="Google Shape;141;p31"/>
          <p:cNvSpPr txBox="1"/>
          <p:nvPr/>
        </p:nvSpPr>
        <p:spPr>
          <a:xfrm>
            <a:off x="2585575" y="2405175"/>
            <a:ext cx="3862800" cy="17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Our Agent</a:t>
            </a:r>
            <a:b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explanation of how your custom AI agent solution creates meaningful change.</a:t>
            </a:r>
            <a:b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Details</a:t>
            </a:r>
            <a:b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" sz="12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Describe how your target users would interact with and use this solution, and outline the concrete, positive outcomes they will experience.</a:t>
            </a:r>
            <a:endParaRPr sz="1200"/>
          </a:p>
        </p:txBody>
      </p:sp>
      <p:pic>
        <p:nvPicPr>
          <p:cNvPr id="142" name="Google Shape;1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1225522"/>
            <a:ext cx="1936451" cy="26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550" y="1225522"/>
            <a:ext cx="1936451" cy="26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72925-4A0F-0D48-C14B-6D5BE9F4B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Title"/>
          <p:cNvSpPr txBox="1"/>
          <p:nvPr/>
        </p:nvSpPr>
        <p:spPr>
          <a:xfrm>
            <a:off x="347472" y="237744"/>
            <a:ext cx="843076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1">
                <a:solidFill>
                  <a:srgbClr val="FFFFFF"/>
                </a:solidFill>
                <a:latin typeface="Calibri"/>
              </a:rPr>
              <a:t>From a closure notice to funded grants, before anyone applies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347472" y="685800"/>
            <a:ext cx="8430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B8C4C6"/>
                </a:solidFill>
                <a:latin typeface="Calibri"/>
              </a:rPr>
              <a:t>Anchor-closure track · our user: the city's economic-development officer · 90 days' notice, $50,000, and no applications yet</a:t>
            </a:r>
          </a:p>
        </p:txBody>
      </p:sp>
      <p:sp>
        <p:nvSpPr>
          <p:cNvPr id="5" name="How the officer uses it"/>
          <p:cNvSpPr/>
          <p:nvPr/>
        </p:nvSpPr>
        <p:spPr>
          <a:xfrm>
            <a:off x="347472" y="1060704"/>
            <a:ext cx="4846320" cy="3127248"/>
          </a:xfrm>
          <a:prstGeom prst="roundRect">
            <a:avLst>
              <a:gd name="adj" fmla="val 4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eps heading"/>
          <p:cNvSpPr txBox="1"/>
          <p:nvPr/>
        </p:nvSpPr>
        <p:spPr>
          <a:xfrm>
            <a:off x="512064" y="115214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>
                <a:solidFill>
                  <a:srgbClr val="12343B"/>
                </a:solidFill>
                <a:latin typeface="Calibri"/>
              </a:rPr>
              <a:t>How the officer uses it</a:t>
            </a:r>
          </a:p>
        </p:txBody>
      </p:sp>
      <p:sp>
        <p:nvSpPr>
          <p:cNvPr id="7" name="Step 1"/>
          <p:cNvSpPr/>
          <p:nvPr/>
        </p:nvSpPr>
        <p:spPr>
          <a:xfrm>
            <a:off x="475488" y="1463040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1 number"/>
          <p:cNvSpPr/>
          <p:nvPr/>
        </p:nvSpPr>
        <p:spPr>
          <a:xfrm>
            <a:off x="585216" y="1613916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Step 1 text"/>
          <p:cNvSpPr txBox="1"/>
          <p:nvPr/>
        </p:nvSpPr>
        <p:spPr>
          <a:xfrm>
            <a:off x="987552" y="1527048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Name the closure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Click the closing employer on the map. Set the budget and what a grant is assumed to change.</a:t>
            </a:r>
          </a:p>
        </p:txBody>
      </p:sp>
      <p:sp>
        <p:nvSpPr>
          <p:cNvPr id="10" name="Step 2"/>
          <p:cNvSpPr/>
          <p:nvPr/>
        </p:nvSpPr>
        <p:spPr>
          <a:xfrm>
            <a:off x="475488" y="2130552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ep 2 number"/>
          <p:cNvSpPr/>
          <p:nvPr/>
        </p:nvSpPr>
        <p:spPr>
          <a:xfrm>
            <a:off x="585216" y="2281428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Step 2 text"/>
          <p:cNvSpPr txBox="1"/>
          <p:nvPr/>
        </p:nvSpPr>
        <p:spPr>
          <a:xfrm>
            <a:off x="987552" y="2194560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See who is exposed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The map lights up the shops losing weekday trade, then the suppliers behind them, every path drawn.</a:t>
            </a:r>
          </a:p>
        </p:txBody>
      </p:sp>
      <p:sp>
        <p:nvSpPr>
          <p:cNvPr id="13" name="Step 3"/>
          <p:cNvSpPr/>
          <p:nvPr/>
        </p:nvSpPr>
        <p:spPr>
          <a:xfrm>
            <a:off x="475488" y="2798064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ep 3 number"/>
          <p:cNvSpPr/>
          <p:nvPr/>
        </p:nvSpPr>
        <p:spPr>
          <a:xfrm>
            <a:off x="585216" y="2948940"/>
            <a:ext cx="274320" cy="274320"/>
          </a:xfrm>
          <a:prstGeom prst="ellipse">
            <a:avLst/>
          </a:prstGeom>
          <a:solidFill>
            <a:srgbClr val="C2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Step 3 text"/>
          <p:cNvSpPr txBox="1"/>
          <p:nvPr/>
        </p:nvSpPr>
        <p:spPr>
          <a:xfrm>
            <a:off x="987552" y="2862072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Question any decision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Hover a business for its grant, what it protects, and why it beat the runner-up.</a:t>
            </a:r>
          </a:p>
        </p:txBody>
      </p:sp>
      <p:sp>
        <p:nvSpPr>
          <p:cNvPr id="16" name="Step 4"/>
          <p:cNvSpPr/>
          <p:nvPr/>
        </p:nvSpPr>
        <p:spPr>
          <a:xfrm>
            <a:off x="475488" y="3465576"/>
            <a:ext cx="4590288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ep 4 number"/>
          <p:cNvSpPr/>
          <p:nvPr/>
        </p:nvSpPr>
        <p:spPr>
          <a:xfrm>
            <a:off x="585216" y="3616452"/>
            <a:ext cx="274320" cy="274320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Step 4 text"/>
          <p:cNvSpPr txBox="1"/>
          <p:nvPr/>
        </p:nvSpPr>
        <p:spPr>
          <a:xfrm>
            <a:off x="987552" y="3529584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2343B"/>
                </a:solidFill>
                <a:latin typeface="Calibri"/>
              </a:rPr>
              <a:t>Stress-test it, then take it to the meeting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Change the assumption and rerun. Export the grant memo, with assumptions and modeled evidence stated.</a:t>
            </a:r>
          </a:p>
        </p:txBody>
      </p:sp>
      <p:sp>
        <p:nvSpPr>
          <p:cNvPr id="19" name="Outcomes heading"/>
          <p:cNvSpPr txBox="1"/>
          <p:nvPr/>
        </p:nvSpPr>
        <p:spPr>
          <a:xfrm>
            <a:off x="5413248" y="109728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>
                <a:solidFill>
                  <a:srgbClr val="FFFFFF"/>
                </a:solidFill>
                <a:latin typeface="Calibri"/>
              </a:rPr>
              <a:t>What changes for them</a:t>
            </a:r>
          </a:p>
        </p:txBody>
      </p:sp>
      <p:sp>
        <p:nvSpPr>
          <p:cNvPr id="20" name="Outcome 1"/>
          <p:cNvSpPr/>
          <p:nvPr/>
        </p:nvSpPr>
        <p:spPr>
          <a:xfrm>
            <a:off x="5413248" y="137160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utcome 1 text"/>
          <p:cNvSpPr txBox="1"/>
          <p:nvPr/>
        </p:nvSpPr>
        <p:spPr>
          <a:xfrm>
            <a:off x="5522976" y="142646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They reach people before the damage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The 90 days go to prevention, including suppliers that never served the office.</a:t>
            </a:r>
          </a:p>
        </p:txBody>
      </p:sp>
      <p:sp>
        <p:nvSpPr>
          <p:cNvPr id="22" name="Outcome 2"/>
          <p:cNvSpPr/>
          <p:nvPr/>
        </p:nvSpPr>
        <p:spPr>
          <a:xfrm>
            <a:off x="5413248" y="208026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utcome 2 text"/>
          <p:cNvSpPr txBox="1"/>
          <p:nvPr/>
        </p:nvSpPr>
        <p:spPr>
          <a:xfrm>
            <a:off x="5522976" y="213512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A case they can defend, not a score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Our tools compute every dollar; Gemini explains it. Paths shown, runner-up named.</a:t>
            </a:r>
          </a:p>
        </p:txBody>
      </p:sp>
      <p:sp>
        <p:nvSpPr>
          <p:cNvPr id="24" name="Outcome 3"/>
          <p:cNvSpPr/>
          <p:nvPr/>
        </p:nvSpPr>
        <p:spPr>
          <a:xfrm>
            <a:off x="5413248" y="278892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utcome 3 text"/>
          <p:cNvSpPr txBox="1"/>
          <p:nvPr/>
        </p:nvSpPr>
        <p:spPr>
          <a:xfrm>
            <a:off x="5522976" y="284378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Honest about what it cannot know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States what a grant is assumed to change and flags which links are modeled.</a:t>
            </a:r>
          </a:p>
        </p:txBody>
      </p:sp>
      <p:sp>
        <p:nvSpPr>
          <p:cNvPr id="26" name="Outcome 4"/>
          <p:cNvSpPr/>
          <p:nvPr/>
        </p:nvSpPr>
        <p:spPr>
          <a:xfrm>
            <a:off x="5413248" y="3497580"/>
            <a:ext cx="3383280" cy="630936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utcome 4 text"/>
          <p:cNvSpPr txBox="1"/>
          <p:nvPr/>
        </p:nvSpPr>
        <p:spPr>
          <a:xfrm>
            <a:off x="5522976" y="3552444"/>
            <a:ext cx="3182112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1F6F6B"/>
                </a:solidFill>
                <a:latin typeface="Calibri"/>
              </a:rPr>
              <a:t>Fairer by design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4A5A5D"/>
                </a:solidFill>
                <a:latin typeface="Calibri"/>
              </a:rPr>
              <a:t>It does not just fund the biggest hub, and audits who benefits by neighborhood.</a:t>
            </a:r>
          </a:p>
        </p:txBody>
      </p:sp>
      <p:sp>
        <p:nvSpPr>
          <p:cNvPr id="28" name="Before and after"/>
          <p:cNvSpPr/>
          <p:nvPr/>
        </p:nvSpPr>
        <p:spPr>
          <a:xfrm>
            <a:off x="347472" y="4334256"/>
            <a:ext cx="8458200" cy="530352"/>
          </a:xfrm>
          <a:prstGeom prst="roundRect">
            <a:avLst>
              <a:gd name="adj" fmla="val 1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anner text"/>
          <p:cNvSpPr txBox="1"/>
          <p:nvPr/>
        </p:nvSpPr>
        <p:spPr>
          <a:xfrm>
            <a:off x="512064" y="4389120"/>
            <a:ext cx="81290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50" b="1">
                <a:solidFill>
                  <a:srgbClr val="B8D4D0"/>
                </a:solidFill>
                <a:latin typeface="Calibri"/>
              </a:rPr>
              <a:t>Today: </a:t>
            </a:r>
            <a:r>
              <a:rPr sz="1050" b="0">
                <a:solidFill>
                  <a:srgbClr val="FFFFFF"/>
                </a:solidFill>
                <a:latin typeface="Calibri"/>
              </a:rPr>
              <a:t>the city learns who was hurt when they close or apply, after the 90 days are gone.   </a:t>
            </a:r>
            <a:r>
              <a:rPr sz="1050" b="1">
                <a:solidFill>
                  <a:srgbClr val="B8D4D0"/>
                </a:solidFill>
                <a:latin typeface="Calibri"/>
              </a:rPr>
              <a:t>With our agent: </a:t>
            </a:r>
            <a:r>
              <a:rPr sz="1050" b="0">
                <a:solidFill>
                  <a:srgbClr val="FFFFFF"/>
                </a:solidFill>
                <a:latin typeface="Calibri"/>
              </a:rPr>
              <a:t>on day one the officer knows who to call, how much to offer, and why.</a:t>
            </a:r>
          </a:p>
        </p:txBody>
      </p:sp>
    </p:spTree>
    <p:extLst>
      <p:ext uri="{BB962C8B-B14F-4D97-AF65-F5344CB8AC3E}">
        <p14:creationId xmlns:p14="http://schemas.microsoft.com/office/powerpoint/2010/main" val="65985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144783" y="527517"/>
            <a:ext cx="4769550" cy="9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240031"/>
            <a:ext cx="84353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50" b="1">
                <a:solidFill>
                  <a:srgbClr val="12343B"/>
                </a:solidFill>
                <a:latin typeface="Calibri"/>
              </a:rPr>
              <a:t>The data behind our grant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672084"/>
            <a:ext cx="843534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75">
                <a:solidFill>
                  <a:srgbClr val="4A5A5D"/>
                </a:solidFill>
                <a:latin typeface="Calibri"/>
              </a:rPr>
              <a:t>Anchor-closure track · Central Market, San Francisco · BigQuery dataset a4i_econ · nothing is trained: Gemini works from these tables at query time</a:t>
            </a:r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/>
        </p:nvGraphicFramePr>
        <p:xfrm>
          <a:off x="342900" y="1062990"/>
          <a:ext cx="586359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5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Table / file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How real</a:t>
                      </a:r>
                    </a:p>
                  </a:txBody>
                  <a:tcPr marL="54864" marR="54864" marT="20574" marB="20574" anchor="ctr"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businesses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230 registered businesses, 65 industries: name, address, NAICS, lat/lon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SF Registered Business Locations (PDDL)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12343B"/>
                          </a:solidFill>
                          <a:latin typeface="Calibri"/>
                        </a:rPr>
                        <a:t>employer_blocks</a:t>
                      </a:r>
                      <a:endParaRPr sz="900" b="1" dirty="0">
                        <a:solidFill>
                          <a:srgbClr val="12343B"/>
                        </a:solidFill>
                        <a:latin typeface="Calibri"/>
                      </a:endParaRP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Census workplace blocks with total job counts; placed at tract centre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Census LEHD LODES8 WAC 2023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draws_footfall_from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Block → consumer shops within 500 m; worker_share = jobs ÷ shops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Derived from LODES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Rate real · pairing modeled</a:t>
                      </a:r>
                    </a:p>
                  </a:txBody>
                  <a:tcPr marL="54864" marR="54864" marT="20574" marB="20574" anchor="ctr">
                    <a:solidFill>
                      <a:srgbClr val="C2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supplies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Supplier → buyer within 1,200 m; intensity = cents of input per $ of output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BEA Input-Output Use table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Rate real · pairing modeled</a:t>
                      </a:r>
                    </a:p>
                  </a:txBody>
                  <a:tcPr marL="54864" marR="54864" marT="20574" marB="20574" anchor="ctr">
                    <a:solidFill>
                      <a:srgbClr val="C2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borrowed_from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Business → lender: amount, date, status, charged_off (real failures)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SBA 7(a) FOIA loans, FY2020–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tract_demographics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7 tracts: poverty, no-vehicle, public-assistance rates, income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ACS 5-year (BigQuery public data)</a:t>
                      </a:r>
                    </a:p>
                  </a:txBody>
                  <a:tcPr marL="54864" marR="54864" marT="20574" marB="20574" anchor="ctr">
                    <a:solidFill>
                      <a:srgbClr val="E3EF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2343B"/>
                          </a:solidFill>
                          <a:latin typeface="Calibri"/>
                        </a:rPr>
                        <a:t>bea_*.csv (repo)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43B"/>
                          </a:solidFill>
                          <a:latin typeface="Calibri"/>
                        </a:rPr>
                        <a:t>44,867 industry-pair coefficients + 244-row BEA→NAICS map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A5A5D"/>
                          </a:solidFill>
                          <a:latin typeface="Calibri"/>
                        </a:rPr>
                        <a:t>BEA, public domain</a:t>
                      </a:r>
                    </a:p>
                  </a:txBody>
                  <a:tcPr marL="54864" marR="54864" marT="20574" marB="2057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54864" marR="54864" marT="20574" marB="20574" anchor="ctr">
                    <a:solidFill>
                      <a:srgbClr val="1F6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How the modeled edges are made"/>
          <p:cNvSpPr/>
          <p:nvPr/>
        </p:nvSpPr>
        <p:spPr>
          <a:xfrm>
            <a:off x="6412230" y="1062990"/>
            <a:ext cx="2386584" cy="102870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TextBox 5"/>
          <p:cNvSpPr txBox="1"/>
          <p:nvPr/>
        </p:nvSpPr>
        <p:spPr>
          <a:xfrm>
            <a:off x="6515100" y="1131570"/>
            <a:ext cx="2180844" cy="887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How the modeled edges are made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No randomness. BEA coefficient ≥ 0.005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Top 10% most ubiquitous suppliers dropped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Each buyer keeps its 5 strongest suppliers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Footfall from finance, professional, health, education jobs</a:t>
            </a:r>
          </a:p>
        </p:txBody>
      </p:sp>
      <p:sp>
        <p:nvSpPr>
          <p:cNvPr id="7" name="How the agent reaches it"/>
          <p:cNvSpPr/>
          <p:nvPr/>
        </p:nvSpPr>
        <p:spPr>
          <a:xfrm>
            <a:off x="6412230" y="2194560"/>
            <a:ext cx="2386584" cy="106299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6515100" y="2263141"/>
            <a:ext cx="2180844" cy="83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How the agent reaches it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MCP Toolbox: anchor_cascade (GQL, footfall → then &lt;-[:Supplies]-), supply_cascade, profiles, loan_history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Python tools score, allocate, test sensitivity, audit equity</a:t>
            </a:r>
          </a:p>
        </p:txBody>
      </p:sp>
      <p:sp>
        <p:nvSpPr>
          <p:cNvPr id="9" name="Filtered out, on purpose"/>
          <p:cNvSpPr/>
          <p:nvPr/>
        </p:nvSpPr>
        <p:spPr>
          <a:xfrm>
            <a:off x="6412230" y="3360420"/>
            <a:ext cx="2386584" cy="788670"/>
          </a:xfrm>
          <a:prstGeom prst="roundRect">
            <a:avLst>
              <a:gd name="adj" fmla="val 6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TextBox 9"/>
          <p:cNvSpPr txBox="1"/>
          <p:nvPr/>
        </p:nvSpPr>
        <p:spPr>
          <a:xfrm>
            <a:off x="6515100" y="3429000"/>
            <a:ext cx="2180844" cy="455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975" b="1">
                <a:solidFill>
                  <a:srgbClr val="1F6F6B"/>
                </a:solidFill>
                <a:latin typeface="Calibri"/>
              </a:rPr>
              <a:t>Filtered out, on purpose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Sole proprietors and home addresses</a:t>
            </a:r>
          </a:p>
          <a:p>
            <a:pPr>
              <a:spcAft>
                <a:spcPts val="150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• </a:t>
            </a:r>
            <a:r>
              <a:rPr sz="825">
                <a:solidFill>
                  <a:srgbClr val="12343B"/>
                </a:solidFill>
                <a:latin typeface="Calibri"/>
              </a:rPr>
              <a:t>Race and ethnicity: audit only, never an input</a:t>
            </a:r>
          </a:p>
        </p:txBody>
      </p:sp>
      <p:sp>
        <p:nvSpPr>
          <p:cNvPr id="11" name="Real vs modeled"/>
          <p:cNvSpPr/>
          <p:nvPr/>
        </p:nvSpPr>
        <p:spPr>
          <a:xfrm>
            <a:off x="342900" y="4334256"/>
            <a:ext cx="8455914" cy="534924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514350" y="4463219"/>
            <a:ext cx="812673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>
                <a:solidFill>
                  <a:srgbClr val="B8D4D0"/>
                </a:solidFill>
                <a:latin typeface="Calibri"/>
              </a:rPr>
              <a:t>Real vs modeled: </a:t>
            </a:r>
            <a:r>
              <a:rPr sz="900">
                <a:solidFill>
                  <a:srgbClr val="FFFFFF"/>
                </a:solidFill>
                <a:latin typeface="Calibri"/>
              </a:rPr>
              <a:t>businesses, loans, job counts, demographics and industry purchase rates are measured. Which business buys from which, and which shops a block's workers use, is our model. Limits: footfall location is tract-level and cascades count businesses, not jobs.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/>
        </p:nvSpPr>
        <p:spPr>
          <a:xfrm>
            <a:off x="609400" y="2019250"/>
            <a:ext cx="4605300" cy="22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What to Include</a:t>
            </a:r>
            <a:br>
              <a:rPr lang="en" dirty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sz="1200" dirty="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visual blueprint of your technical build.</a:t>
            </a:r>
            <a:endParaRPr sz="1200" dirty="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Details</a:t>
            </a:r>
            <a:br>
              <a:rPr lang="en" dirty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sz="1200" dirty="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Provide a simple, clean schematic or diagram showing how your multi-agent chains are structured, how they communicate (using tools like the Agent Development Kit/ADK or Model Context Protocol/MCP), and how they interact with one another.</a:t>
            </a:r>
            <a:endParaRPr sz="1200" dirty="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6" name="Google Shape;156;p33"/>
          <p:cNvSpPr txBox="1">
            <a:spLocks noGrp="1"/>
          </p:cNvSpPr>
          <p:nvPr>
            <p:ph type="sldNum" idx="12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7" name="Google Shape;157;p33"/>
          <p:cNvSpPr txBox="1"/>
          <p:nvPr/>
        </p:nvSpPr>
        <p:spPr>
          <a:xfrm>
            <a:off x="425666" y="509013"/>
            <a:ext cx="855600" cy="1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rgbClr val="F8F8F8"/>
                </a:solidFill>
                <a:latin typeface="Google Sans Flex Thin"/>
                <a:ea typeface="Google Sans Flex Thin"/>
                <a:cs typeface="Google Sans Flex Thin"/>
                <a:sym typeface="Google Sans Flex Thin"/>
              </a:rPr>
              <a:t>(</a:t>
            </a:r>
            <a:endParaRPr sz="9000">
              <a:solidFill>
                <a:srgbClr val="F8F8F8"/>
              </a:solidFill>
              <a:latin typeface="Google Sans Flex Thin"/>
              <a:ea typeface="Google Sans Flex Thin"/>
              <a:cs typeface="Google Sans Flex Thin"/>
              <a:sym typeface="Google Sans Flex Thin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 rot="10800000">
            <a:off x="3230216" y="585213"/>
            <a:ext cx="855600" cy="1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>
                <a:solidFill>
                  <a:srgbClr val="F8F8F8"/>
                </a:solidFill>
                <a:latin typeface="Google Sans Flex Thin"/>
                <a:ea typeface="Google Sans Flex Thin"/>
                <a:cs typeface="Google Sans Flex Thin"/>
                <a:sym typeface="Google Sans Flex Thin"/>
              </a:rPr>
              <a:t>(</a:t>
            </a:r>
            <a:endParaRPr sz="9000">
              <a:solidFill>
                <a:srgbClr val="F8F8F8"/>
              </a:solidFill>
              <a:latin typeface="Google Sans Flex Thin"/>
              <a:ea typeface="Google Sans Flex Thin"/>
              <a:cs typeface="Google Sans Flex Thin"/>
              <a:sym typeface="Google Sans Flex Th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42900" y="260605"/>
            <a:ext cx="843534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2550" b="1" dirty="0">
                <a:solidFill>
                  <a:srgbClr val="12343B"/>
                </a:solidFill>
                <a:latin typeface="Calibri"/>
              </a:rPr>
              <a:t>How our grant decision agents work together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42900" y="685801"/>
            <a:ext cx="84353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>
                <a:solidFill>
                  <a:srgbClr val="4A5A5D"/>
                </a:solidFill>
                <a:latin typeface="Calibri"/>
              </a:rPr>
              <a:t>Anchor-closure track · Central Market, San Francisco · four ADK agents in one chain, data through MCP, everything on Google Cloud</a:t>
            </a:r>
          </a:p>
        </p:txBody>
      </p:sp>
      <p:sp>
        <p:nvSpPr>
          <p:cNvPr id="4" name="User card"/>
          <p:cNvSpPr/>
          <p:nvPr/>
        </p:nvSpPr>
        <p:spPr>
          <a:xfrm>
            <a:off x="342900" y="1062990"/>
            <a:ext cx="1577340" cy="672084"/>
          </a:xfrm>
          <a:prstGeom prst="roundRect">
            <a:avLst>
              <a:gd name="adj" fmla="val 12000"/>
            </a:avLst>
          </a:prstGeom>
          <a:solidFill>
            <a:srgbClr val="E3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5" name="TextBox 4"/>
          <p:cNvSpPr txBox="1"/>
          <p:nvPr/>
        </p:nvSpPr>
        <p:spPr>
          <a:xfrm>
            <a:off x="466344" y="1124712"/>
            <a:ext cx="1330452" cy="568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Grant officer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Picks the closing employer, the budget and the grant-effect assumption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31570" y="1735074"/>
            <a:ext cx="0" cy="219456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ont end card"/>
          <p:cNvSpPr/>
          <p:nvPr/>
        </p:nvSpPr>
        <p:spPr>
          <a:xfrm>
            <a:off x="342900" y="1954530"/>
            <a:ext cx="1577340" cy="133731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9050">
            <a:solidFill>
              <a:srgbClr val="C2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TextBox 7"/>
          <p:cNvSpPr txBox="1"/>
          <p:nvPr/>
        </p:nvSpPr>
        <p:spPr>
          <a:xfrm>
            <a:off x="466344" y="2023110"/>
            <a:ext cx="1330452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Interactive map</a:t>
            </a:r>
          </a:p>
          <a:p>
            <a:pPr>
              <a:spcAft>
                <a:spcPts val="225"/>
              </a:spcAft>
            </a:pPr>
            <a:r>
              <a:rPr sz="825" b="1">
                <a:solidFill>
                  <a:srgbClr val="C27C00"/>
                </a:solidFill>
                <a:latin typeface="Calibri"/>
              </a:rPr>
              <a:t>Cloud Run · Google Maps JS API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Hover a business: amount, justification, impact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The cascade is drawn on the map, anchor to supplier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297430"/>
            <a:ext cx="65151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47672" y="2057401"/>
            <a:ext cx="596646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25"/>
              </a:spcAft>
            </a:pPr>
            <a:r>
              <a:rPr sz="675" b="1">
                <a:solidFill>
                  <a:srgbClr val="C27C00"/>
                </a:solidFill>
                <a:latin typeface="Calibri"/>
              </a:rPr>
              <a:t>POST /scenario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20240" y="2914650"/>
            <a:ext cx="65151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47672" y="2955798"/>
            <a:ext cx="596646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25"/>
              </a:spcAft>
            </a:pPr>
            <a:r>
              <a:rPr sz="675" b="1">
                <a:solidFill>
                  <a:srgbClr val="C27C00"/>
                </a:solidFill>
                <a:latin typeface="Calibri"/>
              </a:rPr>
              <a:t>decisions.json</a:t>
            </a:r>
          </a:p>
        </p:txBody>
      </p:sp>
      <p:sp>
        <p:nvSpPr>
          <p:cNvPr id="13" name="ADK root agent"/>
          <p:cNvSpPr/>
          <p:nvPr/>
        </p:nvSpPr>
        <p:spPr>
          <a:xfrm>
            <a:off x="2571750" y="1028700"/>
            <a:ext cx="6227064" cy="2023110"/>
          </a:xfrm>
          <a:prstGeom prst="roundRect">
            <a:avLst>
              <a:gd name="adj" fmla="val 4067"/>
            </a:avLst>
          </a:prstGeom>
          <a:solidFill>
            <a:srgbClr val="E3EFED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TextBox 13"/>
          <p:cNvSpPr txBox="1"/>
          <p:nvPr/>
        </p:nvSpPr>
        <p:spPr>
          <a:xfrm>
            <a:off x="2708910" y="1097281"/>
            <a:ext cx="595274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1050" b="1">
                <a:solidFill>
                  <a:srgbClr val="12343B"/>
                </a:solidFill>
                <a:latin typeface="Calibri"/>
              </a:rPr>
              <a:t>ADK root agent </a:t>
            </a:r>
            <a:r>
              <a:rPr sz="1050">
                <a:solidFill>
                  <a:srgbClr val="1F6F6B"/>
                </a:solidFill>
                <a:latin typeface="Calibri"/>
              </a:rPr>
              <a:t>· SequentialAgent · Gemini · deployed on Agent Runtime</a:t>
            </a:r>
          </a:p>
        </p:txBody>
      </p:sp>
      <p:sp>
        <p:nvSpPr>
          <p:cNvPr id="15" name="Agent 1"/>
          <p:cNvSpPr/>
          <p:nvPr/>
        </p:nvSpPr>
        <p:spPr>
          <a:xfrm>
            <a:off x="270891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Oval 15"/>
          <p:cNvSpPr/>
          <p:nvPr/>
        </p:nvSpPr>
        <p:spPr>
          <a:xfrm>
            <a:off x="280492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92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Cascade Scout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492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Walks the graph: footfall forward, then supplies backward, 1 to 2 hops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9936" y="1988820"/>
            <a:ext cx="164592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gent 2"/>
          <p:cNvSpPr/>
          <p:nvPr/>
        </p:nvSpPr>
        <p:spPr>
          <a:xfrm>
            <a:off x="425196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1" name="Oval 20"/>
          <p:cNvSpPr/>
          <p:nvPr/>
        </p:nvSpPr>
        <p:spPr>
          <a:xfrm>
            <a:off x="434797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797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Risk Assessor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797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Scores exposure, fragility and tract need for each business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02986" y="1988820"/>
            <a:ext cx="164592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gent 3"/>
          <p:cNvSpPr/>
          <p:nvPr/>
        </p:nvSpPr>
        <p:spPr>
          <a:xfrm>
            <a:off x="5795009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26" name="Oval 25"/>
          <p:cNvSpPr/>
          <p:nvPr/>
        </p:nvSpPr>
        <p:spPr>
          <a:xfrm>
            <a:off x="5891022" y="1501902"/>
            <a:ext cx="246888" cy="246888"/>
          </a:xfrm>
          <a:prstGeom prst="ellipse">
            <a:avLst/>
          </a:prstGeom>
          <a:solidFill>
            <a:srgbClr val="C2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102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Grant Allocator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1022" y="2036826"/>
            <a:ext cx="113157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Splits the budget, names the runner-up, tests the assumption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46036" y="1988820"/>
            <a:ext cx="164593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gent 4"/>
          <p:cNvSpPr/>
          <p:nvPr/>
        </p:nvSpPr>
        <p:spPr>
          <a:xfrm>
            <a:off x="7338060" y="1405889"/>
            <a:ext cx="1323594" cy="116586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1" name="Oval 30"/>
          <p:cNvSpPr/>
          <p:nvPr/>
        </p:nvSpPr>
        <p:spPr>
          <a:xfrm>
            <a:off x="7434072" y="1501902"/>
            <a:ext cx="246888" cy="246888"/>
          </a:xfrm>
          <a:prstGeom prst="ellipse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75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1817370"/>
            <a:ext cx="113157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Memo Writer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2036826"/>
            <a:ext cx="113157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Writes every justification and the grant memo</a:t>
            </a:r>
          </a:p>
        </p:txBody>
      </p:sp>
      <p:sp>
        <p:nvSpPr>
          <p:cNvPr id="34" name="Session state"/>
          <p:cNvSpPr/>
          <p:nvPr/>
        </p:nvSpPr>
        <p:spPr>
          <a:xfrm>
            <a:off x="2708910" y="2647188"/>
            <a:ext cx="5952744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5" name="TextBox 34"/>
          <p:cNvSpPr txBox="1"/>
          <p:nvPr/>
        </p:nvSpPr>
        <p:spPr>
          <a:xfrm>
            <a:off x="2811780" y="2720870"/>
            <a:ext cx="5747004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 b="1">
                <a:solidFill>
                  <a:srgbClr val="1F6F6B"/>
                </a:solidFill>
                <a:latin typeface="Calibri"/>
              </a:rPr>
              <a:t>Shared session.state   </a:t>
            </a:r>
            <a:r>
              <a:rPr sz="825">
                <a:solidFill>
                  <a:srgbClr val="12343B"/>
                </a:solidFill>
                <a:latin typeface="Calibri"/>
              </a:rPr>
              <a:t>cascade  →  risk  →  allocation  →  decisions</a:t>
            </a:r>
          </a:p>
        </p:txBody>
      </p:sp>
      <p:sp>
        <p:nvSpPr>
          <p:cNvPr id="36" name="MCP Toolbox"/>
          <p:cNvSpPr/>
          <p:nvPr/>
        </p:nvSpPr>
        <p:spPr>
          <a:xfrm>
            <a:off x="2708911" y="3326130"/>
            <a:ext cx="2866643" cy="72009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TextBox 36"/>
          <p:cNvSpPr txBox="1"/>
          <p:nvPr/>
        </p:nvSpPr>
        <p:spPr>
          <a:xfrm>
            <a:off x="2832354" y="3394710"/>
            <a:ext cx="2619756" cy="42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MCP Toolbox for Databases </a:t>
            </a:r>
            <a:r>
              <a:rPr sz="825">
                <a:solidFill>
                  <a:srgbClr val="1F6F6B"/>
                </a:solidFill>
                <a:latin typeface="Calibri"/>
              </a:rPr>
              <a:t>· Cloud Run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anchor_cascade (GQL) · supply_cascade · business_profile · tract_profile · loan_history</a:t>
            </a:r>
          </a:p>
        </p:txBody>
      </p:sp>
      <p:sp>
        <p:nvSpPr>
          <p:cNvPr id="38" name="Python tools"/>
          <p:cNvSpPr/>
          <p:nvPr/>
        </p:nvSpPr>
        <p:spPr>
          <a:xfrm>
            <a:off x="5795010" y="3326130"/>
            <a:ext cx="2866643" cy="72009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C2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9" name="TextBox 38"/>
          <p:cNvSpPr txBox="1"/>
          <p:nvPr/>
        </p:nvSpPr>
        <p:spPr>
          <a:xfrm>
            <a:off x="5918453" y="3394710"/>
            <a:ext cx="2619756" cy="429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Custom Python tools </a:t>
            </a:r>
            <a:r>
              <a:rPr sz="825">
                <a:solidFill>
                  <a:srgbClr val="C27C00"/>
                </a:solidFill>
                <a:latin typeface="Calibri"/>
              </a:rPr>
              <a:t>· ADK FunctionTool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score_exposure · fragility · allocate_budget · sensitivity · equity_audit · build_memo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70707" y="3051810"/>
            <a:ext cx="0" cy="27432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913757" y="3051810"/>
            <a:ext cx="0" cy="27432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56807" y="3051810"/>
            <a:ext cx="0" cy="27432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99857" y="3051810"/>
            <a:ext cx="0" cy="27432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igQuery"/>
          <p:cNvSpPr/>
          <p:nvPr/>
        </p:nvSpPr>
        <p:spPr>
          <a:xfrm>
            <a:off x="2708910" y="4286250"/>
            <a:ext cx="5952744" cy="534924"/>
          </a:xfrm>
          <a:prstGeom prst="roundRect">
            <a:avLst>
              <a:gd name="adj" fmla="val 12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5" name="TextBox 44"/>
          <p:cNvSpPr txBox="1"/>
          <p:nvPr/>
        </p:nvSpPr>
        <p:spPr>
          <a:xfrm>
            <a:off x="2846071" y="4416105"/>
            <a:ext cx="5678423" cy="302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FFFFFF"/>
                </a:solidFill>
                <a:latin typeface="Calibri"/>
              </a:rPr>
              <a:t>BigQuery </a:t>
            </a:r>
            <a:r>
              <a:rPr sz="825">
                <a:solidFill>
                  <a:srgbClr val="B8D4D0"/>
                </a:solidFill>
                <a:latin typeface="Calibri"/>
              </a:rPr>
              <a:t>· a4i_econ · property graph LocalEconomy, queried with GQL · Enterprise reservation</a:t>
            </a:r>
          </a:p>
          <a:p>
            <a:pPr>
              <a:spcAft>
                <a:spcPts val="225"/>
              </a:spcAft>
            </a:pPr>
            <a:r>
              <a:rPr sz="825">
                <a:solidFill>
                  <a:srgbClr val="FFFFFF"/>
                </a:solidFill>
                <a:latin typeface="Calibri"/>
              </a:rPr>
              <a:t>businesses · employer_blocks · supplies · draws_footfall_from · borrowed_from · tract_demographics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42232" y="4046220"/>
            <a:ext cx="0" cy="240031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Legend"/>
          <p:cNvSpPr/>
          <p:nvPr/>
        </p:nvSpPr>
        <p:spPr>
          <a:xfrm>
            <a:off x="342900" y="3566160"/>
            <a:ext cx="1577340" cy="125501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B8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8" name="TextBox 47"/>
          <p:cNvSpPr txBox="1"/>
          <p:nvPr/>
        </p:nvSpPr>
        <p:spPr>
          <a:xfrm>
            <a:off x="466344" y="3634740"/>
            <a:ext cx="1330452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25"/>
              </a:spcAft>
            </a:pPr>
            <a:r>
              <a:rPr sz="975" b="1">
                <a:solidFill>
                  <a:srgbClr val="12343B"/>
                </a:solidFill>
                <a:latin typeface="Calibri"/>
              </a:rPr>
              <a:t>How they talk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344" y="3963924"/>
            <a:ext cx="342900" cy="0"/>
          </a:xfrm>
          <a:prstGeom prst="line">
            <a:avLst/>
          </a:prstGeom>
          <a:ln w="22225">
            <a:solidFill>
              <a:srgbClr val="C27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91541" y="390730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HTTPS request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6344" y="4169664"/>
            <a:ext cx="342900" cy="0"/>
          </a:xfrm>
          <a:prstGeom prst="line">
            <a:avLst/>
          </a:prstGeom>
          <a:ln w="22225">
            <a:solidFill>
              <a:srgbClr val="1F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91541" y="411304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ADK state handoff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66344" y="4375404"/>
            <a:ext cx="342900" cy="0"/>
          </a:xfrm>
          <a:prstGeom prst="line">
            <a:avLst/>
          </a:prstGeom>
          <a:ln w="22225">
            <a:solidFill>
              <a:srgbClr val="1F6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91541" y="431878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MCP tool call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66344" y="4581144"/>
            <a:ext cx="342900" cy="0"/>
          </a:xfrm>
          <a:prstGeom prst="line">
            <a:avLst/>
          </a:prstGeom>
          <a:ln w="22225">
            <a:solidFill>
              <a:srgbClr val="C27C00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91541" y="4524524"/>
            <a:ext cx="925829" cy="126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25"/>
              </a:spcAft>
            </a:pPr>
            <a:r>
              <a:rPr sz="825">
                <a:solidFill>
                  <a:srgbClr val="4A5A5D"/>
                </a:solidFill>
                <a:latin typeface="Calibri"/>
              </a:rPr>
              <a:t>Python function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1570</Words>
  <Application>Microsoft Macintosh PowerPoint</Application>
  <PresentationFormat>On-screen Show (16:9)</PresentationFormat>
  <Paragraphs>154</Paragraphs>
  <Slides>10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Google Sans</vt:lpstr>
      <vt:lpstr>Google Sans Flex</vt:lpstr>
      <vt:lpstr>Google Sans Flex Medium</vt:lpstr>
      <vt:lpstr>Google Sans Flex Thin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Amogh Upadhyay</cp:lastModifiedBy>
  <cp:revision>2</cp:revision>
  <dcterms:modified xsi:type="dcterms:W3CDTF">2026-10-27T18:03:11Z</dcterms:modified>
</cp:coreProperties>
</file>