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2" r:id="rId1"/>
    <p:sldMasterId id="2147483673" r:id="rId2"/>
  </p:sldMasterIdLst>
  <p:notesMasterIdLst>
    <p:notesMasterId r:id="rId13"/>
  </p:notesMasterIdLst>
  <p:sldIdLst>
    <p:sldId id="256" r:id="rId3"/>
    <p:sldId id="257" r:id="rId4"/>
    <p:sldId id="258" r:id="rId5"/>
    <p:sldId id="268" r:id="rId18"/>
    <p:sldId id="267" r:id="rId8"/>
    <p:sldId id="265" r:id="rId10"/>
    <p:sldId id="266" r:id="rId1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130">
          <p15:clr>
            <a:srgbClr val="747775"/>
          </p15:clr>
        </p15:guide>
        <p15:guide id="2" pos="144">
          <p15:clr>
            <a:srgbClr val="747775"/>
          </p15:clr>
        </p15:guide>
        <p15:guide id="3" orient="horz" pos="360">
          <p15:clr>
            <a:srgbClr val="747775"/>
          </p15:clr>
        </p15:guide>
        <p15:guide id="4" pos="446">
          <p15:clr>
            <a:srgbClr val="747775"/>
          </p15:clr>
        </p15:guide>
        <p15:guide id="5" pos="5477">
          <p15:clr>
            <a:srgbClr val="747775"/>
          </p15:clr>
        </p15:guide>
        <p15:guide id="6" orient="horz" pos="1253">
          <p15:clr>
            <a:srgbClr val="747775"/>
          </p15:clr>
        </p15:guide>
        <p15:guide id="7" pos="2845">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0530251-C406-4842-BE4E-697FB0008ECC}">
  <a:tblStyle styleId="{B0530251-C406-4842-BE4E-697FB0008ECC}"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1"/>
    <p:restoredTop sz="94675"/>
  </p:normalViewPr>
  <p:slideViewPr>
    <p:cSldViewPr snapToGrid="0">
      <p:cViewPr varScale="1">
        <p:scale>
          <a:sx n="159" d="100"/>
          <a:sy n="159" d="100"/>
        </p:scale>
        <p:origin x="216" y="176"/>
      </p:cViewPr>
      <p:guideLst>
        <p:guide orient="horz" pos="3130"/>
        <p:guide pos="144"/>
        <p:guide orient="horz" pos="360"/>
        <p:guide pos="446"/>
        <p:guide pos="5477"/>
        <p:guide orient="horz" pos="1253"/>
        <p:guide pos="284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8" Type="http://schemas.openxmlformats.org/officeDocument/2006/relationships/slide" Target="slides/slide6.xml"/><Relationship Id="rId10" Type="http://schemas.openxmlformats.org/officeDocument/2006/relationships/slide" Target="slides/slide8.xml"/><Relationship Id="rId12" Type="http://schemas.openxmlformats.org/officeDocument/2006/relationships/slide" Target="slides/slide10.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f76d7e2a9b_0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3f76d7e2a9b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h52fa8b8a4798773f_0_1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h52fa8b8a479877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h52fa8b8a4798773f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h52fa8b8a4798773f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Our user is the city's economic-development officer in the anchor-closure track: an employer has announced it leaves in 90 days, there is a $50,000 fund, and nobody has applied yet. The officer clicks the closing employer, sets the budget and an assumption about what a grant changes. The agent walks the graph to the shops that lose weekday trade and then backward to their suppliers, and the map shows every path. Hovering a business gives its grant, what it protects and why it beat the runner-up. The officer can change the assumption and rerun, then export a grant memo that states its assumptions and which evidence is modeled. The change: help arrives inside the 90-day window instead of after closures, and every dollar comes with a case the officer can defend.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officer picks a closing employer block, a budget and an assumption about what a grant changes. The map posts that scenario to our ADK root agent on Agent Runtime, a </a:t>
            </a:r>
            <a:r>
              <a:rPr dirty="0" err="1"/>
              <a:t>SequentialAgent</a:t>
            </a:r>
            <a:r>
              <a:rPr dirty="0"/>
              <a:t> with four Gemini sub-agents. Each writes its result into shared session state for the next one. The Cascade Scout and Risk Assessor reach </a:t>
            </a:r>
            <a:r>
              <a:rPr dirty="0" err="1"/>
              <a:t>BigQuery</a:t>
            </a:r>
            <a:r>
              <a:rPr dirty="0"/>
              <a:t> through MCP Toolbox, which runs our two-leg GQL traversal on the property graph. The Allocator and Memo Writer call our own Python tools, so every dollar amount is computed, not generated. The result comes back as </a:t>
            </a:r>
            <a:r>
              <a:rPr dirty="0" err="1"/>
              <a:t>decisions.json</a:t>
            </a:r>
            <a:r>
              <a:rPr dirty="0"/>
              <a:t>, which the map reads so hovering is instant.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Our track is anchor closure. A major employer announces it is leaving in 90 days, and nobody has applied for help yet. The harm spreads in two waves: first the lunch counters, dry cleaners and shops that rely on the anchor's workers, then backward to their suppliers, like the wholesale grocer, who never served the anchor at all. Relief programs rank applicants by distress, so they miss both waves until it is too late. Solving this helps the city's economic-development officers act inside the 90-day window, reaches small businesses while they are still healthy, and lets grants be weighed against neighborhood need.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noFill/>
        <a:effectLst/>
      </p:bgPr>
    </p:bg>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365633" y="470888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latin typeface="Google Sans Flex"/>
              <a:ea typeface="Google Sans Flex"/>
              <a:cs typeface="Google Sans Flex"/>
              <a:sym typeface="Google Sans Flex"/>
            </a:endParaRPr>
          </a:p>
        </p:txBody>
      </p:sp>
      <p:pic>
        <p:nvPicPr>
          <p:cNvPr id="11" name="Google Shape;11;p2" title="GC_Logo_Reverse_rgb.png"/>
          <p:cNvPicPr preferRelativeResize="0"/>
          <p:nvPr/>
        </p:nvPicPr>
        <p:blipFill>
          <a:blip r:embed="rId2">
            <a:alphaModFix/>
          </a:blip>
          <a:stretch>
            <a:fillRect/>
          </a:stretch>
        </p:blipFill>
        <p:spPr>
          <a:xfrm>
            <a:off x="242725" y="4857575"/>
            <a:ext cx="717373" cy="123650"/>
          </a:xfrm>
          <a:prstGeom prst="rect">
            <a:avLst/>
          </a:prstGeom>
          <a:noFill/>
          <a:ln>
            <a:noFill/>
          </a:ln>
        </p:spPr>
      </p:pic>
      <p:sp>
        <p:nvSpPr>
          <p:cNvPr id="12" name="Google Shape;12;p2"/>
          <p:cNvSpPr txBox="1"/>
          <p:nvPr/>
        </p:nvSpPr>
        <p:spPr>
          <a:xfrm>
            <a:off x="7146375" y="4792202"/>
            <a:ext cx="1641000" cy="25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600">
                <a:solidFill>
                  <a:schemeClr val="lt1"/>
                </a:solidFill>
                <a:latin typeface="Google Sans Flex"/>
                <a:ea typeface="Google Sans Flex"/>
                <a:cs typeface="Google Sans Flex"/>
                <a:sym typeface="Google Sans Flex"/>
              </a:rPr>
              <a:t>Proprietary &amp; Confidential</a:t>
            </a:r>
            <a:endParaRPr sz="600">
              <a:solidFill>
                <a:schemeClr val="lt1"/>
              </a:solidFill>
              <a:latin typeface="Google Sans Flex"/>
              <a:ea typeface="Google Sans Flex"/>
              <a:cs typeface="Google Sans Flex"/>
              <a:sym typeface="Google Sans Flex"/>
            </a:endParaRPr>
          </a:p>
        </p:txBody>
      </p:sp>
    </p:spTree>
  </p:cSld>
  <p:clrMapOvr>
    <a:masterClrMapping/>
  </p:clrMapOvr>
  <p:extLst>
    <p:ext uri="{DCECCB84-F9BA-43D5-87BE-67443E8EF086}">
      <p15:sldGuideLst xmlns:p15="http://schemas.microsoft.com/office/powerpoint/2012/main">
        <p15:guide id="1" orient="horz" pos="3124">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50"/>
        <p:cNvGrpSpPr/>
        <p:nvPr/>
      </p:nvGrpSpPr>
      <p:grpSpPr>
        <a:xfrm>
          <a:off x="0" y="0"/>
          <a:ext cx="0" cy="0"/>
          <a:chOff x="0" y="0"/>
          <a:chExt cx="0" cy="0"/>
        </a:xfrm>
      </p:grpSpPr>
      <p:sp>
        <p:nvSpPr>
          <p:cNvPr id="51" name="Google Shape;51;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52" name="Google Shape;52;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3" name="Google Shape;53;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121317"/>
        </a:solidFill>
        <a:effectLst/>
      </p:bgPr>
    </p:bg>
    <p:spTree>
      <p:nvGrpSpPr>
        <p:cNvPr id="1" name="Shape 56"/>
        <p:cNvGrpSpPr/>
        <p:nvPr/>
      </p:nvGrpSpPr>
      <p:grpSpPr>
        <a:xfrm>
          <a:off x="0" y="0"/>
          <a:ext cx="0" cy="0"/>
          <a:chOff x="0" y="0"/>
          <a:chExt cx="0" cy="0"/>
        </a:xfrm>
      </p:grpSpPr>
      <p:pic>
        <p:nvPicPr>
          <p:cNvPr id="57" name="Google Shape;57;p15" title="Asset 1@4x.png"/>
          <p:cNvPicPr preferRelativeResize="0"/>
          <p:nvPr/>
        </p:nvPicPr>
        <p:blipFill>
          <a:blip r:embed="rId2">
            <a:alphaModFix/>
          </a:blip>
          <a:stretch>
            <a:fillRect/>
          </a:stretch>
        </p:blipFill>
        <p:spPr>
          <a:xfrm>
            <a:off x="481200" y="1779099"/>
            <a:ext cx="2861000" cy="1890100"/>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124">
          <p15:clr>
            <a:srgbClr val="E46962"/>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6"/>
          <p:cNvSpPr txBox="1">
            <a:spLocks noGrp="1"/>
          </p:cNvSpPr>
          <p:nvPr>
            <p:ph type="sldNum" idx="12"/>
          </p:nvPr>
        </p:nvSpPr>
        <p:spPr>
          <a:xfrm>
            <a:off x="8365633" y="4708887"/>
            <a:ext cx="548700" cy="393600"/>
          </a:xfrm>
          <a:prstGeom prst="rect">
            <a:avLst/>
          </a:prstGeom>
        </p:spPr>
        <p:txBody>
          <a:bodyPr spcFirstLastPara="1" wrap="square" lIns="91425" tIns="91425" rIns="91425" bIns="91425" anchor="ctr" anchorCtr="0">
            <a:normAutofit/>
          </a:bodyPr>
          <a:lstStyle>
            <a:lvl1pPr lvl="0">
              <a:buNone/>
              <a:defRPr sz="900">
                <a:solidFill>
                  <a:schemeClr val="lt1"/>
                </a:solidFill>
                <a:latin typeface="Google Sans Flex"/>
                <a:ea typeface="Google Sans Flex"/>
                <a:cs typeface="Google Sans Flex"/>
                <a:sym typeface="Google Sans Flex"/>
              </a:defRPr>
            </a:lvl1pPr>
            <a:lvl2pPr lvl="1">
              <a:buNone/>
              <a:defRPr sz="900">
                <a:solidFill>
                  <a:schemeClr val="lt1"/>
                </a:solidFill>
                <a:latin typeface="Google Sans Flex"/>
                <a:ea typeface="Google Sans Flex"/>
                <a:cs typeface="Google Sans Flex"/>
                <a:sym typeface="Google Sans Flex"/>
              </a:defRPr>
            </a:lvl2pPr>
            <a:lvl3pPr lvl="2">
              <a:buNone/>
              <a:defRPr sz="900">
                <a:solidFill>
                  <a:schemeClr val="lt1"/>
                </a:solidFill>
                <a:latin typeface="Google Sans Flex"/>
                <a:ea typeface="Google Sans Flex"/>
                <a:cs typeface="Google Sans Flex"/>
                <a:sym typeface="Google Sans Flex"/>
              </a:defRPr>
            </a:lvl3pPr>
            <a:lvl4pPr lvl="3">
              <a:buNone/>
              <a:defRPr sz="900">
                <a:solidFill>
                  <a:schemeClr val="lt1"/>
                </a:solidFill>
                <a:latin typeface="Google Sans Flex"/>
                <a:ea typeface="Google Sans Flex"/>
                <a:cs typeface="Google Sans Flex"/>
                <a:sym typeface="Google Sans Flex"/>
              </a:defRPr>
            </a:lvl4pPr>
            <a:lvl5pPr lvl="4">
              <a:buNone/>
              <a:defRPr sz="900">
                <a:solidFill>
                  <a:schemeClr val="lt1"/>
                </a:solidFill>
                <a:latin typeface="Google Sans Flex"/>
                <a:ea typeface="Google Sans Flex"/>
                <a:cs typeface="Google Sans Flex"/>
                <a:sym typeface="Google Sans Flex"/>
              </a:defRPr>
            </a:lvl5pPr>
            <a:lvl6pPr lvl="5">
              <a:buNone/>
              <a:defRPr sz="900">
                <a:solidFill>
                  <a:schemeClr val="lt1"/>
                </a:solidFill>
                <a:latin typeface="Google Sans Flex"/>
                <a:ea typeface="Google Sans Flex"/>
                <a:cs typeface="Google Sans Flex"/>
                <a:sym typeface="Google Sans Flex"/>
              </a:defRPr>
            </a:lvl6pPr>
            <a:lvl7pPr lvl="6">
              <a:buNone/>
              <a:defRPr sz="900">
                <a:solidFill>
                  <a:schemeClr val="lt1"/>
                </a:solidFill>
                <a:latin typeface="Google Sans Flex"/>
                <a:ea typeface="Google Sans Flex"/>
                <a:cs typeface="Google Sans Flex"/>
                <a:sym typeface="Google Sans Flex"/>
              </a:defRPr>
            </a:lvl7pPr>
            <a:lvl8pPr lvl="7">
              <a:buNone/>
              <a:defRPr sz="900">
                <a:solidFill>
                  <a:schemeClr val="lt1"/>
                </a:solidFill>
                <a:latin typeface="Google Sans Flex"/>
                <a:ea typeface="Google Sans Flex"/>
                <a:cs typeface="Google Sans Flex"/>
                <a:sym typeface="Google Sans Flex"/>
              </a:defRPr>
            </a:lvl8pPr>
            <a:lvl9pPr lvl="8">
              <a:buNone/>
              <a:defRPr sz="900">
                <a:solidFill>
                  <a:schemeClr val="lt1"/>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
              <a:t>‹#›</a:t>
            </a:fld>
            <a:endParaRPr/>
          </a:p>
        </p:txBody>
      </p:sp>
      <p:pic>
        <p:nvPicPr>
          <p:cNvPr id="60" name="Google Shape;60;p16" title="GC_Logo_Reverse_rgb.png"/>
          <p:cNvPicPr preferRelativeResize="0"/>
          <p:nvPr/>
        </p:nvPicPr>
        <p:blipFill>
          <a:blip r:embed="rId2">
            <a:alphaModFix/>
          </a:blip>
          <a:stretch>
            <a:fillRect/>
          </a:stretch>
        </p:blipFill>
        <p:spPr>
          <a:xfrm>
            <a:off x="242725" y="4857575"/>
            <a:ext cx="717373" cy="123650"/>
          </a:xfrm>
          <a:prstGeom prst="rect">
            <a:avLst/>
          </a:prstGeom>
          <a:noFill/>
          <a:ln>
            <a:noFill/>
          </a:ln>
        </p:spPr>
      </p:pic>
      <p:sp>
        <p:nvSpPr>
          <p:cNvPr id="61" name="Google Shape;61;p16"/>
          <p:cNvSpPr txBox="1"/>
          <p:nvPr/>
        </p:nvSpPr>
        <p:spPr>
          <a:xfrm>
            <a:off x="7146375" y="4792202"/>
            <a:ext cx="1641000" cy="25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600">
                <a:solidFill>
                  <a:schemeClr val="lt1"/>
                </a:solidFill>
                <a:latin typeface="Google Sans Flex"/>
                <a:ea typeface="Google Sans Flex"/>
                <a:cs typeface="Google Sans Flex"/>
                <a:sym typeface="Google Sans Flex"/>
              </a:rPr>
              <a:t>Proprietary &amp; Confidential</a:t>
            </a:r>
            <a:endParaRPr sz="600">
              <a:solidFill>
                <a:schemeClr val="lt1"/>
              </a:solidFill>
              <a:latin typeface="Google Sans Flex"/>
              <a:ea typeface="Google Sans Flex"/>
              <a:cs typeface="Google Sans Flex"/>
              <a:sym typeface="Google Sans Flex"/>
            </a:endParaRPr>
          </a:p>
        </p:txBody>
      </p:sp>
      <p:pic>
        <p:nvPicPr>
          <p:cNvPr id="62" name="Google Shape;62;p16"/>
          <p:cNvPicPr preferRelativeResize="0"/>
          <p:nvPr/>
        </p:nvPicPr>
        <p:blipFill>
          <a:blip r:embed="rId3">
            <a:alphaModFix/>
          </a:blip>
          <a:stretch>
            <a:fillRect/>
          </a:stretch>
        </p:blipFill>
        <p:spPr>
          <a:xfrm>
            <a:off x="6436326" y="689350"/>
            <a:ext cx="2707675" cy="3764775"/>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3"/>
        <p:cNvGrpSpPr/>
        <p:nvPr/>
      </p:nvGrpSpPr>
      <p:grpSpPr>
        <a:xfrm>
          <a:off x="0" y="0"/>
          <a:ext cx="0" cy="0"/>
          <a:chOff x="0" y="0"/>
          <a:chExt cx="0" cy="0"/>
        </a:xfrm>
      </p:grpSpPr>
      <p:sp>
        <p:nvSpPr>
          <p:cNvPr id="64" name="Google Shape;64;p17"/>
          <p:cNvSpPr txBox="1">
            <a:spLocks noGrp="1"/>
          </p:cNvSpPr>
          <p:nvPr>
            <p:ph type="sldNum" idx="12"/>
          </p:nvPr>
        </p:nvSpPr>
        <p:spPr>
          <a:xfrm>
            <a:off x="8365633" y="4708887"/>
            <a:ext cx="548700" cy="393600"/>
          </a:xfrm>
          <a:prstGeom prst="rect">
            <a:avLst/>
          </a:prstGeom>
        </p:spPr>
        <p:txBody>
          <a:bodyPr spcFirstLastPara="1" wrap="square" lIns="91425" tIns="91425" rIns="91425" bIns="91425" anchor="ctr" anchorCtr="0">
            <a:normAutofit/>
          </a:bodyPr>
          <a:lstStyle>
            <a:lvl1pPr lvl="0">
              <a:buNone/>
              <a:defRPr sz="900">
                <a:solidFill>
                  <a:schemeClr val="lt1"/>
                </a:solidFill>
                <a:latin typeface="Google Sans Flex"/>
                <a:ea typeface="Google Sans Flex"/>
                <a:cs typeface="Google Sans Flex"/>
                <a:sym typeface="Google Sans Flex"/>
              </a:defRPr>
            </a:lvl1pPr>
            <a:lvl2pPr lvl="1">
              <a:buNone/>
              <a:defRPr sz="900">
                <a:solidFill>
                  <a:schemeClr val="lt1"/>
                </a:solidFill>
                <a:latin typeface="Google Sans Flex"/>
                <a:ea typeface="Google Sans Flex"/>
                <a:cs typeface="Google Sans Flex"/>
                <a:sym typeface="Google Sans Flex"/>
              </a:defRPr>
            </a:lvl2pPr>
            <a:lvl3pPr lvl="2">
              <a:buNone/>
              <a:defRPr sz="900">
                <a:solidFill>
                  <a:schemeClr val="lt1"/>
                </a:solidFill>
                <a:latin typeface="Google Sans Flex"/>
                <a:ea typeface="Google Sans Flex"/>
                <a:cs typeface="Google Sans Flex"/>
                <a:sym typeface="Google Sans Flex"/>
              </a:defRPr>
            </a:lvl3pPr>
            <a:lvl4pPr lvl="3">
              <a:buNone/>
              <a:defRPr sz="900">
                <a:solidFill>
                  <a:schemeClr val="lt1"/>
                </a:solidFill>
                <a:latin typeface="Google Sans Flex"/>
                <a:ea typeface="Google Sans Flex"/>
                <a:cs typeface="Google Sans Flex"/>
                <a:sym typeface="Google Sans Flex"/>
              </a:defRPr>
            </a:lvl4pPr>
            <a:lvl5pPr lvl="4">
              <a:buNone/>
              <a:defRPr sz="900">
                <a:solidFill>
                  <a:schemeClr val="lt1"/>
                </a:solidFill>
                <a:latin typeface="Google Sans Flex"/>
                <a:ea typeface="Google Sans Flex"/>
                <a:cs typeface="Google Sans Flex"/>
                <a:sym typeface="Google Sans Flex"/>
              </a:defRPr>
            </a:lvl5pPr>
            <a:lvl6pPr lvl="5">
              <a:buNone/>
              <a:defRPr sz="900">
                <a:solidFill>
                  <a:schemeClr val="lt1"/>
                </a:solidFill>
                <a:latin typeface="Google Sans Flex"/>
                <a:ea typeface="Google Sans Flex"/>
                <a:cs typeface="Google Sans Flex"/>
                <a:sym typeface="Google Sans Flex"/>
              </a:defRPr>
            </a:lvl6pPr>
            <a:lvl7pPr lvl="6">
              <a:buNone/>
              <a:defRPr sz="900">
                <a:solidFill>
                  <a:schemeClr val="lt1"/>
                </a:solidFill>
                <a:latin typeface="Google Sans Flex"/>
                <a:ea typeface="Google Sans Flex"/>
                <a:cs typeface="Google Sans Flex"/>
                <a:sym typeface="Google Sans Flex"/>
              </a:defRPr>
            </a:lvl7pPr>
            <a:lvl8pPr lvl="7">
              <a:buNone/>
              <a:defRPr sz="900">
                <a:solidFill>
                  <a:schemeClr val="lt1"/>
                </a:solidFill>
                <a:latin typeface="Google Sans Flex"/>
                <a:ea typeface="Google Sans Flex"/>
                <a:cs typeface="Google Sans Flex"/>
                <a:sym typeface="Google Sans Flex"/>
              </a:defRPr>
            </a:lvl8pPr>
            <a:lvl9pPr lvl="8">
              <a:buNone/>
              <a:defRPr sz="900">
                <a:solidFill>
                  <a:schemeClr val="lt1"/>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
              <a:t>‹#›</a:t>
            </a:fld>
            <a:endParaRPr/>
          </a:p>
        </p:txBody>
      </p:sp>
      <p:pic>
        <p:nvPicPr>
          <p:cNvPr id="65" name="Google Shape;65;p17" title="GC_Logo_Reverse_rgb.png"/>
          <p:cNvPicPr preferRelativeResize="0"/>
          <p:nvPr/>
        </p:nvPicPr>
        <p:blipFill>
          <a:blip r:embed="rId2">
            <a:alphaModFix/>
          </a:blip>
          <a:stretch>
            <a:fillRect/>
          </a:stretch>
        </p:blipFill>
        <p:spPr>
          <a:xfrm>
            <a:off x="242725" y="4857575"/>
            <a:ext cx="717373" cy="123650"/>
          </a:xfrm>
          <a:prstGeom prst="rect">
            <a:avLst/>
          </a:prstGeom>
          <a:noFill/>
          <a:ln>
            <a:noFill/>
          </a:ln>
        </p:spPr>
      </p:pic>
      <p:sp>
        <p:nvSpPr>
          <p:cNvPr id="66" name="Google Shape;66;p17"/>
          <p:cNvSpPr txBox="1"/>
          <p:nvPr/>
        </p:nvSpPr>
        <p:spPr>
          <a:xfrm>
            <a:off x="7146375" y="4792202"/>
            <a:ext cx="1641000" cy="25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600">
                <a:solidFill>
                  <a:schemeClr val="lt1"/>
                </a:solidFill>
                <a:latin typeface="Google Sans Flex"/>
                <a:ea typeface="Google Sans Flex"/>
                <a:cs typeface="Google Sans Flex"/>
                <a:sym typeface="Google Sans Flex"/>
              </a:rPr>
              <a:t>Proprietary &amp; Confidential</a:t>
            </a:r>
            <a:endParaRPr sz="600">
              <a:solidFill>
                <a:schemeClr val="lt1"/>
              </a:solidFill>
              <a:latin typeface="Google Sans Flex"/>
              <a:ea typeface="Google Sans Flex"/>
              <a:cs typeface="Google Sans Flex"/>
              <a:sym typeface="Google Sans Flex"/>
            </a:endParaRPr>
          </a:p>
        </p:txBody>
      </p:sp>
      <p:sp>
        <p:nvSpPr>
          <p:cNvPr id="67" name="Google Shape;67;p17"/>
          <p:cNvSpPr txBox="1"/>
          <p:nvPr/>
        </p:nvSpPr>
        <p:spPr>
          <a:xfrm>
            <a:off x="577750" y="514609"/>
            <a:ext cx="2837700" cy="7680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None/>
            </a:pPr>
            <a:r>
              <a:rPr lang="en" sz="4500">
                <a:solidFill>
                  <a:srgbClr val="F8F8F8"/>
                </a:solidFill>
                <a:latin typeface="Google Sans Flex Medium"/>
                <a:ea typeface="Google Sans Flex Medium"/>
                <a:cs typeface="Google Sans Flex Medium"/>
                <a:sym typeface="Google Sans Flex Medium"/>
              </a:rPr>
              <a:t>Our Team</a:t>
            </a:r>
            <a:endParaRPr sz="4500">
              <a:solidFill>
                <a:srgbClr val="F8F8F8"/>
              </a:solidFill>
              <a:latin typeface="Google Sans Flex Medium"/>
              <a:ea typeface="Google Sans Flex Medium"/>
              <a:cs typeface="Google Sans Flex Medium"/>
              <a:sym typeface="Google Sans Flex Medium"/>
            </a:endParaRPr>
          </a:p>
        </p:txBody>
      </p:sp>
    </p:spTree>
  </p:cSld>
  <p:clrMapOvr>
    <a:masterClrMapping/>
  </p:clrMapOvr>
  <p:extLst>
    <p:ext uri="{DCECCB84-F9BA-43D5-87BE-67443E8EF086}">
      <p15:sldGuideLst xmlns:p15="http://schemas.microsoft.com/office/powerpoint/2012/main">
        <p15:guide id="1" orient="horz" pos="432">
          <p15:clr>
            <a:srgbClr val="E46962"/>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8"/>
        <p:cNvGrpSpPr/>
        <p:nvPr/>
      </p:nvGrpSpPr>
      <p:grpSpPr>
        <a:xfrm>
          <a:off x="0" y="0"/>
          <a:ext cx="0" cy="0"/>
          <a:chOff x="0" y="0"/>
          <a:chExt cx="0" cy="0"/>
        </a:xfrm>
      </p:grpSpPr>
      <p:sp>
        <p:nvSpPr>
          <p:cNvPr id="69" name="Google Shape;69;p18"/>
          <p:cNvSpPr txBox="1">
            <a:spLocks noGrp="1"/>
          </p:cNvSpPr>
          <p:nvPr>
            <p:ph type="sldNum" idx="12"/>
          </p:nvPr>
        </p:nvSpPr>
        <p:spPr>
          <a:xfrm>
            <a:off x="8365633" y="4708887"/>
            <a:ext cx="548700" cy="393600"/>
          </a:xfrm>
          <a:prstGeom prst="rect">
            <a:avLst/>
          </a:prstGeom>
        </p:spPr>
        <p:txBody>
          <a:bodyPr spcFirstLastPara="1" wrap="square" lIns="91425" tIns="91425" rIns="91425" bIns="91425" anchor="ctr" anchorCtr="0">
            <a:normAutofit/>
          </a:bodyPr>
          <a:lstStyle>
            <a:lvl1pPr lvl="0">
              <a:buNone/>
              <a:defRPr sz="900">
                <a:solidFill>
                  <a:schemeClr val="lt1"/>
                </a:solidFill>
                <a:latin typeface="Google Sans Flex"/>
                <a:ea typeface="Google Sans Flex"/>
                <a:cs typeface="Google Sans Flex"/>
                <a:sym typeface="Google Sans Flex"/>
              </a:defRPr>
            </a:lvl1pPr>
            <a:lvl2pPr lvl="1">
              <a:buNone/>
              <a:defRPr sz="900">
                <a:solidFill>
                  <a:schemeClr val="lt1"/>
                </a:solidFill>
                <a:latin typeface="Google Sans Flex"/>
                <a:ea typeface="Google Sans Flex"/>
                <a:cs typeface="Google Sans Flex"/>
                <a:sym typeface="Google Sans Flex"/>
              </a:defRPr>
            </a:lvl2pPr>
            <a:lvl3pPr lvl="2">
              <a:buNone/>
              <a:defRPr sz="900">
                <a:solidFill>
                  <a:schemeClr val="lt1"/>
                </a:solidFill>
                <a:latin typeface="Google Sans Flex"/>
                <a:ea typeface="Google Sans Flex"/>
                <a:cs typeface="Google Sans Flex"/>
                <a:sym typeface="Google Sans Flex"/>
              </a:defRPr>
            </a:lvl3pPr>
            <a:lvl4pPr lvl="3">
              <a:buNone/>
              <a:defRPr sz="900">
                <a:solidFill>
                  <a:schemeClr val="lt1"/>
                </a:solidFill>
                <a:latin typeface="Google Sans Flex"/>
                <a:ea typeface="Google Sans Flex"/>
                <a:cs typeface="Google Sans Flex"/>
                <a:sym typeface="Google Sans Flex"/>
              </a:defRPr>
            </a:lvl4pPr>
            <a:lvl5pPr lvl="4">
              <a:buNone/>
              <a:defRPr sz="900">
                <a:solidFill>
                  <a:schemeClr val="lt1"/>
                </a:solidFill>
                <a:latin typeface="Google Sans Flex"/>
                <a:ea typeface="Google Sans Flex"/>
                <a:cs typeface="Google Sans Flex"/>
                <a:sym typeface="Google Sans Flex"/>
              </a:defRPr>
            </a:lvl5pPr>
            <a:lvl6pPr lvl="5">
              <a:buNone/>
              <a:defRPr sz="900">
                <a:solidFill>
                  <a:schemeClr val="lt1"/>
                </a:solidFill>
                <a:latin typeface="Google Sans Flex"/>
                <a:ea typeface="Google Sans Flex"/>
                <a:cs typeface="Google Sans Flex"/>
                <a:sym typeface="Google Sans Flex"/>
              </a:defRPr>
            </a:lvl6pPr>
            <a:lvl7pPr lvl="6">
              <a:buNone/>
              <a:defRPr sz="900">
                <a:solidFill>
                  <a:schemeClr val="lt1"/>
                </a:solidFill>
                <a:latin typeface="Google Sans Flex"/>
                <a:ea typeface="Google Sans Flex"/>
                <a:cs typeface="Google Sans Flex"/>
                <a:sym typeface="Google Sans Flex"/>
              </a:defRPr>
            </a:lvl7pPr>
            <a:lvl8pPr lvl="7">
              <a:buNone/>
              <a:defRPr sz="900">
                <a:solidFill>
                  <a:schemeClr val="lt1"/>
                </a:solidFill>
                <a:latin typeface="Google Sans Flex"/>
                <a:ea typeface="Google Sans Flex"/>
                <a:cs typeface="Google Sans Flex"/>
                <a:sym typeface="Google Sans Flex"/>
              </a:defRPr>
            </a:lvl8pPr>
            <a:lvl9pPr lvl="8">
              <a:buNone/>
              <a:defRPr sz="900">
                <a:solidFill>
                  <a:schemeClr val="lt1"/>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
              <a:t>‹#›</a:t>
            </a:fld>
            <a:endParaRPr/>
          </a:p>
        </p:txBody>
      </p:sp>
      <p:pic>
        <p:nvPicPr>
          <p:cNvPr id="70" name="Google Shape;70;p18" title="GC_Logo_Reverse_rgb.png"/>
          <p:cNvPicPr preferRelativeResize="0"/>
          <p:nvPr/>
        </p:nvPicPr>
        <p:blipFill>
          <a:blip r:embed="rId2">
            <a:alphaModFix/>
          </a:blip>
          <a:stretch>
            <a:fillRect/>
          </a:stretch>
        </p:blipFill>
        <p:spPr>
          <a:xfrm>
            <a:off x="242725" y="4857575"/>
            <a:ext cx="717373" cy="123650"/>
          </a:xfrm>
          <a:prstGeom prst="rect">
            <a:avLst/>
          </a:prstGeom>
          <a:noFill/>
          <a:ln>
            <a:noFill/>
          </a:ln>
        </p:spPr>
      </p:pic>
      <p:sp>
        <p:nvSpPr>
          <p:cNvPr id="71" name="Google Shape;71;p18"/>
          <p:cNvSpPr txBox="1"/>
          <p:nvPr/>
        </p:nvSpPr>
        <p:spPr>
          <a:xfrm>
            <a:off x="7146375" y="4792202"/>
            <a:ext cx="1641000" cy="25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600">
                <a:solidFill>
                  <a:schemeClr val="lt1"/>
                </a:solidFill>
                <a:latin typeface="Google Sans Flex"/>
                <a:ea typeface="Google Sans Flex"/>
                <a:cs typeface="Google Sans Flex"/>
                <a:sym typeface="Google Sans Flex"/>
              </a:rPr>
              <a:t>Proprietary &amp; Confidential</a:t>
            </a:r>
            <a:endParaRPr sz="600">
              <a:solidFill>
                <a:schemeClr val="lt1"/>
              </a:solidFill>
              <a:latin typeface="Google Sans Flex"/>
              <a:ea typeface="Google Sans Flex"/>
              <a:cs typeface="Google Sans Flex"/>
              <a:sym typeface="Google Sans Flex"/>
            </a:endParaRPr>
          </a:p>
        </p:txBody>
      </p:sp>
      <p:sp>
        <p:nvSpPr>
          <p:cNvPr id="72" name="Google Shape;72;p18"/>
          <p:cNvSpPr txBox="1"/>
          <p:nvPr/>
        </p:nvSpPr>
        <p:spPr>
          <a:xfrm>
            <a:off x="2380650" y="654125"/>
            <a:ext cx="4382700" cy="1682400"/>
          </a:xfrm>
          <a:prstGeom prst="rect">
            <a:avLst/>
          </a:prstGeom>
          <a:noFill/>
          <a:ln>
            <a:noFill/>
          </a:ln>
        </p:spPr>
        <p:txBody>
          <a:bodyPr spcFirstLastPara="1" wrap="square" lIns="91425" tIns="91425" rIns="91425" bIns="91425" anchor="t" anchorCtr="0">
            <a:noAutofit/>
          </a:bodyPr>
          <a:lstStyle/>
          <a:p>
            <a:pPr marL="0" lvl="0" indent="0" algn="ctr" rtl="0">
              <a:lnSpc>
                <a:spcPct val="90000"/>
              </a:lnSpc>
              <a:spcBef>
                <a:spcPts val="0"/>
              </a:spcBef>
              <a:spcAft>
                <a:spcPts val="0"/>
              </a:spcAft>
              <a:buNone/>
            </a:pPr>
            <a:r>
              <a:rPr lang="en" sz="6000">
                <a:solidFill>
                  <a:srgbClr val="F8F8F8"/>
                </a:solidFill>
                <a:latin typeface="Google Sans Flex Medium"/>
                <a:ea typeface="Google Sans Flex Medium"/>
                <a:cs typeface="Google Sans Flex Medium"/>
                <a:sym typeface="Google Sans Flex Medium"/>
              </a:rPr>
              <a:t>Challenge</a:t>
            </a:r>
            <a:endParaRPr sz="6000">
              <a:solidFill>
                <a:srgbClr val="F8F8F8"/>
              </a:solidFill>
              <a:latin typeface="Google Sans Flex Medium"/>
              <a:ea typeface="Google Sans Flex Medium"/>
              <a:cs typeface="Google Sans Flex Medium"/>
              <a:sym typeface="Google Sans Flex Medium"/>
            </a:endParaRPr>
          </a:p>
          <a:p>
            <a:pPr marL="0" lvl="0" indent="0" algn="ctr" rtl="0">
              <a:lnSpc>
                <a:spcPct val="90000"/>
              </a:lnSpc>
              <a:spcBef>
                <a:spcPts val="0"/>
              </a:spcBef>
              <a:spcAft>
                <a:spcPts val="0"/>
              </a:spcAft>
              <a:buNone/>
            </a:pPr>
            <a:r>
              <a:rPr lang="en" sz="6000">
                <a:solidFill>
                  <a:srgbClr val="F8F8F8"/>
                </a:solidFill>
                <a:latin typeface="Google Sans Flex Medium"/>
                <a:ea typeface="Google Sans Flex Medium"/>
                <a:cs typeface="Google Sans Flex Medium"/>
                <a:sym typeface="Google Sans Flex Medium"/>
              </a:rPr>
              <a:t>Overview</a:t>
            </a:r>
            <a:endParaRPr sz="6000">
              <a:solidFill>
                <a:srgbClr val="F8F8F8"/>
              </a:solidFill>
              <a:latin typeface="Google Sans Flex Medium"/>
              <a:ea typeface="Google Sans Flex Medium"/>
              <a:cs typeface="Google Sans Flex Medium"/>
              <a:sym typeface="Google Sans Flex Medium"/>
            </a:endParaRPr>
          </a:p>
        </p:txBody>
      </p:sp>
    </p:spTree>
  </p:cSld>
  <p:clrMapOvr>
    <a:masterClrMapping/>
  </p:clrMapOvr>
  <p:extLst>
    <p:ext uri="{DCECCB84-F9BA-43D5-87BE-67443E8EF086}">
      <p15:sldGuideLst xmlns:p15="http://schemas.microsoft.com/office/powerpoint/2012/main">
        <p15:guide id="1" orient="horz" pos="432">
          <p15:clr>
            <a:srgbClr val="E46962"/>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3"/>
        <p:cNvGrpSpPr/>
        <p:nvPr/>
      </p:nvGrpSpPr>
      <p:grpSpPr>
        <a:xfrm>
          <a:off x="0" y="0"/>
          <a:ext cx="0" cy="0"/>
          <a:chOff x="0" y="0"/>
          <a:chExt cx="0" cy="0"/>
        </a:xfrm>
      </p:grpSpPr>
      <p:sp>
        <p:nvSpPr>
          <p:cNvPr id="74" name="Google Shape;74;p19"/>
          <p:cNvSpPr txBox="1">
            <a:spLocks noGrp="1"/>
          </p:cNvSpPr>
          <p:nvPr>
            <p:ph type="sldNum" idx="12"/>
          </p:nvPr>
        </p:nvSpPr>
        <p:spPr>
          <a:xfrm>
            <a:off x="8365633" y="4708887"/>
            <a:ext cx="548700" cy="393600"/>
          </a:xfrm>
          <a:prstGeom prst="rect">
            <a:avLst/>
          </a:prstGeom>
        </p:spPr>
        <p:txBody>
          <a:bodyPr spcFirstLastPara="1" wrap="square" lIns="91425" tIns="91425" rIns="91425" bIns="91425" anchor="ctr" anchorCtr="0">
            <a:normAutofit/>
          </a:bodyPr>
          <a:lstStyle>
            <a:lvl1pPr lvl="0">
              <a:buNone/>
              <a:defRPr sz="900">
                <a:solidFill>
                  <a:schemeClr val="lt1"/>
                </a:solidFill>
                <a:latin typeface="Google Sans Flex"/>
                <a:ea typeface="Google Sans Flex"/>
                <a:cs typeface="Google Sans Flex"/>
                <a:sym typeface="Google Sans Flex"/>
              </a:defRPr>
            </a:lvl1pPr>
            <a:lvl2pPr lvl="1">
              <a:buNone/>
              <a:defRPr sz="900">
                <a:solidFill>
                  <a:schemeClr val="lt1"/>
                </a:solidFill>
                <a:latin typeface="Google Sans Flex"/>
                <a:ea typeface="Google Sans Flex"/>
                <a:cs typeface="Google Sans Flex"/>
                <a:sym typeface="Google Sans Flex"/>
              </a:defRPr>
            </a:lvl2pPr>
            <a:lvl3pPr lvl="2">
              <a:buNone/>
              <a:defRPr sz="900">
                <a:solidFill>
                  <a:schemeClr val="lt1"/>
                </a:solidFill>
                <a:latin typeface="Google Sans Flex"/>
                <a:ea typeface="Google Sans Flex"/>
                <a:cs typeface="Google Sans Flex"/>
                <a:sym typeface="Google Sans Flex"/>
              </a:defRPr>
            </a:lvl3pPr>
            <a:lvl4pPr lvl="3">
              <a:buNone/>
              <a:defRPr sz="900">
                <a:solidFill>
                  <a:schemeClr val="lt1"/>
                </a:solidFill>
                <a:latin typeface="Google Sans Flex"/>
                <a:ea typeface="Google Sans Flex"/>
                <a:cs typeface="Google Sans Flex"/>
                <a:sym typeface="Google Sans Flex"/>
              </a:defRPr>
            </a:lvl4pPr>
            <a:lvl5pPr lvl="4">
              <a:buNone/>
              <a:defRPr sz="900">
                <a:solidFill>
                  <a:schemeClr val="lt1"/>
                </a:solidFill>
                <a:latin typeface="Google Sans Flex"/>
                <a:ea typeface="Google Sans Flex"/>
                <a:cs typeface="Google Sans Flex"/>
                <a:sym typeface="Google Sans Flex"/>
              </a:defRPr>
            </a:lvl5pPr>
            <a:lvl6pPr lvl="5">
              <a:buNone/>
              <a:defRPr sz="900">
                <a:solidFill>
                  <a:schemeClr val="lt1"/>
                </a:solidFill>
                <a:latin typeface="Google Sans Flex"/>
                <a:ea typeface="Google Sans Flex"/>
                <a:cs typeface="Google Sans Flex"/>
                <a:sym typeface="Google Sans Flex"/>
              </a:defRPr>
            </a:lvl6pPr>
            <a:lvl7pPr lvl="6">
              <a:buNone/>
              <a:defRPr sz="900">
                <a:solidFill>
                  <a:schemeClr val="lt1"/>
                </a:solidFill>
                <a:latin typeface="Google Sans Flex"/>
                <a:ea typeface="Google Sans Flex"/>
                <a:cs typeface="Google Sans Flex"/>
                <a:sym typeface="Google Sans Flex"/>
              </a:defRPr>
            </a:lvl7pPr>
            <a:lvl8pPr lvl="7">
              <a:buNone/>
              <a:defRPr sz="900">
                <a:solidFill>
                  <a:schemeClr val="lt1"/>
                </a:solidFill>
                <a:latin typeface="Google Sans Flex"/>
                <a:ea typeface="Google Sans Flex"/>
                <a:cs typeface="Google Sans Flex"/>
                <a:sym typeface="Google Sans Flex"/>
              </a:defRPr>
            </a:lvl8pPr>
            <a:lvl9pPr lvl="8">
              <a:buNone/>
              <a:defRPr sz="900">
                <a:solidFill>
                  <a:schemeClr val="lt1"/>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
              <a:t>‹#›</a:t>
            </a:fld>
            <a:endParaRPr/>
          </a:p>
        </p:txBody>
      </p:sp>
      <p:pic>
        <p:nvPicPr>
          <p:cNvPr id="75" name="Google Shape;75;p19" title="GC_Logo_Reverse_rgb.png"/>
          <p:cNvPicPr preferRelativeResize="0"/>
          <p:nvPr/>
        </p:nvPicPr>
        <p:blipFill>
          <a:blip r:embed="rId2">
            <a:alphaModFix/>
          </a:blip>
          <a:stretch>
            <a:fillRect/>
          </a:stretch>
        </p:blipFill>
        <p:spPr>
          <a:xfrm>
            <a:off x="242725" y="4857575"/>
            <a:ext cx="717373" cy="123650"/>
          </a:xfrm>
          <a:prstGeom prst="rect">
            <a:avLst/>
          </a:prstGeom>
          <a:noFill/>
          <a:ln>
            <a:noFill/>
          </a:ln>
        </p:spPr>
      </p:pic>
      <p:sp>
        <p:nvSpPr>
          <p:cNvPr id="76" name="Google Shape;76;p19"/>
          <p:cNvSpPr txBox="1"/>
          <p:nvPr/>
        </p:nvSpPr>
        <p:spPr>
          <a:xfrm>
            <a:off x="7146375" y="4792202"/>
            <a:ext cx="1641000" cy="25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600">
                <a:solidFill>
                  <a:schemeClr val="lt1"/>
                </a:solidFill>
                <a:latin typeface="Google Sans Flex"/>
                <a:ea typeface="Google Sans Flex"/>
                <a:cs typeface="Google Sans Flex"/>
                <a:sym typeface="Google Sans Flex"/>
              </a:rPr>
              <a:t>Proprietary &amp; Confidential</a:t>
            </a:r>
            <a:endParaRPr sz="600">
              <a:solidFill>
                <a:schemeClr val="lt1"/>
              </a:solidFill>
              <a:latin typeface="Google Sans Flex"/>
              <a:ea typeface="Google Sans Flex"/>
              <a:cs typeface="Google Sans Flex"/>
              <a:sym typeface="Google Sans Flex"/>
            </a:endParaRPr>
          </a:p>
        </p:txBody>
      </p:sp>
      <p:sp>
        <p:nvSpPr>
          <p:cNvPr id="77" name="Google Shape;77;p19"/>
          <p:cNvSpPr txBox="1"/>
          <p:nvPr/>
        </p:nvSpPr>
        <p:spPr>
          <a:xfrm>
            <a:off x="2380650" y="1111325"/>
            <a:ext cx="4382700" cy="1682400"/>
          </a:xfrm>
          <a:prstGeom prst="rect">
            <a:avLst/>
          </a:prstGeom>
          <a:noFill/>
          <a:ln>
            <a:noFill/>
          </a:ln>
        </p:spPr>
        <p:txBody>
          <a:bodyPr spcFirstLastPara="1" wrap="square" lIns="91425" tIns="91425" rIns="91425" bIns="91425" anchor="t" anchorCtr="0">
            <a:noAutofit/>
          </a:bodyPr>
          <a:lstStyle/>
          <a:p>
            <a:pPr marL="0" lvl="0" indent="0" algn="ctr" rtl="0">
              <a:lnSpc>
                <a:spcPct val="90000"/>
              </a:lnSpc>
              <a:spcBef>
                <a:spcPts val="0"/>
              </a:spcBef>
              <a:spcAft>
                <a:spcPts val="0"/>
              </a:spcAft>
              <a:buNone/>
            </a:pPr>
            <a:r>
              <a:rPr lang="en" sz="6000">
                <a:solidFill>
                  <a:srgbClr val="F8F8F8"/>
                </a:solidFill>
                <a:latin typeface="Google Sans Flex Medium"/>
                <a:ea typeface="Google Sans Flex Medium"/>
                <a:cs typeface="Google Sans Flex Medium"/>
                <a:sym typeface="Google Sans Flex Medium"/>
              </a:rPr>
              <a:t>Impact</a:t>
            </a:r>
            <a:endParaRPr sz="6000">
              <a:solidFill>
                <a:srgbClr val="F8F8F8"/>
              </a:solidFill>
              <a:latin typeface="Google Sans Flex Medium"/>
              <a:ea typeface="Google Sans Flex Medium"/>
              <a:cs typeface="Google Sans Flex Medium"/>
              <a:sym typeface="Google Sans Flex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8"/>
        <p:cNvGrpSpPr/>
        <p:nvPr/>
      </p:nvGrpSpPr>
      <p:grpSpPr>
        <a:xfrm>
          <a:off x="0" y="0"/>
          <a:ext cx="0" cy="0"/>
          <a:chOff x="0" y="0"/>
          <a:chExt cx="0" cy="0"/>
        </a:xfrm>
      </p:grpSpPr>
      <p:sp>
        <p:nvSpPr>
          <p:cNvPr id="79" name="Google Shape;79;p20"/>
          <p:cNvSpPr txBox="1">
            <a:spLocks noGrp="1"/>
          </p:cNvSpPr>
          <p:nvPr>
            <p:ph type="sldNum" idx="12"/>
          </p:nvPr>
        </p:nvSpPr>
        <p:spPr>
          <a:xfrm>
            <a:off x="8365633" y="4708887"/>
            <a:ext cx="548700" cy="393600"/>
          </a:xfrm>
          <a:prstGeom prst="rect">
            <a:avLst/>
          </a:prstGeom>
        </p:spPr>
        <p:txBody>
          <a:bodyPr spcFirstLastPara="1" wrap="square" lIns="91425" tIns="91425" rIns="91425" bIns="91425" anchor="ctr" anchorCtr="0">
            <a:normAutofit/>
          </a:bodyPr>
          <a:lstStyle>
            <a:lvl1pPr lvl="0">
              <a:buNone/>
              <a:defRPr sz="900">
                <a:solidFill>
                  <a:schemeClr val="lt1"/>
                </a:solidFill>
                <a:latin typeface="Google Sans Flex"/>
                <a:ea typeface="Google Sans Flex"/>
                <a:cs typeface="Google Sans Flex"/>
                <a:sym typeface="Google Sans Flex"/>
              </a:defRPr>
            </a:lvl1pPr>
            <a:lvl2pPr lvl="1">
              <a:buNone/>
              <a:defRPr sz="900">
                <a:solidFill>
                  <a:schemeClr val="lt1"/>
                </a:solidFill>
                <a:latin typeface="Google Sans Flex"/>
                <a:ea typeface="Google Sans Flex"/>
                <a:cs typeface="Google Sans Flex"/>
                <a:sym typeface="Google Sans Flex"/>
              </a:defRPr>
            </a:lvl2pPr>
            <a:lvl3pPr lvl="2">
              <a:buNone/>
              <a:defRPr sz="900">
                <a:solidFill>
                  <a:schemeClr val="lt1"/>
                </a:solidFill>
                <a:latin typeface="Google Sans Flex"/>
                <a:ea typeface="Google Sans Flex"/>
                <a:cs typeface="Google Sans Flex"/>
                <a:sym typeface="Google Sans Flex"/>
              </a:defRPr>
            </a:lvl3pPr>
            <a:lvl4pPr lvl="3">
              <a:buNone/>
              <a:defRPr sz="900">
                <a:solidFill>
                  <a:schemeClr val="lt1"/>
                </a:solidFill>
                <a:latin typeface="Google Sans Flex"/>
                <a:ea typeface="Google Sans Flex"/>
                <a:cs typeface="Google Sans Flex"/>
                <a:sym typeface="Google Sans Flex"/>
              </a:defRPr>
            </a:lvl4pPr>
            <a:lvl5pPr lvl="4">
              <a:buNone/>
              <a:defRPr sz="900">
                <a:solidFill>
                  <a:schemeClr val="lt1"/>
                </a:solidFill>
                <a:latin typeface="Google Sans Flex"/>
                <a:ea typeface="Google Sans Flex"/>
                <a:cs typeface="Google Sans Flex"/>
                <a:sym typeface="Google Sans Flex"/>
              </a:defRPr>
            </a:lvl5pPr>
            <a:lvl6pPr lvl="5">
              <a:buNone/>
              <a:defRPr sz="900">
                <a:solidFill>
                  <a:schemeClr val="lt1"/>
                </a:solidFill>
                <a:latin typeface="Google Sans Flex"/>
                <a:ea typeface="Google Sans Flex"/>
                <a:cs typeface="Google Sans Flex"/>
                <a:sym typeface="Google Sans Flex"/>
              </a:defRPr>
            </a:lvl6pPr>
            <a:lvl7pPr lvl="6">
              <a:buNone/>
              <a:defRPr sz="900">
                <a:solidFill>
                  <a:schemeClr val="lt1"/>
                </a:solidFill>
                <a:latin typeface="Google Sans Flex"/>
                <a:ea typeface="Google Sans Flex"/>
                <a:cs typeface="Google Sans Flex"/>
                <a:sym typeface="Google Sans Flex"/>
              </a:defRPr>
            </a:lvl7pPr>
            <a:lvl8pPr lvl="7">
              <a:buNone/>
              <a:defRPr sz="900">
                <a:solidFill>
                  <a:schemeClr val="lt1"/>
                </a:solidFill>
                <a:latin typeface="Google Sans Flex"/>
                <a:ea typeface="Google Sans Flex"/>
                <a:cs typeface="Google Sans Flex"/>
                <a:sym typeface="Google Sans Flex"/>
              </a:defRPr>
            </a:lvl8pPr>
            <a:lvl9pPr lvl="8">
              <a:buNone/>
              <a:defRPr sz="900">
                <a:solidFill>
                  <a:schemeClr val="lt1"/>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
              <a:t>‹#›</a:t>
            </a:fld>
            <a:endParaRPr/>
          </a:p>
        </p:txBody>
      </p:sp>
      <p:pic>
        <p:nvPicPr>
          <p:cNvPr id="80" name="Google Shape;80;p20" title="GC_Logo_Reverse_rgb.png"/>
          <p:cNvPicPr preferRelativeResize="0"/>
          <p:nvPr/>
        </p:nvPicPr>
        <p:blipFill>
          <a:blip r:embed="rId2">
            <a:alphaModFix/>
          </a:blip>
          <a:stretch>
            <a:fillRect/>
          </a:stretch>
        </p:blipFill>
        <p:spPr>
          <a:xfrm>
            <a:off x="242725" y="4857575"/>
            <a:ext cx="717373" cy="123650"/>
          </a:xfrm>
          <a:prstGeom prst="rect">
            <a:avLst/>
          </a:prstGeom>
          <a:noFill/>
          <a:ln>
            <a:noFill/>
          </a:ln>
        </p:spPr>
      </p:pic>
      <p:sp>
        <p:nvSpPr>
          <p:cNvPr id="81" name="Google Shape;81;p20"/>
          <p:cNvSpPr txBox="1"/>
          <p:nvPr/>
        </p:nvSpPr>
        <p:spPr>
          <a:xfrm>
            <a:off x="7146375" y="4792202"/>
            <a:ext cx="1641000" cy="25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600">
                <a:solidFill>
                  <a:schemeClr val="lt1"/>
                </a:solidFill>
                <a:latin typeface="Google Sans Flex"/>
                <a:ea typeface="Google Sans Flex"/>
                <a:cs typeface="Google Sans Flex"/>
                <a:sym typeface="Google Sans Flex"/>
              </a:rPr>
              <a:t>Proprietary &amp; Confidential</a:t>
            </a:r>
            <a:endParaRPr sz="600">
              <a:solidFill>
                <a:schemeClr val="lt1"/>
              </a:solidFill>
              <a:latin typeface="Google Sans Flex"/>
              <a:ea typeface="Google Sans Flex"/>
              <a:cs typeface="Google Sans Flex"/>
              <a:sym typeface="Google Sans Flex"/>
            </a:endParaRPr>
          </a:p>
        </p:txBody>
      </p:sp>
      <p:sp>
        <p:nvSpPr>
          <p:cNvPr id="82" name="Google Shape;82;p20"/>
          <p:cNvSpPr txBox="1"/>
          <p:nvPr/>
        </p:nvSpPr>
        <p:spPr>
          <a:xfrm>
            <a:off x="-207025" y="490822"/>
            <a:ext cx="4382700" cy="1008600"/>
          </a:xfrm>
          <a:prstGeom prst="rect">
            <a:avLst/>
          </a:prstGeom>
          <a:noFill/>
          <a:ln>
            <a:noFill/>
          </a:ln>
        </p:spPr>
        <p:txBody>
          <a:bodyPr spcFirstLastPara="1" wrap="square" lIns="91425" tIns="91425" rIns="91425" bIns="91425" anchor="t" anchorCtr="0">
            <a:noAutofit/>
          </a:bodyPr>
          <a:lstStyle/>
          <a:p>
            <a:pPr marL="0" lvl="0" indent="0" algn="ctr" rtl="0">
              <a:lnSpc>
                <a:spcPct val="90000"/>
              </a:lnSpc>
              <a:spcBef>
                <a:spcPts val="0"/>
              </a:spcBef>
              <a:spcAft>
                <a:spcPts val="0"/>
              </a:spcAft>
              <a:buNone/>
            </a:pPr>
            <a:r>
              <a:rPr lang="en" sz="6000">
                <a:solidFill>
                  <a:srgbClr val="F8F8F8"/>
                </a:solidFill>
                <a:latin typeface="Google Sans Flex Medium"/>
                <a:ea typeface="Google Sans Flex Medium"/>
                <a:cs typeface="Google Sans Flex Medium"/>
                <a:sym typeface="Google Sans Flex Medium"/>
              </a:rPr>
              <a:t>Sources</a:t>
            </a:r>
            <a:endParaRPr sz="6000">
              <a:solidFill>
                <a:srgbClr val="F8F8F8"/>
              </a:solidFill>
              <a:latin typeface="Google Sans Flex Medium"/>
              <a:ea typeface="Google Sans Flex Medium"/>
              <a:cs typeface="Google Sans Flex Medium"/>
              <a:sym typeface="Google Sans Flex Medium"/>
            </a:endParaRPr>
          </a:p>
        </p:txBody>
      </p:sp>
    </p:spTree>
  </p:cSld>
  <p:clrMapOvr>
    <a:masterClrMapping/>
  </p:clrMapOvr>
  <p:extLst>
    <p:ext uri="{DCECCB84-F9BA-43D5-87BE-67443E8EF086}">
      <p15:sldGuideLst xmlns:p15="http://schemas.microsoft.com/office/powerpoint/2012/main">
        <p15:guide id="1" orient="horz" pos="432">
          <p15:clr>
            <a:srgbClr val="E46962"/>
          </p15:clr>
        </p15:guide>
        <p15:guide id="2" pos="379">
          <p15:clr>
            <a:srgbClr val="E46962"/>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21"/>
          <p:cNvSpPr txBox="1"/>
          <p:nvPr/>
        </p:nvSpPr>
        <p:spPr>
          <a:xfrm>
            <a:off x="918646" y="662463"/>
            <a:ext cx="2679600" cy="1008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None/>
            </a:pPr>
            <a:r>
              <a:rPr lang="en" sz="3000">
                <a:solidFill>
                  <a:srgbClr val="F8F8F8"/>
                </a:solidFill>
                <a:latin typeface="Google Sans Flex Medium"/>
                <a:ea typeface="Google Sans Flex Medium"/>
                <a:cs typeface="Google Sans Flex Medium"/>
                <a:sym typeface="Google Sans Flex Medium"/>
              </a:rPr>
              <a:t>Prototype</a:t>
            </a:r>
            <a:endParaRPr sz="3000">
              <a:solidFill>
                <a:srgbClr val="F8F8F8"/>
              </a:solidFill>
              <a:latin typeface="Google Sans Flex Medium"/>
              <a:ea typeface="Google Sans Flex Medium"/>
              <a:cs typeface="Google Sans Flex Medium"/>
              <a:sym typeface="Google Sans Flex Medium"/>
            </a:endParaRPr>
          </a:p>
          <a:p>
            <a:pPr marL="0" lvl="0" indent="0" algn="l" rtl="0">
              <a:lnSpc>
                <a:spcPct val="90000"/>
              </a:lnSpc>
              <a:spcBef>
                <a:spcPts val="0"/>
              </a:spcBef>
              <a:spcAft>
                <a:spcPts val="0"/>
              </a:spcAft>
              <a:buNone/>
            </a:pPr>
            <a:r>
              <a:rPr lang="en" sz="3000">
                <a:solidFill>
                  <a:srgbClr val="F8F8F8"/>
                </a:solidFill>
                <a:latin typeface="Google Sans Flex Medium"/>
                <a:ea typeface="Google Sans Flex Medium"/>
                <a:cs typeface="Google Sans Flex Medium"/>
                <a:sym typeface="Google Sans Flex Medium"/>
              </a:rPr>
              <a:t>   Architecture</a:t>
            </a:r>
            <a:endParaRPr sz="3000">
              <a:solidFill>
                <a:srgbClr val="F8F8F8"/>
              </a:solidFill>
              <a:latin typeface="Google Sans Flex Medium"/>
              <a:ea typeface="Google Sans Flex Medium"/>
              <a:cs typeface="Google Sans Flex Medium"/>
              <a:sym typeface="Google Sans Flex Medium"/>
            </a:endParaRPr>
          </a:p>
        </p:txBody>
      </p:sp>
      <p:sp>
        <p:nvSpPr>
          <p:cNvPr id="85" name="Google Shape;85;p21"/>
          <p:cNvSpPr txBox="1">
            <a:spLocks noGrp="1"/>
          </p:cNvSpPr>
          <p:nvPr>
            <p:ph type="sldNum" idx="12"/>
          </p:nvPr>
        </p:nvSpPr>
        <p:spPr>
          <a:xfrm>
            <a:off x="8365633" y="4708887"/>
            <a:ext cx="548700" cy="393600"/>
          </a:xfrm>
          <a:prstGeom prst="rect">
            <a:avLst/>
          </a:prstGeom>
        </p:spPr>
        <p:txBody>
          <a:bodyPr spcFirstLastPara="1" wrap="square" lIns="91425" tIns="91425" rIns="91425" bIns="91425" anchor="ctr" anchorCtr="0">
            <a:normAutofit/>
          </a:bodyPr>
          <a:lstStyle>
            <a:lvl1pPr lvl="0">
              <a:buNone/>
              <a:defRPr sz="900">
                <a:solidFill>
                  <a:schemeClr val="lt1"/>
                </a:solidFill>
                <a:latin typeface="Google Sans Flex"/>
                <a:ea typeface="Google Sans Flex"/>
                <a:cs typeface="Google Sans Flex"/>
                <a:sym typeface="Google Sans Flex"/>
              </a:defRPr>
            </a:lvl1pPr>
            <a:lvl2pPr lvl="1">
              <a:buNone/>
              <a:defRPr sz="900">
                <a:solidFill>
                  <a:schemeClr val="lt1"/>
                </a:solidFill>
                <a:latin typeface="Google Sans Flex"/>
                <a:ea typeface="Google Sans Flex"/>
                <a:cs typeface="Google Sans Flex"/>
                <a:sym typeface="Google Sans Flex"/>
              </a:defRPr>
            </a:lvl2pPr>
            <a:lvl3pPr lvl="2">
              <a:buNone/>
              <a:defRPr sz="900">
                <a:solidFill>
                  <a:schemeClr val="lt1"/>
                </a:solidFill>
                <a:latin typeface="Google Sans Flex"/>
                <a:ea typeface="Google Sans Flex"/>
                <a:cs typeface="Google Sans Flex"/>
                <a:sym typeface="Google Sans Flex"/>
              </a:defRPr>
            </a:lvl3pPr>
            <a:lvl4pPr lvl="3">
              <a:buNone/>
              <a:defRPr sz="900">
                <a:solidFill>
                  <a:schemeClr val="lt1"/>
                </a:solidFill>
                <a:latin typeface="Google Sans Flex"/>
                <a:ea typeface="Google Sans Flex"/>
                <a:cs typeface="Google Sans Flex"/>
                <a:sym typeface="Google Sans Flex"/>
              </a:defRPr>
            </a:lvl4pPr>
            <a:lvl5pPr lvl="4">
              <a:buNone/>
              <a:defRPr sz="900">
                <a:solidFill>
                  <a:schemeClr val="lt1"/>
                </a:solidFill>
                <a:latin typeface="Google Sans Flex"/>
                <a:ea typeface="Google Sans Flex"/>
                <a:cs typeface="Google Sans Flex"/>
                <a:sym typeface="Google Sans Flex"/>
              </a:defRPr>
            </a:lvl5pPr>
            <a:lvl6pPr lvl="5">
              <a:buNone/>
              <a:defRPr sz="900">
                <a:solidFill>
                  <a:schemeClr val="lt1"/>
                </a:solidFill>
                <a:latin typeface="Google Sans Flex"/>
                <a:ea typeface="Google Sans Flex"/>
                <a:cs typeface="Google Sans Flex"/>
                <a:sym typeface="Google Sans Flex"/>
              </a:defRPr>
            </a:lvl6pPr>
            <a:lvl7pPr lvl="6">
              <a:buNone/>
              <a:defRPr sz="900">
                <a:solidFill>
                  <a:schemeClr val="lt1"/>
                </a:solidFill>
                <a:latin typeface="Google Sans Flex"/>
                <a:ea typeface="Google Sans Flex"/>
                <a:cs typeface="Google Sans Flex"/>
                <a:sym typeface="Google Sans Flex"/>
              </a:defRPr>
            </a:lvl7pPr>
            <a:lvl8pPr lvl="7">
              <a:buNone/>
              <a:defRPr sz="900">
                <a:solidFill>
                  <a:schemeClr val="lt1"/>
                </a:solidFill>
                <a:latin typeface="Google Sans Flex"/>
                <a:ea typeface="Google Sans Flex"/>
                <a:cs typeface="Google Sans Flex"/>
                <a:sym typeface="Google Sans Flex"/>
              </a:defRPr>
            </a:lvl8pPr>
            <a:lvl9pPr lvl="8">
              <a:buNone/>
              <a:defRPr sz="900">
                <a:solidFill>
                  <a:schemeClr val="lt1"/>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
              <a:t>‹#›</a:t>
            </a:fld>
            <a:endParaRPr/>
          </a:p>
        </p:txBody>
      </p:sp>
      <p:pic>
        <p:nvPicPr>
          <p:cNvPr id="86" name="Google Shape;86;p21" title="GC_Logo_Reverse_rgb.png"/>
          <p:cNvPicPr preferRelativeResize="0"/>
          <p:nvPr/>
        </p:nvPicPr>
        <p:blipFill>
          <a:blip r:embed="rId2">
            <a:alphaModFix/>
          </a:blip>
          <a:stretch>
            <a:fillRect/>
          </a:stretch>
        </p:blipFill>
        <p:spPr>
          <a:xfrm>
            <a:off x="242725" y="4857575"/>
            <a:ext cx="717373" cy="123650"/>
          </a:xfrm>
          <a:prstGeom prst="rect">
            <a:avLst/>
          </a:prstGeom>
          <a:noFill/>
          <a:ln>
            <a:noFill/>
          </a:ln>
        </p:spPr>
      </p:pic>
      <p:sp>
        <p:nvSpPr>
          <p:cNvPr id="87" name="Google Shape;87;p21"/>
          <p:cNvSpPr txBox="1"/>
          <p:nvPr/>
        </p:nvSpPr>
        <p:spPr>
          <a:xfrm>
            <a:off x="7146375" y="4792202"/>
            <a:ext cx="1641000" cy="25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600">
                <a:solidFill>
                  <a:schemeClr val="lt1"/>
                </a:solidFill>
                <a:latin typeface="Google Sans Flex"/>
                <a:ea typeface="Google Sans Flex"/>
                <a:cs typeface="Google Sans Flex"/>
                <a:sym typeface="Google Sans Flex"/>
              </a:rPr>
              <a:t>Proprietary &amp; Confidential</a:t>
            </a:r>
            <a:endParaRPr sz="600">
              <a:solidFill>
                <a:schemeClr val="lt1"/>
              </a:solidFill>
              <a:latin typeface="Google Sans Flex"/>
              <a:ea typeface="Google Sans Flex"/>
              <a:cs typeface="Google Sans Flex"/>
              <a:sym typeface="Google Sans Flex"/>
            </a:endParaRPr>
          </a:p>
        </p:txBody>
      </p:sp>
    </p:spTree>
  </p:cSld>
  <p:clrMapOvr>
    <a:masterClrMapping/>
  </p:clrMapOvr>
  <p:extLst>
    <p:ext uri="{DCECCB84-F9BA-43D5-87BE-67443E8EF086}">
      <p15:sldGuideLst xmlns:p15="http://schemas.microsoft.com/office/powerpoint/2012/main">
        <p15:guide id="1" orient="horz" pos="432">
          <p15:clr>
            <a:srgbClr val="E46962"/>
          </p15:clr>
        </p15:guide>
        <p15:guide id="2" pos="379">
          <p15:clr>
            <a:srgbClr val="E46962"/>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8"/>
        <p:cNvGrpSpPr/>
        <p:nvPr/>
      </p:nvGrpSpPr>
      <p:grpSpPr>
        <a:xfrm>
          <a:off x="0" y="0"/>
          <a:ext cx="0" cy="0"/>
          <a:chOff x="0" y="0"/>
          <a:chExt cx="0" cy="0"/>
        </a:xfrm>
      </p:grpSpPr>
      <p:sp>
        <p:nvSpPr>
          <p:cNvPr id="89" name="Google Shape;89;p2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4200"/>
              <a:buChar char="●"/>
              <a:defRPr sz="4200"/>
            </a:lvl1pPr>
            <a:lvl2pPr lvl="1" algn="ctr">
              <a:spcBef>
                <a:spcPts val="0"/>
              </a:spcBef>
              <a:spcAft>
                <a:spcPts val="0"/>
              </a:spcAft>
              <a:buSzPts val="4200"/>
              <a:buChar char="○"/>
              <a:defRPr sz="4200"/>
            </a:lvl2pPr>
            <a:lvl3pPr lvl="2" algn="ctr">
              <a:spcBef>
                <a:spcPts val="0"/>
              </a:spcBef>
              <a:spcAft>
                <a:spcPts val="0"/>
              </a:spcAft>
              <a:buSzPts val="4200"/>
              <a:buChar char="■"/>
              <a:defRPr sz="4200"/>
            </a:lvl3pPr>
            <a:lvl4pPr lvl="3" algn="ctr">
              <a:spcBef>
                <a:spcPts val="0"/>
              </a:spcBef>
              <a:spcAft>
                <a:spcPts val="0"/>
              </a:spcAft>
              <a:buSzPts val="4200"/>
              <a:buChar char="●"/>
              <a:defRPr sz="4200"/>
            </a:lvl4pPr>
            <a:lvl5pPr lvl="4" algn="ctr">
              <a:spcBef>
                <a:spcPts val="0"/>
              </a:spcBef>
              <a:spcAft>
                <a:spcPts val="0"/>
              </a:spcAft>
              <a:buSzPts val="4200"/>
              <a:buChar char="○"/>
              <a:defRPr sz="4200"/>
            </a:lvl5pPr>
            <a:lvl6pPr lvl="5" algn="ctr">
              <a:spcBef>
                <a:spcPts val="0"/>
              </a:spcBef>
              <a:spcAft>
                <a:spcPts val="0"/>
              </a:spcAft>
              <a:buSzPts val="4200"/>
              <a:buChar char="■"/>
              <a:defRPr sz="4200"/>
            </a:lvl6pPr>
            <a:lvl7pPr lvl="6" algn="ctr">
              <a:spcBef>
                <a:spcPts val="0"/>
              </a:spcBef>
              <a:spcAft>
                <a:spcPts val="0"/>
              </a:spcAft>
              <a:buSzPts val="4200"/>
              <a:buChar char="●"/>
              <a:defRPr sz="4200"/>
            </a:lvl7pPr>
            <a:lvl8pPr lvl="7" algn="ctr">
              <a:spcBef>
                <a:spcPts val="0"/>
              </a:spcBef>
              <a:spcAft>
                <a:spcPts val="0"/>
              </a:spcAft>
              <a:buSzPts val="4200"/>
              <a:buChar char="○"/>
              <a:defRPr sz="4200"/>
            </a:lvl8pPr>
            <a:lvl9pPr lvl="8" algn="ctr">
              <a:spcBef>
                <a:spcPts val="0"/>
              </a:spcBef>
              <a:spcAft>
                <a:spcPts val="0"/>
              </a:spcAft>
              <a:buSzPts val="4200"/>
              <a:buChar char="■"/>
              <a:defRPr sz="4200"/>
            </a:lvl9pPr>
          </a:lstStyle>
          <a:p>
            <a:endParaRPr/>
          </a:p>
        </p:txBody>
      </p:sp>
      <p:sp>
        <p:nvSpPr>
          <p:cNvPr id="91" name="Google Shape;91;p2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2" name="Google Shape;92;p2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93" name="Google Shape;93;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4"/>
        <p:cNvGrpSpPr/>
        <p:nvPr/>
      </p:nvGrpSpPr>
      <p:grpSpPr>
        <a:xfrm>
          <a:off x="0" y="0"/>
          <a:ext cx="0" cy="0"/>
          <a:chOff x="0" y="0"/>
          <a:chExt cx="0" cy="0"/>
        </a:xfrm>
      </p:grpSpPr>
      <p:sp>
        <p:nvSpPr>
          <p:cNvPr id="95" name="Google Shape;95;p2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400"/>
              <a:buNone/>
              <a:defRPr/>
            </a:lvl1pPr>
          </a:lstStyle>
          <a:p>
            <a:endParaRPr/>
          </a:p>
        </p:txBody>
      </p:sp>
      <p:sp>
        <p:nvSpPr>
          <p:cNvPr id="96" name="Google Shape;96;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7"/>
        <p:cNvGrpSpPr/>
        <p:nvPr/>
      </p:nvGrpSpPr>
      <p:grpSpPr>
        <a:xfrm>
          <a:off x="0" y="0"/>
          <a:ext cx="0" cy="0"/>
          <a:chOff x="0" y="0"/>
          <a:chExt cx="0" cy="0"/>
        </a:xfrm>
      </p:grpSpPr>
      <p:sp>
        <p:nvSpPr>
          <p:cNvPr id="98" name="Google Shape;98;p2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12000"/>
              <a:buChar char="●"/>
              <a:defRPr sz="12000"/>
            </a:lvl1pPr>
            <a:lvl2pPr lvl="1" algn="ctr">
              <a:spcBef>
                <a:spcPts val="0"/>
              </a:spcBef>
              <a:spcAft>
                <a:spcPts val="0"/>
              </a:spcAft>
              <a:buSzPts val="12000"/>
              <a:buChar char="○"/>
              <a:defRPr sz="12000"/>
            </a:lvl2pPr>
            <a:lvl3pPr lvl="2" algn="ctr">
              <a:spcBef>
                <a:spcPts val="0"/>
              </a:spcBef>
              <a:spcAft>
                <a:spcPts val="0"/>
              </a:spcAft>
              <a:buSzPts val="12000"/>
              <a:buChar char="■"/>
              <a:defRPr sz="12000"/>
            </a:lvl3pPr>
            <a:lvl4pPr lvl="3" algn="ctr">
              <a:spcBef>
                <a:spcPts val="0"/>
              </a:spcBef>
              <a:spcAft>
                <a:spcPts val="0"/>
              </a:spcAft>
              <a:buSzPts val="12000"/>
              <a:buChar char="●"/>
              <a:defRPr sz="12000"/>
            </a:lvl4pPr>
            <a:lvl5pPr lvl="4" algn="ctr">
              <a:spcBef>
                <a:spcPts val="0"/>
              </a:spcBef>
              <a:spcAft>
                <a:spcPts val="0"/>
              </a:spcAft>
              <a:buSzPts val="12000"/>
              <a:buChar char="○"/>
              <a:defRPr sz="12000"/>
            </a:lvl5pPr>
            <a:lvl6pPr lvl="5" algn="ctr">
              <a:spcBef>
                <a:spcPts val="0"/>
              </a:spcBef>
              <a:spcAft>
                <a:spcPts val="0"/>
              </a:spcAft>
              <a:buSzPts val="12000"/>
              <a:buChar char="■"/>
              <a:defRPr sz="12000"/>
            </a:lvl6pPr>
            <a:lvl7pPr lvl="6" algn="ctr">
              <a:spcBef>
                <a:spcPts val="0"/>
              </a:spcBef>
              <a:spcAft>
                <a:spcPts val="0"/>
              </a:spcAft>
              <a:buSzPts val="12000"/>
              <a:buChar char="●"/>
              <a:defRPr sz="12000"/>
            </a:lvl7pPr>
            <a:lvl8pPr lvl="7" algn="ctr">
              <a:spcBef>
                <a:spcPts val="0"/>
              </a:spcBef>
              <a:spcAft>
                <a:spcPts val="0"/>
              </a:spcAft>
              <a:buSzPts val="12000"/>
              <a:buChar char="○"/>
              <a:defRPr sz="12000"/>
            </a:lvl8pPr>
            <a:lvl9pPr lvl="8" algn="ctr">
              <a:spcBef>
                <a:spcPts val="0"/>
              </a:spcBef>
              <a:spcAft>
                <a:spcPts val="0"/>
              </a:spcAft>
              <a:buSzPts val="12000"/>
              <a:buChar char="■"/>
              <a:defRPr sz="12000"/>
            </a:lvl9pPr>
          </a:lstStyle>
          <a:p>
            <a:r>
              <a:t>xx%</a:t>
            </a:r>
          </a:p>
        </p:txBody>
      </p:sp>
      <p:sp>
        <p:nvSpPr>
          <p:cNvPr id="99" name="Google Shape;99;p2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ctr" anchorCtr="0">
            <a:noAutofit/>
          </a:bodyPr>
          <a:lstStyle>
            <a:lvl1pPr marL="457200" lvl="0" indent="-317500" algn="ctr">
              <a:spcBef>
                <a:spcPts val="0"/>
              </a:spcBef>
              <a:spcAft>
                <a:spcPts val="0"/>
              </a:spcAft>
              <a:buSzPts val="14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100" name="Google Shape;100;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1"/>
        <p:cNvGrpSpPr/>
        <p:nvPr/>
      </p:nvGrpSpPr>
      <p:grpSpPr>
        <a:xfrm>
          <a:off x="0" y="0"/>
          <a:ext cx="0" cy="0"/>
          <a:chOff x="0" y="0"/>
          <a:chExt cx="0" cy="0"/>
        </a:xfrm>
      </p:grpSpPr>
      <p:sp>
        <p:nvSpPr>
          <p:cNvPr id="102" name="Google Shape;102;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103"/>
        <p:cNvGrpSpPr/>
        <p:nvPr/>
      </p:nvGrpSpPr>
      <p:grpSpPr>
        <a:xfrm>
          <a:off x="0" y="0"/>
          <a:ext cx="0" cy="0"/>
          <a:chOff x="0" y="0"/>
          <a:chExt cx="0" cy="0"/>
        </a:xfrm>
      </p:grpSpPr>
      <p:sp>
        <p:nvSpPr>
          <p:cNvPr id="104" name="Google Shape;10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105" name="Google Shape;10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06" name="Google Shape;106;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121317"/>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show="0">
  <p:cSld>
    <p:bg>
      <p:bgPr>
        <a:solidFill>
          <a:srgbClr val="121317"/>
        </a:solidFill>
        <a:effectLst/>
      </p:bgPr>
    </p:bg>
    <p:spTree>
      <p:nvGrpSpPr>
        <p:cNvPr id="1" name="Shape 110"/>
        <p:cNvGrpSpPr/>
        <p:nvPr/>
      </p:nvGrpSpPr>
      <p:grpSpPr>
        <a:xfrm>
          <a:off x="0" y="0"/>
          <a:ext cx="0" cy="0"/>
          <a:chOff x="0" y="0"/>
          <a:chExt cx="0" cy="0"/>
        </a:xfrm>
      </p:grpSpPr>
      <p:sp>
        <p:nvSpPr>
          <p:cNvPr id="111" name="Google Shape;111;p27"/>
          <p:cNvSpPr txBox="1"/>
          <p:nvPr/>
        </p:nvSpPr>
        <p:spPr>
          <a:xfrm>
            <a:off x="577752" y="405687"/>
            <a:ext cx="4382700" cy="1277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0"/>
              </a:spcBef>
              <a:spcAft>
                <a:spcPts val="0"/>
              </a:spcAft>
              <a:buNone/>
            </a:pPr>
            <a:r>
              <a:rPr lang="en" sz="4500">
                <a:solidFill>
                  <a:srgbClr val="F8F8F8"/>
                </a:solidFill>
                <a:latin typeface="Google Sans Flex Medium"/>
                <a:ea typeface="Google Sans Flex Medium"/>
                <a:cs typeface="Google Sans Flex Medium"/>
                <a:sym typeface="Google Sans Flex Medium"/>
              </a:rPr>
              <a:t>Instructions</a:t>
            </a:r>
            <a:endParaRPr sz="4500">
              <a:solidFill>
                <a:srgbClr val="F8F8F8"/>
              </a:solidFill>
              <a:latin typeface="Google Sans Flex Medium"/>
              <a:ea typeface="Google Sans Flex Medium"/>
              <a:cs typeface="Google Sans Flex Medium"/>
              <a:sym typeface="Google Sans Flex Medium"/>
            </a:endParaRPr>
          </a:p>
        </p:txBody>
      </p:sp>
      <p:pic>
        <p:nvPicPr>
          <p:cNvPr id="112" name="Google Shape;112;p27"/>
          <p:cNvPicPr preferRelativeResize="0"/>
          <p:nvPr/>
        </p:nvPicPr>
        <p:blipFill>
          <a:blip r:embed="rId3">
            <a:alphaModFix/>
          </a:blip>
          <a:stretch>
            <a:fillRect/>
          </a:stretch>
        </p:blipFill>
        <p:spPr>
          <a:xfrm>
            <a:off x="6436326" y="689350"/>
            <a:ext cx="2707675" cy="3764775"/>
          </a:xfrm>
          <a:prstGeom prst="rect">
            <a:avLst/>
          </a:prstGeom>
          <a:noFill/>
          <a:ln>
            <a:noFill/>
          </a:ln>
        </p:spPr>
      </p:pic>
      <p:sp>
        <p:nvSpPr>
          <p:cNvPr id="113" name="Google Shape;113;p27"/>
          <p:cNvSpPr txBox="1">
            <a:spLocks noGrp="1"/>
          </p:cNvSpPr>
          <p:nvPr>
            <p:ph type="sldNum" idx="12"/>
          </p:nvPr>
        </p:nvSpPr>
        <p:spPr>
          <a:xfrm>
            <a:off x="8365633" y="4730658"/>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sz="800">
                <a:latin typeface="Google Sans Flex"/>
                <a:ea typeface="Google Sans Flex"/>
                <a:cs typeface="Google Sans Flex"/>
                <a:sym typeface="Google Sans Flex"/>
              </a:rPr>
              <a:t>1</a:t>
            </a:fld>
            <a:endParaRPr sz="800">
              <a:latin typeface="Google Sans Flex"/>
              <a:ea typeface="Google Sans Flex"/>
              <a:cs typeface="Google Sans Flex"/>
              <a:sym typeface="Google Sans Flex"/>
            </a:endParaRPr>
          </a:p>
        </p:txBody>
      </p:sp>
      <p:sp>
        <p:nvSpPr>
          <p:cNvPr id="114" name="Google Shape;114;p27"/>
          <p:cNvSpPr txBox="1"/>
          <p:nvPr/>
        </p:nvSpPr>
        <p:spPr>
          <a:xfrm>
            <a:off x="577750" y="1305100"/>
            <a:ext cx="5333400" cy="3270600"/>
          </a:xfrm>
          <a:prstGeom prst="rect">
            <a:avLst/>
          </a:prstGeom>
          <a:noFill/>
          <a:ln>
            <a:noFill/>
          </a:ln>
        </p:spPr>
        <p:txBody>
          <a:bodyPr spcFirstLastPara="1" wrap="square" lIns="91425" tIns="91425" rIns="91425" bIns="91425" anchor="t" anchorCtr="0">
            <a:noAutofit/>
          </a:bodyPr>
          <a:lstStyle/>
          <a:p>
            <a:pPr marL="457200" lvl="0" indent="-323850" algn="l" rtl="0">
              <a:lnSpc>
                <a:spcPct val="115000"/>
              </a:lnSpc>
              <a:spcBef>
                <a:spcPts val="1200"/>
              </a:spcBef>
              <a:spcAft>
                <a:spcPts val="0"/>
              </a:spcAft>
              <a:buClr>
                <a:schemeClr val="lt1"/>
              </a:buClr>
              <a:buSzPts val="1500"/>
              <a:buFont typeface="Google Sans Flex"/>
              <a:buAutoNum type="arabicPeriod"/>
            </a:pPr>
            <a:r>
              <a:rPr lang="en" sz="1500">
                <a:solidFill>
                  <a:schemeClr val="lt1"/>
                </a:solidFill>
                <a:latin typeface="Google Sans Flex"/>
                <a:ea typeface="Google Sans Flex"/>
                <a:cs typeface="Google Sans Flex"/>
                <a:sym typeface="Google Sans Flex"/>
              </a:rPr>
              <a:t>Use this slide template as the pitch deck you will submit, please </a:t>
            </a:r>
            <a:r>
              <a:rPr lang="en" sz="1500" b="1">
                <a:solidFill>
                  <a:schemeClr val="lt1"/>
                </a:solidFill>
                <a:latin typeface="Google Sans Flex"/>
                <a:ea typeface="Google Sans Flex"/>
                <a:cs typeface="Google Sans Flex"/>
                <a:sym typeface="Google Sans Flex"/>
              </a:rPr>
              <a:t>do NOT</a:t>
            </a:r>
            <a:r>
              <a:rPr lang="en" sz="1500">
                <a:solidFill>
                  <a:schemeClr val="lt1"/>
                </a:solidFill>
                <a:latin typeface="Google Sans Flex"/>
                <a:ea typeface="Google Sans Flex"/>
                <a:cs typeface="Google Sans Flex"/>
                <a:sym typeface="Google Sans Flex"/>
              </a:rPr>
              <a:t> add any additional slides. Any additional slides may not be reviewed as part of your submission. You should have</a:t>
            </a:r>
            <a:r>
              <a:rPr lang="en" sz="1500" b="1">
                <a:solidFill>
                  <a:schemeClr val="lt1"/>
                </a:solidFill>
                <a:latin typeface="Google Sans Flex"/>
                <a:ea typeface="Google Sans Flex"/>
                <a:cs typeface="Google Sans Flex"/>
                <a:sym typeface="Google Sans Flex"/>
              </a:rPr>
              <a:t> 6 slides total.</a:t>
            </a:r>
            <a:r>
              <a:rPr lang="en" sz="1500">
                <a:solidFill>
                  <a:schemeClr val="lt1"/>
                </a:solidFill>
                <a:latin typeface="Google Sans Flex"/>
                <a:ea typeface="Google Sans Flex"/>
                <a:cs typeface="Google Sans Flex"/>
                <a:sym typeface="Google Sans Flex"/>
              </a:rPr>
              <a:t> </a:t>
            </a:r>
            <a:endParaRPr sz="1500">
              <a:solidFill>
                <a:schemeClr val="lt1"/>
              </a:solidFill>
              <a:latin typeface="Google Sans Flex"/>
              <a:ea typeface="Google Sans Flex"/>
              <a:cs typeface="Google Sans Flex"/>
              <a:sym typeface="Google Sans Flex"/>
            </a:endParaRPr>
          </a:p>
          <a:p>
            <a:pPr marL="457200" lvl="0" indent="-323850" algn="l" rtl="0">
              <a:lnSpc>
                <a:spcPct val="115000"/>
              </a:lnSpc>
              <a:spcBef>
                <a:spcPts val="0"/>
              </a:spcBef>
              <a:spcAft>
                <a:spcPts val="0"/>
              </a:spcAft>
              <a:buClr>
                <a:schemeClr val="lt1"/>
              </a:buClr>
              <a:buSzPts val="1500"/>
              <a:buFont typeface="Google Sans Flex"/>
              <a:buAutoNum type="arabicPeriod"/>
            </a:pPr>
            <a:r>
              <a:rPr lang="en" sz="1500">
                <a:solidFill>
                  <a:schemeClr val="lt1"/>
                </a:solidFill>
                <a:latin typeface="Google Sans Flex"/>
                <a:ea typeface="Google Sans Flex"/>
                <a:cs typeface="Google Sans Flex"/>
                <a:sym typeface="Google Sans Flex"/>
              </a:rPr>
              <a:t>The “Our Team” slide, slide 3, needs to be completely filled out.</a:t>
            </a:r>
            <a:endParaRPr sz="1500">
              <a:solidFill>
                <a:schemeClr val="lt1"/>
              </a:solidFill>
              <a:latin typeface="Google Sans Flex"/>
              <a:ea typeface="Google Sans Flex"/>
              <a:cs typeface="Google Sans Flex"/>
              <a:sym typeface="Google Sans Flex"/>
            </a:endParaRPr>
          </a:p>
          <a:p>
            <a:pPr marL="457200" lvl="0" indent="-323850" algn="l" rtl="0">
              <a:lnSpc>
                <a:spcPct val="115000"/>
              </a:lnSpc>
              <a:spcBef>
                <a:spcPts val="0"/>
              </a:spcBef>
              <a:spcAft>
                <a:spcPts val="0"/>
              </a:spcAft>
              <a:buClr>
                <a:schemeClr val="lt1"/>
              </a:buClr>
              <a:buSzPts val="1500"/>
              <a:buFont typeface="Google Sans Flex"/>
              <a:buAutoNum type="arabicPeriod"/>
            </a:pPr>
            <a:r>
              <a:rPr lang="en" sz="1500">
                <a:solidFill>
                  <a:schemeClr val="lt1"/>
                </a:solidFill>
                <a:latin typeface="Google Sans Flex"/>
                <a:ea typeface="Google Sans Flex"/>
                <a:cs typeface="Google Sans Flex"/>
                <a:sym typeface="Google Sans Flex"/>
              </a:rPr>
              <a:t>Reminder- you must also submit: </a:t>
            </a:r>
            <a:endParaRPr sz="1500">
              <a:solidFill>
                <a:schemeClr val="lt1"/>
              </a:solidFill>
              <a:latin typeface="Google Sans Flex"/>
              <a:ea typeface="Google Sans Flex"/>
              <a:cs typeface="Google Sans Flex"/>
              <a:sym typeface="Google Sans Flex"/>
            </a:endParaRPr>
          </a:p>
          <a:p>
            <a:pPr marL="914400" lvl="1" indent="-317500" algn="l" rtl="0">
              <a:spcBef>
                <a:spcPts val="0"/>
              </a:spcBef>
              <a:spcAft>
                <a:spcPts val="0"/>
              </a:spcAft>
              <a:buClr>
                <a:schemeClr val="lt1"/>
              </a:buClr>
              <a:buSzPts val="1400"/>
              <a:buFont typeface="Google Sans"/>
              <a:buAutoNum type="alphaLcPeriod"/>
            </a:pPr>
            <a:r>
              <a:rPr lang="en">
                <a:solidFill>
                  <a:schemeClr val="lt1"/>
                </a:solidFill>
                <a:latin typeface="Google Sans"/>
                <a:ea typeface="Google Sans"/>
                <a:cs typeface="Google Sans"/>
                <a:sym typeface="Google Sans"/>
              </a:rPr>
              <a:t>Your squad environment link </a:t>
            </a:r>
            <a:endParaRPr>
              <a:solidFill>
                <a:schemeClr val="lt1"/>
              </a:solidFill>
              <a:latin typeface="Google Sans"/>
              <a:ea typeface="Google Sans"/>
              <a:cs typeface="Google Sans"/>
              <a:sym typeface="Google Sans"/>
            </a:endParaRPr>
          </a:p>
          <a:p>
            <a:pPr marL="914400" lvl="1" indent="-298450" algn="l" rtl="0">
              <a:spcBef>
                <a:spcPts val="0"/>
              </a:spcBef>
              <a:spcAft>
                <a:spcPts val="0"/>
              </a:spcAft>
              <a:buClr>
                <a:schemeClr val="lt1"/>
              </a:buClr>
              <a:buSzPts val="1100"/>
              <a:buFont typeface="Google Sans"/>
              <a:buAutoNum type="alphaLcPeriod"/>
            </a:pPr>
            <a:r>
              <a:rPr lang="en">
                <a:solidFill>
                  <a:schemeClr val="lt1"/>
                </a:solidFill>
                <a:latin typeface="Google Sans"/>
                <a:ea typeface="Google Sans"/>
                <a:cs typeface="Google Sans"/>
                <a:sym typeface="Google Sans"/>
              </a:rPr>
              <a:t>Your demo / live app link</a:t>
            </a:r>
            <a:endParaRPr>
              <a:solidFill>
                <a:schemeClr val="lt1"/>
              </a:solidFill>
              <a:latin typeface="Google Sans"/>
              <a:ea typeface="Google Sans"/>
              <a:cs typeface="Google Sans"/>
              <a:sym typeface="Google Sans"/>
            </a:endParaRPr>
          </a:p>
          <a:p>
            <a:pPr marL="914400" lvl="1" indent="-317500" algn="l" rtl="0">
              <a:spcBef>
                <a:spcPts val="0"/>
              </a:spcBef>
              <a:spcAft>
                <a:spcPts val="0"/>
              </a:spcAft>
              <a:buClr>
                <a:schemeClr val="lt1"/>
              </a:buClr>
              <a:buSzPts val="1400"/>
              <a:buFont typeface="Google Sans"/>
              <a:buAutoNum type="alphaLcPeriod"/>
            </a:pPr>
            <a:r>
              <a:rPr lang="en">
                <a:solidFill>
                  <a:schemeClr val="lt1"/>
                </a:solidFill>
                <a:latin typeface="Google Sans"/>
                <a:ea typeface="Google Sans"/>
                <a:cs typeface="Google Sans"/>
                <a:sym typeface="Google Sans"/>
              </a:rPr>
              <a:t>Your Github repo link </a:t>
            </a:r>
            <a:endParaRPr>
              <a:solidFill>
                <a:schemeClr val="lt1"/>
              </a:solidFill>
              <a:latin typeface="Google Sans"/>
              <a:ea typeface="Google Sans"/>
              <a:cs typeface="Google Sans"/>
              <a:sym typeface="Google Sans"/>
            </a:endParaRPr>
          </a:p>
          <a:p>
            <a:pPr marL="914400" lvl="1" indent="-317500" algn="l" rtl="0">
              <a:spcBef>
                <a:spcPts val="0"/>
              </a:spcBef>
              <a:spcAft>
                <a:spcPts val="0"/>
              </a:spcAft>
              <a:buClr>
                <a:schemeClr val="lt1"/>
              </a:buClr>
              <a:buSzPts val="1400"/>
              <a:buFont typeface="Google Sans"/>
              <a:buAutoNum type="alphaLcPeriod"/>
            </a:pPr>
            <a:r>
              <a:rPr lang="en">
                <a:solidFill>
                  <a:schemeClr val="lt1"/>
                </a:solidFill>
                <a:latin typeface="Google Sans"/>
                <a:ea typeface="Google Sans"/>
                <a:cs typeface="Google Sans"/>
                <a:sym typeface="Google Sans"/>
              </a:rPr>
              <a:t>Recorded pitch video, </a:t>
            </a:r>
            <a:r>
              <a:rPr lang="en" u="sng">
                <a:solidFill>
                  <a:schemeClr val="lt1"/>
                </a:solidFill>
                <a:latin typeface="Google Sans"/>
                <a:ea typeface="Google Sans"/>
                <a:cs typeface="Google Sans"/>
                <a:sym typeface="Google Sans"/>
              </a:rPr>
              <a:t>under</a:t>
            </a:r>
            <a:r>
              <a:rPr lang="en">
                <a:solidFill>
                  <a:schemeClr val="lt1"/>
                </a:solidFill>
                <a:latin typeface="Google Sans"/>
                <a:ea typeface="Google Sans"/>
                <a:cs typeface="Google Sans"/>
                <a:sym typeface="Google Sans"/>
              </a:rPr>
              <a:t> 3 minutes. </a:t>
            </a:r>
            <a:r>
              <a:rPr lang="en" b="1">
                <a:solidFill>
                  <a:schemeClr val="lt1"/>
                </a:solidFill>
                <a:latin typeface="Google Sans"/>
                <a:ea typeface="Google Sans"/>
                <a:cs typeface="Google Sans"/>
                <a:sym typeface="Google Sans"/>
              </a:rPr>
              <a:t>Please record yourselves briefly explaining/pitching your solution.</a:t>
            </a:r>
            <a:r>
              <a:rPr lang="en">
                <a:solidFill>
                  <a:schemeClr val="lt1"/>
                </a:solidFill>
                <a:latin typeface="Google Sans"/>
                <a:ea typeface="Google Sans"/>
                <a:cs typeface="Google Sans"/>
                <a:sym typeface="Google Sans"/>
              </a:rPr>
              <a:t> You can record this from any device.  </a:t>
            </a:r>
            <a:endParaRPr>
              <a:solidFill>
                <a:schemeClr val="lt1"/>
              </a:solidFill>
              <a:latin typeface="Google Sans"/>
              <a:ea typeface="Google Sans"/>
              <a:cs typeface="Google Sans"/>
              <a:sym typeface="Google Sans"/>
            </a:endParaRPr>
          </a:p>
          <a:p>
            <a:pPr marL="0" lvl="0" indent="0" algn="l" rtl="0">
              <a:lnSpc>
                <a:spcPct val="115000"/>
              </a:lnSpc>
              <a:spcBef>
                <a:spcPts val="1200"/>
              </a:spcBef>
              <a:spcAft>
                <a:spcPts val="0"/>
              </a:spcAft>
              <a:buNone/>
            </a:pPr>
            <a:endParaRPr sz="1200">
              <a:solidFill>
                <a:schemeClr val="lt1"/>
              </a:solidFill>
              <a:latin typeface="Google Sans Flex"/>
              <a:ea typeface="Google Sans Flex"/>
              <a:cs typeface="Google Sans Flex"/>
              <a:sym typeface="Google Sans Flex"/>
            </a:endParaRPr>
          </a:p>
          <a:p>
            <a:pPr marL="0" lvl="0" indent="0" algn="l" rtl="0">
              <a:lnSpc>
                <a:spcPct val="100000"/>
              </a:lnSpc>
              <a:spcBef>
                <a:spcPts val="1200"/>
              </a:spcBef>
              <a:spcAft>
                <a:spcPts val="0"/>
              </a:spcAft>
              <a:buNone/>
            </a:pPr>
            <a:endParaRPr sz="1200">
              <a:solidFill>
                <a:srgbClr val="F8F8F8"/>
              </a:solidFill>
              <a:latin typeface="Google Sans Flex"/>
              <a:ea typeface="Google Sans Flex"/>
              <a:cs typeface="Google Sans Flex"/>
              <a:sym typeface="Google Sans Flex"/>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7"/>
        </a:solidFill>
        <a:effectLst/>
      </p:bgPr>
    </p:bg>
    <p:spTree>
      <p:nvGrpSpPr>
        <p:cNvPr id="1" name="Shape 118"/>
        <p:cNvGrpSpPr/>
        <p:nvPr/>
      </p:nvGrpSpPr>
      <p:grpSpPr>
        <a:xfrm>
          <a:off x="0" y="0"/>
          <a:ext cx="0" cy="0"/>
          <a:chOff x="0" y="0"/>
          <a:chExt cx="0" cy="0"/>
        </a:xfrm>
      </p:grpSpPr>
      <p:sp>
        <p:nvSpPr>
          <p:cNvPr id="119" name="Google Shape;119;p28"/>
          <p:cNvSpPr txBox="1"/>
          <p:nvPr/>
        </p:nvSpPr>
        <p:spPr>
          <a:xfrm>
            <a:off x="5790775" y="2586700"/>
            <a:ext cx="3080700" cy="613800"/>
          </a:xfrm>
          <a:prstGeom prst="rect">
            <a:avLst/>
          </a:prstGeom>
          <a:noFill/>
          <a:ln>
            <a:noFill/>
          </a:ln>
        </p:spPr>
        <p:txBody>
          <a:bodyPr spcFirstLastPara="1" wrap="square" lIns="61650" tIns="61650" rIns="61650" bIns="61650" anchor="t" anchorCtr="0">
            <a:noAutofit/>
          </a:bodyPr>
          <a:lstStyle/>
          <a:p>
            <a:pPr marL="0" lvl="0" indent="0" algn="ctr" rtl="0">
              <a:lnSpc>
                <a:spcPct val="90000"/>
              </a:lnSpc>
              <a:spcBef>
                <a:spcPts val="0"/>
              </a:spcBef>
              <a:spcAft>
                <a:spcPts val="0"/>
              </a:spcAft>
              <a:buNone/>
            </a:pPr>
            <a:r>
              <a:rPr lang="en" sz="2400">
                <a:solidFill>
                  <a:schemeClr val="lt1"/>
                </a:solidFill>
                <a:latin typeface="Google Sans Flex Medium"/>
                <a:ea typeface="Google Sans Flex Medium"/>
                <a:cs typeface="Google Sans Flex Medium"/>
                <a:sym typeface="Google Sans Flex Medium"/>
              </a:rPr>
              <a:t>Team name here</a:t>
            </a:r>
            <a:endParaRPr sz="2400">
              <a:solidFill>
                <a:schemeClr val="lt1"/>
              </a:solidFill>
              <a:latin typeface="Google Sans Flex Medium"/>
              <a:ea typeface="Google Sans Flex Medium"/>
              <a:cs typeface="Google Sans Flex Medium"/>
              <a:sym typeface="Google Sans Flex Medium"/>
            </a:endParaRPr>
          </a:p>
        </p:txBody>
      </p:sp>
      <p:pic>
        <p:nvPicPr>
          <p:cNvPr id="120" name="Google Shape;120;p28" title="A4I_whiteArtboard 38.5-NYC.png"/>
          <p:cNvPicPr preferRelativeResize="0"/>
          <p:nvPr/>
        </p:nvPicPr>
        <p:blipFill rotWithShape="1">
          <a:blip r:embed="rId3">
            <a:alphaModFix/>
          </a:blip>
          <a:srcRect t="27378" b="25727"/>
          <a:stretch/>
        </p:blipFill>
        <p:spPr>
          <a:xfrm rot="10800000" flipH="1">
            <a:off x="3586375" y="2509998"/>
            <a:ext cx="2276050" cy="6003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7"/>
        </a:solidFill>
        <a:effectLst/>
      </p:bgPr>
    </p:bg>
    <p:spTree>
      <p:nvGrpSpPr>
        <p:cNvPr id="1" name="Shape 124"/>
        <p:cNvGrpSpPr/>
        <p:nvPr/>
      </p:nvGrpSpPr>
      <p:grpSpPr>
        <a:xfrm>
          <a:off x="0" y="0"/>
          <a:ext cx="0" cy="0"/>
          <a:chOff x="0" y="0"/>
          <a:chExt cx="0" cy="0"/>
        </a:xfrm>
      </p:grpSpPr>
      <p:graphicFrame>
        <p:nvGraphicFramePr>
          <p:cNvPr id="125" name="Google Shape;125;p29"/>
          <p:cNvGraphicFramePr/>
          <p:nvPr/>
        </p:nvGraphicFramePr>
        <p:xfrm>
          <a:off x="577750" y="1357275"/>
          <a:ext cx="8117675" cy="3569355"/>
        </p:xfrm>
        <a:graphic>
          <a:graphicData uri="http://schemas.openxmlformats.org/drawingml/2006/table">
            <a:tbl>
              <a:tblPr>
                <a:noFill/>
                <a:tableStyleId>{B0530251-C406-4842-BE4E-697FB0008ECC}</a:tableStyleId>
              </a:tblPr>
              <a:tblGrid>
                <a:gridCol w="1352950">
                  <a:extLst>
                    <a:ext uri="{9D8B030D-6E8A-4147-A177-3AD203B41FA5}">
                      <a16:colId xmlns:a16="http://schemas.microsoft.com/office/drawing/2014/main" val="20000"/>
                    </a:ext>
                  </a:extLst>
                </a:gridCol>
                <a:gridCol w="1352950">
                  <a:extLst>
                    <a:ext uri="{9D8B030D-6E8A-4147-A177-3AD203B41FA5}">
                      <a16:colId xmlns:a16="http://schemas.microsoft.com/office/drawing/2014/main" val="20001"/>
                    </a:ext>
                  </a:extLst>
                </a:gridCol>
                <a:gridCol w="1238050">
                  <a:extLst>
                    <a:ext uri="{9D8B030D-6E8A-4147-A177-3AD203B41FA5}">
                      <a16:colId xmlns:a16="http://schemas.microsoft.com/office/drawing/2014/main" val="20002"/>
                    </a:ext>
                  </a:extLst>
                </a:gridCol>
                <a:gridCol w="1467825">
                  <a:extLst>
                    <a:ext uri="{9D8B030D-6E8A-4147-A177-3AD203B41FA5}">
                      <a16:colId xmlns:a16="http://schemas.microsoft.com/office/drawing/2014/main" val="20003"/>
                    </a:ext>
                  </a:extLst>
                </a:gridCol>
                <a:gridCol w="1352950">
                  <a:extLst>
                    <a:ext uri="{9D8B030D-6E8A-4147-A177-3AD203B41FA5}">
                      <a16:colId xmlns:a16="http://schemas.microsoft.com/office/drawing/2014/main" val="20004"/>
                    </a:ext>
                  </a:extLst>
                </a:gridCol>
                <a:gridCol w="1352950">
                  <a:extLst>
                    <a:ext uri="{9D8B030D-6E8A-4147-A177-3AD203B41FA5}">
                      <a16:colId xmlns:a16="http://schemas.microsoft.com/office/drawing/2014/main" val="20005"/>
                    </a:ext>
                  </a:extLst>
                </a:gridCol>
              </a:tblGrid>
              <a:tr h="399675">
                <a:tc>
                  <a:txBody>
                    <a:bodyPr/>
                    <a:lstStyle/>
                    <a:p>
                      <a:pPr marL="0" lvl="0" indent="0" algn="ctr" rtl="0">
                        <a:spcBef>
                          <a:spcPts val="0"/>
                        </a:spcBef>
                        <a:spcAft>
                          <a:spcPts val="0"/>
                        </a:spcAft>
                        <a:buNone/>
                      </a:pPr>
                      <a:r>
                        <a:rPr lang="en" sz="800" b="1">
                          <a:solidFill>
                            <a:schemeClr val="lt1"/>
                          </a:solidFill>
                          <a:latin typeface="Google Sans Flex"/>
                          <a:ea typeface="Google Sans Flex"/>
                          <a:cs typeface="Google Sans Flex"/>
                          <a:sym typeface="Google Sans Flex"/>
                        </a:rPr>
                        <a:t>NAME </a:t>
                      </a:r>
                      <a:endParaRPr sz="800" b="1">
                        <a:solidFill>
                          <a:schemeClr val="lt1"/>
                        </a:solidFill>
                        <a:latin typeface="Google Sans Flex"/>
                        <a:ea typeface="Google Sans Flex"/>
                        <a:cs typeface="Google Sans Flex"/>
                        <a:sym typeface="Google Sans Flex"/>
                      </a:endParaRPr>
                    </a:p>
                  </a:txBody>
                  <a:tcPr marL="91425" marR="91425" marT="91425" marB="91425" anchor="ctr">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800" b="1">
                          <a:solidFill>
                            <a:schemeClr val="lt1"/>
                          </a:solidFill>
                          <a:latin typeface="Google Sans Flex"/>
                          <a:ea typeface="Google Sans Flex"/>
                          <a:cs typeface="Google Sans Flex"/>
                          <a:sym typeface="Google Sans Flex"/>
                        </a:rPr>
                        <a:t>EMAIL</a:t>
                      </a:r>
                      <a:endParaRPr sz="800" b="1">
                        <a:latin typeface="Google Sans Flex"/>
                        <a:ea typeface="Google Sans Flex"/>
                        <a:cs typeface="Google Sans Flex"/>
                        <a:sym typeface="Google Sans Flex"/>
                      </a:endParaRPr>
                    </a:p>
                  </a:txBody>
                  <a:tcPr marL="91425" marR="91425" marT="91425" marB="91425" anchor="ctr">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800" b="1">
                          <a:solidFill>
                            <a:schemeClr val="lt1"/>
                          </a:solidFill>
                          <a:latin typeface="Google Sans Flex"/>
                          <a:ea typeface="Google Sans Flex"/>
                          <a:cs typeface="Google Sans Flex"/>
                          <a:sym typeface="Google Sans Flex"/>
                        </a:rPr>
                        <a:t>PHONE</a:t>
                      </a:r>
                      <a:endParaRPr sz="800" b="1">
                        <a:latin typeface="Google Sans Flex"/>
                        <a:ea typeface="Google Sans Flex"/>
                        <a:cs typeface="Google Sans Flex"/>
                        <a:sym typeface="Google Sans Flex"/>
                      </a:endParaRPr>
                    </a:p>
                  </a:txBody>
                  <a:tcPr marL="91425" marR="91425" marT="91425" marB="91425" anchor="ctr">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800" b="1">
                          <a:solidFill>
                            <a:schemeClr val="lt1"/>
                          </a:solidFill>
                          <a:latin typeface="Google Sans Flex"/>
                          <a:ea typeface="Google Sans Flex"/>
                          <a:cs typeface="Google Sans Flex"/>
                          <a:sym typeface="Google Sans Flex"/>
                        </a:rPr>
                        <a:t>FILMING AVAILABILITY</a:t>
                      </a:r>
                      <a:endParaRPr sz="800" b="1">
                        <a:solidFill>
                          <a:schemeClr val="lt1"/>
                        </a:solidFill>
                        <a:latin typeface="Google Sans Flex"/>
                        <a:ea typeface="Google Sans Flex"/>
                        <a:cs typeface="Google Sans Flex"/>
                        <a:sym typeface="Google Sans Flex"/>
                      </a:endParaRPr>
                    </a:p>
                    <a:p>
                      <a:pPr marL="0" lvl="0" indent="0" algn="ctr" rtl="0">
                        <a:lnSpc>
                          <a:spcPct val="115000"/>
                        </a:lnSpc>
                        <a:spcBef>
                          <a:spcPts val="0"/>
                        </a:spcBef>
                        <a:spcAft>
                          <a:spcPts val="0"/>
                        </a:spcAft>
                        <a:buNone/>
                      </a:pPr>
                      <a:r>
                        <a:rPr lang="en" sz="600">
                          <a:solidFill>
                            <a:schemeClr val="lt1"/>
                          </a:solidFill>
                          <a:latin typeface="Google Sans Flex"/>
                          <a:ea typeface="Google Sans Flex"/>
                          <a:cs typeface="Google Sans Flex"/>
                          <a:sym typeface="Google Sans Flex"/>
                        </a:rPr>
                        <a:t>(between 10AM-3PM on 10/29)</a:t>
                      </a:r>
                      <a:endParaRPr sz="600">
                        <a:solidFill>
                          <a:schemeClr val="lt1"/>
                        </a:solidFill>
                        <a:latin typeface="Google Sans Flex"/>
                        <a:ea typeface="Google Sans Flex"/>
                        <a:cs typeface="Google Sans Flex"/>
                        <a:sym typeface="Google Sans Flex"/>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800" b="1">
                          <a:solidFill>
                            <a:schemeClr val="lt1"/>
                          </a:solidFill>
                          <a:latin typeface="Google Sans Flex"/>
                          <a:ea typeface="Google Sans Flex"/>
                          <a:cs typeface="Google Sans Flex"/>
                          <a:sym typeface="Google Sans Flex"/>
                        </a:rPr>
                        <a:t>PROJECT SHARING</a:t>
                      </a:r>
                      <a:endParaRPr sz="800" b="1">
                        <a:solidFill>
                          <a:schemeClr val="lt1"/>
                        </a:solidFill>
                        <a:latin typeface="Google Sans Flex"/>
                        <a:ea typeface="Google Sans Flex"/>
                        <a:cs typeface="Google Sans Flex"/>
                        <a:sym typeface="Google Sans Flex"/>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800" b="1">
                          <a:solidFill>
                            <a:schemeClr val="lt1"/>
                          </a:solidFill>
                          <a:latin typeface="Google Sans Flex"/>
                          <a:ea typeface="Google Sans Flex"/>
                          <a:cs typeface="Google Sans Flex"/>
                          <a:sym typeface="Google Sans Flex"/>
                        </a:rPr>
                        <a:t>SHARE WITH </a:t>
                      </a:r>
                      <a:br>
                        <a:rPr lang="en" sz="800" b="1">
                          <a:solidFill>
                            <a:schemeClr val="lt1"/>
                          </a:solidFill>
                          <a:latin typeface="Google Sans Flex"/>
                          <a:ea typeface="Google Sans Flex"/>
                          <a:cs typeface="Google Sans Flex"/>
                          <a:sym typeface="Google Sans Flex"/>
                        </a:rPr>
                      </a:br>
                      <a:r>
                        <a:rPr lang="en" sz="600">
                          <a:solidFill>
                            <a:schemeClr val="lt1"/>
                          </a:solidFill>
                          <a:latin typeface="Google Sans Flex"/>
                          <a:ea typeface="Google Sans Flex"/>
                          <a:cs typeface="Google Sans Flex"/>
                          <a:sym typeface="Google Sans Flex"/>
                        </a:rPr>
                        <a:t>(provide emails)</a:t>
                      </a:r>
                      <a:endParaRPr sz="600">
                        <a:latin typeface="Google Sans Flex"/>
                        <a:ea typeface="Google Sans Flex"/>
                        <a:cs typeface="Google Sans Flex"/>
                        <a:sym typeface="Google Sans Flex"/>
                      </a:endParaRPr>
                    </a:p>
                  </a:txBody>
                  <a:tcPr marL="91425" marR="91425" marT="91425" marB="91425" anchor="ctr">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371775">
                <a:tc>
                  <a:txBody>
                    <a:bodyPr/>
                    <a:lstStyle/>
                    <a:p>
                      <a:pPr marL="0" lvl="0" indent="0" algn="l" rtl="0">
                        <a:spcBef>
                          <a:spcPts val="0"/>
                        </a:spcBef>
                        <a:spcAft>
                          <a:spcPts val="0"/>
                        </a:spcAft>
                        <a:buNone/>
                      </a:pPr>
                      <a:r>
                        <a:rPr lang="en">
                          <a:solidFill>
                            <a:schemeClr val="lt1"/>
                          </a:solidFill>
                        </a:rPr>
                        <a:t>Amogh U</a:t>
                      </a:r>
                      <a:endParaRPr>
                        <a:solidFill>
                          <a:schemeClr val="lt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i="1">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71775">
                <a:tc>
                  <a:txBody>
                    <a:bodyPr/>
                    <a:lstStyle/>
                    <a:p>
                      <a:pPr marL="0" lvl="0" indent="0" algn="l" rtl="0">
                        <a:spcBef>
                          <a:spcPts val="0"/>
                        </a:spcBef>
                        <a:spcAft>
                          <a:spcPts val="0"/>
                        </a:spcAft>
                        <a:buNone/>
                      </a:pPr>
                      <a:r>
                        <a:rPr lang="en">
                          <a:solidFill>
                            <a:schemeClr val="lt1"/>
                          </a:solidFill>
                        </a:rPr>
                        <a:t>Nabil B</a:t>
                      </a:r>
                      <a:endParaRPr>
                        <a:solidFill>
                          <a:schemeClr val="lt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338425">
                <a:tc>
                  <a:txBody>
                    <a:bodyPr/>
                    <a:lstStyle/>
                    <a:p>
                      <a:pPr marL="0" lvl="0" indent="0" algn="l" rtl="0">
                        <a:spcBef>
                          <a:spcPts val="0"/>
                        </a:spcBef>
                        <a:spcAft>
                          <a:spcPts val="0"/>
                        </a:spcAft>
                        <a:buNone/>
                      </a:pPr>
                      <a:r>
                        <a:rPr lang="en">
                          <a:solidFill>
                            <a:schemeClr val="lt1"/>
                          </a:solidFill>
                        </a:rPr>
                        <a:t>Mastan </a:t>
                      </a:r>
                      <a:endParaRPr>
                        <a:solidFill>
                          <a:schemeClr val="lt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338425">
                <a:tc>
                  <a:txBody>
                    <a:bodyPr/>
                    <a:lstStyle/>
                    <a:p>
                      <a:pPr marL="0" lvl="0" indent="0" algn="l" rtl="0">
                        <a:spcBef>
                          <a:spcPts val="0"/>
                        </a:spcBef>
                        <a:spcAft>
                          <a:spcPts val="0"/>
                        </a:spcAft>
                        <a:buNone/>
                      </a:pPr>
                      <a:r>
                        <a:rPr lang="en">
                          <a:solidFill>
                            <a:schemeClr val="lt1"/>
                          </a:solidFill>
                        </a:rPr>
                        <a:t>Julio G</a:t>
                      </a:r>
                      <a:endParaRPr>
                        <a:solidFill>
                          <a:schemeClr val="lt1"/>
                        </a:solidFill>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371775">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371775">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338425">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r h="371775">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9E9E9E"/>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solidFill>
                          <a:schemeClr val="lt1"/>
                        </a:solidFill>
                      </a:endParaRPr>
                    </a:p>
                  </a:txBody>
                  <a:tcPr marL="28575" marR="28575" marT="19050" marB="19050">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9525" cap="flat" cmpd="sng">
                      <a:solidFill>
                        <a:srgbClr val="CCCCCC"/>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26" name="Google Shape;126;p29"/>
          <p:cNvSpPr txBox="1">
            <a:spLocks noGrp="1"/>
          </p:cNvSpPr>
          <p:nvPr>
            <p:ph type="sldNum" idx="12"/>
          </p:nvPr>
        </p:nvSpPr>
        <p:spPr>
          <a:xfrm>
            <a:off x="8365633" y="470888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a:t>
            </a:fld>
            <a:endParaRPr/>
          </a:p>
        </p:txBody>
      </p:sp>
      <p:sp>
        <p:nvSpPr>
          <p:cNvPr id="127" name="Google Shape;127;p29"/>
          <p:cNvSpPr txBox="1"/>
          <p:nvPr/>
        </p:nvSpPr>
        <p:spPr>
          <a:xfrm>
            <a:off x="3415450" y="468350"/>
            <a:ext cx="5376000" cy="888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800" b="1">
                <a:solidFill>
                  <a:schemeClr val="lt1"/>
                </a:solidFill>
                <a:latin typeface="Google Sans Flex"/>
                <a:ea typeface="Google Sans Flex"/>
                <a:cs typeface="Google Sans Flex"/>
                <a:sym typeface="Google Sans Flex"/>
              </a:rPr>
              <a:t>Filming Availability: </a:t>
            </a:r>
            <a:r>
              <a:rPr lang="en" sz="800">
                <a:solidFill>
                  <a:schemeClr val="lt1"/>
                </a:solidFill>
                <a:latin typeface="Google Sans Flex"/>
                <a:ea typeface="Google Sans Flex"/>
                <a:cs typeface="Google Sans Flex"/>
                <a:sym typeface="Google Sans Flex"/>
              </a:rPr>
              <a:t>Should your team be selected as the winner, indicate if and when you are able to return to the Coca-Cola Roxy between 1:00-4:00 PM on Thursday 10/29 to film a team pitch of your project. </a:t>
            </a:r>
            <a:endParaRPr sz="800">
              <a:solidFill>
                <a:schemeClr val="lt1"/>
              </a:solidFill>
              <a:latin typeface="Google Sans Flex"/>
              <a:ea typeface="Google Sans Flex"/>
              <a:cs typeface="Google Sans Flex"/>
              <a:sym typeface="Google Sans Flex"/>
            </a:endParaRPr>
          </a:p>
          <a:p>
            <a:pPr marL="0" lvl="0" indent="0" algn="l" rtl="0">
              <a:lnSpc>
                <a:spcPct val="115000"/>
              </a:lnSpc>
              <a:spcBef>
                <a:spcPts val="0"/>
              </a:spcBef>
              <a:spcAft>
                <a:spcPts val="0"/>
              </a:spcAft>
              <a:buClr>
                <a:schemeClr val="dk1"/>
              </a:buClr>
              <a:buSzPts val="1100"/>
              <a:buFont typeface="Arial"/>
              <a:buNone/>
            </a:pPr>
            <a:r>
              <a:rPr lang="en" sz="800" b="1">
                <a:solidFill>
                  <a:schemeClr val="lt1"/>
                </a:solidFill>
                <a:latin typeface="Google Sans Flex"/>
                <a:ea typeface="Google Sans Flex"/>
                <a:cs typeface="Google Sans Flex"/>
                <a:sym typeface="Google Sans Flex"/>
              </a:rPr>
              <a:t>Project Sharing: </a:t>
            </a:r>
            <a:r>
              <a:rPr lang="en" sz="800">
                <a:solidFill>
                  <a:schemeClr val="lt1"/>
                </a:solidFill>
                <a:latin typeface="Google Sans Flex"/>
                <a:ea typeface="Google Sans Flex"/>
                <a:cs typeface="Google Sans Flex"/>
                <a:sym typeface="Google Sans Flex"/>
              </a:rPr>
              <a:t>Mark “yes” if you are OK with us sharing what you built with your team at work.</a:t>
            </a:r>
            <a:endParaRPr sz="800">
              <a:solidFill>
                <a:schemeClr val="lt1"/>
              </a:solidFill>
              <a:latin typeface="Google Sans Flex"/>
              <a:ea typeface="Google Sans Flex"/>
              <a:cs typeface="Google Sans Flex"/>
              <a:sym typeface="Google Sans Flex"/>
            </a:endParaRPr>
          </a:p>
          <a:p>
            <a:pPr marL="0" lvl="0" indent="0" algn="l" rtl="0">
              <a:lnSpc>
                <a:spcPct val="115000"/>
              </a:lnSpc>
              <a:spcBef>
                <a:spcPts val="0"/>
              </a:spcBef>
              <a:spcAft>
                <a:spcPts val="0"/>
              </a:spcAft>
              <a:buClr>
                <a:schemeClr val="dk1"/>
              </a:buClr>
              <a:buSzPts val="1100"/>
              <a:buFont typeface="Arial"/>
              <a:buNone/>
            </a:pPr>
            <a:r>
              <a:rPr lang="en" sz="800" b="1">
                <a:solidFill>
                  <a:schemeClr val="lt1"/>
                </a:solidFill>
                <a:latin typeface="Google Sans Flex"/>
                <a:ea typeface="Google Sans Flex"/>
                <a:cs typeface="Google Sans Flex"/>
                <a:sym typeface="Google Sans Flex"/>
              </a:rPr>
              <a:t>Share With: </a:t>
            </a:r>
            <a:r>
              <a:rPr lang="en" sz="800">
                <a:solidFill>
                  <a:schemeClr val="lt1"/>
                </a:solidFill>
                <a:latin typeface="Google Sans Flex"/>
                <a:ea typeface="Google Sans Flex"/>
                <a:cs typeface="Google Sans Flex"/>
                <a:sym typeface="Google Sans Flex"/>
              </a:rPr>
              <a:t>If “yes” to the above, is there anyone specific you’d like us to share it with at work?  Provide email(s).</a:t>
            </a:r>
            <a:endParaRPr sz="800">
              <a:solidFill>
                <a:schemeClr val="lt1"/>
              </a:solidFill>
              <a:latin typeface="Google Sans Flex"/>
              <a:ea typeface="Google Sans Flex"/>
              <a:cs typeface="Google Sans Flex"/>
              <a:sym typeface="Google Sans Flex"/>
            </a:endParaRPr>
          </a:p>
          <a:p>
            <a:pPr marL="0" lvl="0" indent="0" algn="l" rtl="0">
              <a:lnSpc>
                <a:spcPct val="115000"/>
              </a:lnSpc>
              <a:spcBef>
                <a:spcPts val="0"/>
              </a:spcBef>
              <a:spcAft>
                <a:spcPts val="0"/>
              </a:spcAft>
              <a:buNone/>
            </a:pPr>
            <a:r>
              <a:rPr lang="en" sz="800">
                <a:solidFill>
                  <a:schemeClr val="lt1"/>
                </a:solidFill>
                <a:latin typeface="Google Sans Flex"/>
                <a:ea typeface="Google Sans Flex"/>
                <a:cs typeface="Google Sans Flex"/>
                <a:sym typeface="Google Sans Flex"/>
              </a:rPr>
              <a:t>👉 </a:t>
            </a:r>
            <a:r>
              <a:rPr lang="en" sz="800" b="1">
                <a:solidFill>
                  <a:schemeClr val="lt1"/>
                </a:solidFill>
                <a:latin typeface="Google Sans Flex"/>
                <a:ea typeface="Google Sans Flex"/>
                <a:cs typeface="Google Sans Flex"/>
                <a:sym typeface="Google Sans Flex"/>
              </a:rPr>
              <a:t>Check your Discord channel tonight to learn if you won. We will contact you no later than 9:00 PM.  </a:t>
            </a:r>
            <a:endParaRPr sz="800" b="1">
              <a:solidFill>
                <a:schemeClr val="lt1"/>
              </a:solidFill>
              <a:latin typeface="Google Sans Flex"/>
              <a:ea typeface="Google Sans Flex"/>
              <a:cs typeface="Google Sans Flex"/>
              <a:sym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6C72925-4A0F-0D48-C14B-6D5BE9F4B18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
        <p:nvSpPr>
          <p:cNvPr id="3" name="Title"/>
          <p:cNvSpPr txBox="1"/>
          <p:nvPr/>
        </p:nvSpPr>
        <p:spPr>
          <a:xfrm>
            <a:off x="347472" y="237744"/>
            <a:ext cx="8430768" cy="393192"/>
          </a:xfrm>
          <a:prstGeom prst="rect">
            <a:avLst/>
          </a:prstGeom>
          <a:noFill/>
        </p:spPr>
        <p:txBody>
          <a:bodyPr wrap="square" lIns="0" tIns="0" rIns="0" bIns="0" anchor="t">
            <a:spAutoFit/>
          </a:bodyPr>
          <a:lstStyle/>
          <a:p>
            <a:r>
              <a:rPr sz="2550" b="1">
                <a:solidFill>
                  <a:srgbClr val="FFFFFF"/>
                </a:solidFill>
                <a:latin typeface="Calibri"/>
              </a:rPr>
              <a:t>From a closure notice to funded grants, before anyone applies</a:t>
            </a:r>
          </a:p>
        </p:txBody>
      </p:sp>
      <p:sp>
        <p:nvSpPr>
          <p:cNvPr id="4" name="Subtitle"/>
          <p:cNvSpPr txBox="1"/>
          <p:nvPr/>
        </p:nvSpPr>
        <p:spPr>
          <a:xfrm>
            <a:off x="347472" y="685800"/>
            <a:ext cx="8430768" cy="164592"/>
          </a:xfrm>
          <a:prstGeom prst="rect">
            <a:avLst/>
          </a:prstGeom>
          <a:noFill/>
        </p:spPr>
        <p:txBody>
          <a:bodyPr wrap="square" lIns="0" tIns="0" rIns="0" bIns="0" anchor="t">
            <a:spAutoFit/>
          </a:bodyPr>
          <a:lstStyle/>
          <a:p>
            <a:r>
              <a:rPr sz="1050" b="0">
                <a:solidFill>
                  <a:srgbClr val="B8C4C6"/>
                </a:solidFill>
                <a:latin typeface="Calibri"/>
              </a:rPr>
              <a:t>Anchor-closure track · our user: the city's economic-development officer · 90 days' notice, $50,000, and no applications yet</a:t>
            </a:r>
          </a:p>
        </p:txBody>
      </p:sp>
      <p:sp>
        <p:nvSpPr>
          <p:cNvPr id="5" name="How the officer uses it"/>
          <p:cNvSpPr/>
          <p:nvPr/>
        </p:nvSpPr>
        <p:spPr>
          <a:xfrm>
            <a:off x="347472" y="1060704"/>
            <a:ext cx="4846320" cy="3127248"/>
          </a:xfrm>
          <a:prstGeom prst="roundRect">
            <a:avLst>
              <a:gd name="adj" fmla="val 4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teps heading"/>
          <p:cNvSpPr txBox="1"/>
          <p:nvPr/>
        </p:nvSpPr>
        <p:spPr>
          <a:xfrm>
            <a:off x="512064" y="1152144"/>
            <a:ext cx="4572000" cy="201168"/>
          </a:xfrm>
          <a:prstGeom prst="rect">
            <a:avLst/>
          </a:prstGeom>
          <a:noFill/>
        </p:spPr>
        <p:txBody>
          <a:bodyPr wrap="square" lIns="0" tIns="0" rIns="0" bIns="0" anchor="t">
            <a:spAutoFit/>
          </a:bodyPr>
          <a:lstStyle/>
          <a:p>
            <a:r>
              <a:rPr sz="1125" b="1">
                <a:solidFill>
                  <a:srgbClr val="12343B"/>
                </a:solidFill>
                <a:latin typeface="Calibri"/>
              </a:rPr>
              <a:t>How the officer uses it</a:t>
            </a:r>
          </a:p>
        </p:txBody>
      </p:sp>
      <p:sp>
        <p:nvSpPr>
          <p:cNvPr id="7" name="Step 1"/>
          <p:cNvSpPr/>
          <p:nvPr/>
        </p:nvSpPr>
        <p:spPr>
          <a:xfrm>
            <a:off x="475488" y="1463040"/>
            <a:ext cx="4590288" cy="57607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ep 1 number"/>
          <p:cNvSpPr/>
          <p:nvPr/>
        </p:nvSpPr>
        <p:spPr>
          <a:xfrm>
            <a:off x="585216" y="1613916"/>
            <a:ext cx="274320" cy="274320"/>
          </a:xfrm>
          <a:prstGeom prst="ellipse">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FFFFFF"/>
                </a:solidFill>
                <a:latin typeface="Calibri"/>
              </a:rPr>
              <a:t>1</a:t>
            </a:r>
          </a:p>
        </p:txBody>
      </p:sp>
      <p:sp>
        <p:nvSpPr>
          <p:cNvPr id="9" name="Step 1 text"/>
          <p:cNvSpPr txBox="1"/>
          <p:nvPr/>
        </p:nvSpPr>
        <p:spPr>
          <a:xfrm>
            <a:off x="987552" y="1527048"/>
            <a:ext cx="3986784" cy="457200"/>
          </a:xfrm>
          <a:prstGeom prst="rect">
            <a:avLst/>
          </a:prstGeom>
          <a:noFill/>
        </p:spPr>
        <p:txBody>
          <a:bodyPr wrap="square" lIns="0" tIns="0" rIns="0" bIns="0" anchor="ctr">
            <a:spAutoFit/>
          </a:bodyPr>
          <a:lstStyle/>
          <a:p>
            <a:r>
              <a:rPr sz="1050" b="1">
                <a:solidFill>
                  <a:srgbClr val="12343B"/>
                </a:solidFill>
                <a:latin typeface="Calibri"/>
              </a:rPr>
              <a:t>Name the closure</a:t>
            </a:r>
          </a:p>
          <a:p>
            <a:pPr>
              <a:spcBef>
                <a:spcPts val="200"/>
              </a:spcBef>
            </a:pPr>
            <a:r>
              <a:rPr sz="900" b="0">
                <a:solidFill>
                  <a:srgbClr val="4A5A5D"/>
                </a:solidFill>
                <a:latin typeface="Calibri"/>
              </a:rPr>
              <a:t>Click the closing employer on the map. Set the budget and what a grant is assumed to change.</a:t>
            </a:r>
          </a:p>
        </p:txBody>
      </p:sp>
      <p:sp>
        <p:nvSpPr>
          <p:cNvPr id="10" name="Step 2"/>
          <p:cNvSpPr/>
          <p:nvPr/>
        </p:nvSpPr>
        <p:spPr>
          <a:xfrm>
            <a:off x="475488" y="2130552"/>
            <a:ext cx="4590288" cy="57607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ep 2 number"/>
          <p:cNvSpPr/>
          <p:nvPr/>
        </p:nvSpPr>
        <p:spPr>
          <a:xfrm>
            <a:off x="585216" y="2281428"/>
            <a:ext cx="274320" cy="274320"/>
          </a:xfrm>
          <a:prstGeom prst="ellipse">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FFFFFF"/>
                </a:solidFill>
                <a:latin typeface="Calibri"/>
              </a:rPr>
              <a:t>2</a:t>
            </a:r>
          </a:p>
        </p:txBody>
      </p:sp>
      <p:sp>
        <p:nvSpPr>
          <p:cNvPr id="12" name="Step 2 text"/>
          <p:cNvSpPr txBox="1"/>
          <p:nvPr/>
        </p:nvSpPr>
        <p:spPr>
          <a:xfrm>
            <a:off x="987552" y="2194560"/>
            <a:ext cx="3986784" cy="457200"/>
          </a:xfrm>
          <a:prstGeom prst="rect">
            <a:avLst/>
          </a:prstGeom>
          <a:noFill/>
        </p:spPr>
        <p:txBody>
          <a:bodyPr wrap="square" lIns="0" tIns="0" rIns="0" bIns="0" anchor="ctr">
            <a:spAutoFit/>
          </a:bodyPr>
          <a:lstStyle/>
          <a:p>
            <a:r>
              <a:rPr sz="1050" b="1">
                <a:solidFill>
                  <a:srgbClr val="12343B"/>
                </a:solidFill>
                <a:latin typeface="Calibri"/>
              </a:rPr>
              <a:t>See who is exposed</a:t>
            </a:r>
          </a:p>
          <a:p>
            <a:pPr>
              <a:spcBef>
                <a:spcPts val="200"/>
              </a:spcBef>
            </a:pPr>
            <a:r>
              <a:rPr sz="900" b="0">
                <a:solidFill>
                  <a:srgbClr val="4A5A5D"/>
                </a:solidFill>
                <a:latin typeface="Calibri"/>
              </a:rPr>
              <a:t>The map lights up the shops losing weekday trade, then the suppliers behind them, every path drawn.</a:t>
            </a:r>
          </a:p>
        </p:txBody>
      </p:sp>
      <p:sp>
        <p:nvSpPr>
          <p:cNvPr id="13" name="Step 3"/>
          <p:cNvSpPr/>
          <p:nvPr/>
        </p:nvSpPr>
        <p:spPr>
          <a:xfrm>
            <a:off x="475488" y="2798064"/>
            <a:ext cx="4590288" cy="57607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tep 3 number"/>
          <p:cNvSpPr/>
          <p:nvPr/>
        </p:nvSpPr>
        <p:spPr>
          <a:xfrm>
            <a:off x="585216" y="2948940"/>
            <a:ext cx="274320" cy="274320"/>
          </a:xfrm>
          <a:prstGeom prst="ellipse">
            <a:avLst/>
          </a:prstGeom>
          <a:solidFill>
            <a:srgbClr val="C27C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FFFFFF"/>
                </a:solidFill>
                <a:latin typeface="Calibri"/>
              </a:rPr>
              <a:t>3</a:t>
            </a:r>
          </a:p>
        </p:txBody>
      </p:sp>
      <p:sp>
        <p:nvSpPr>
          <p:cNvPr id="15" name="Step 3 text"/>
          <p:cNvSpPr txBox="1"/>
          <p:nvPr/>
        </p:nvSpPr>
        <p:spPr>
          <a:xfrm>
            <a:off x="987552" y="2862072"/>
            <a:ext cx="3986784" cy="457200"/>
          </a:xfrm>
          <a:prstGeom prst="rect">
            <a:avLst/>
          </a:prstGeom>
          <a:noFill/>
        </p:spPr>
        <p:txBody>
          <a:bodyPr wrap="square" lIns="0" tIns="0" rIns="0" bIns="0" anchor="ctr">
            <a:spAutoFit/>
          </a:bodyPr>
          <a:lstStyle/>
          <a:p>
            <a:r>
              <a:rPr sz="1050" b="1">
                <a:solidFill>
                  <a:srgbClr val="12343B"/>
                </a:solidFill>
                <a:latin typeface="Calibri"/>
              </a:rPr>
              <a:t>Question any decision</a:t>
            </a:r>
          </a:p>
          <a:p>
            <a:pPr>
              <a:spcBef>
                <a:spcPts val="200"/>
              </a:spcBef>
            </a:pPr>
            <a:r>
              <a:rPr sz="900" b="0">
                <a:solidFill>
                  <a:srgbClr val="4A5A5D"/>
                </a:solidFill>
                <a:latin typeface="Calibri"/>
              </a:rPr>
              <a:t>Hover a business for its grant, what it protects, and why it beat the runner-up.</a:t>
            </a:r>
          </a:p>
        </p:txBody>
      </p:sp>
      <p:sp>
        <p:nvSpPr>
          <p:cNvPr id="16" name="Step 4"/>
          <p:cNvSpPr/>
          <p:nvPr/>
        </p:nvSpPr>
        <p:spPr>
          <a:xfrm>
            <a:off x="475488" y="3465576"/>
            <a:ext cx="4590288" cy="57607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tep 4 number"/>
          <p:cNvSpPr/>
          <p:nvPr/>
        </p:nvSpPr>
        <p:spPr>
          <a:xfrm>
            <a:off x="585216" y="3616452"/>
            <a:ext cx="274320" cy="274320"/>
          </a:xfrm>
          <a:prstGeom prst="ellipse">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b="1">
                <a:solidFill>
                  <a:srgbClr val="FFFFFF"/>
                </a:solidFill>
                <a:latin typeface="Calibri"/>
              </a:rPr>
              <a:t>4</a:t>
            </a:r>
          </a:p>
        </p:txBody>
      </p:sp>
      <p:sp>
        <p:nvSpPr>
          <p:cNvPr id="18" name="Step 4 text"/>
          <p:cNvSpPr txBox="1"/>
          <p:nvPr/>
        </p:nvSpPr>
        <p:spPr>
          <a:xfrm>
            <a:off x="987552" y="3529584"/>
            <a:ext cx="3986784" cy="457200"/>
          </a:xfrm>
          <a:prstGeom prst="rect">
            <a:avLst/>
          </a:prstGeom>
          <a:noFill/>
        </p:spPr>
        <p:txBody>
          <a:bodyPr wrap="square" lIns="0" tIns="0" rIns="0" bIns="0" anchor="ctr">
            <a:spAutoFit/>
          </a:bodyPr>
          <a:lstStyle/>
          <a:p>
            <a:r>
              <a:rPr sz="1050" b="1">
                <a:solidFill>
                  <a:srgbClr val="12343B"/>
                </a:solidFill>
                <a:latin typeface="Calibri"/>
              </a:rPr>
              <a:t>Stress-test it, then take it to the meeting</a:t>
            </a:r>
          </a:p>
          <a:p>
            <a:pPr>
              <a:spcBef>
                <a:spcPts val="200"/>
              </a:spcBef>
            </a:pPr>
            <a:r>
              <a:rPr sz="900" b="0">
                <a:solidFill>
                  <a:srgbClr val="4A5A5D"/>
                </a:solidFill>
                <a:latin typeface="Calibri"/>
              </a:rPr>
              <a:t>Change the assumption and rerun. Export the grant memo, with assumptions and modeled evidence stated.</a:t>
            </a:r>
          </a:p>
        </p:txBody>
      </p:sp>
      <p:sp>
        <p:nvSpPr>
          <p:cNvPr id="19" name="Outcomes heading"/>
          <p:cNvSpPr txBox="1"/>
          <p:nvPr/>
        </p:nvSpPr>
        <p:spPr>
          <a:xfrm>
            <a:off x="5413248" y="1097280"/>
            <a:ext cx="3383280" cy="201168"/>
          </a:xfrm>
          <a:prstGeom prst="rect">
            <a:avLst/>
          </a:prstGeom>
          <a:noFill/>
        </p:spPr>
        <p:txBody>
          <a:bodyPr wrap="square" lIns="0" tIns="0" rIns="0" bIns="0" anchor="t">
            <a:spAutoFit/>
          </a:bodyPr>
          <a:lstStyle/>
          <a:p>
            <a:r>
              <a:rPr sz="1125" b="1">
                <a:solidFill>
                  <a:srgbClr val="FFFFFF"/>
                </a:solidFill>
                <a:latin typeface="Calibri"/>
              </a:rPr>
              <a:t>What changes for them</a:t>
            </a:r>
          </a:p>
        </p:txBody>
      </p:sp>
      <p:sp>
        <p:nvSpPr>
          <p:cNvPr id="20" name="Outcome 1"/>
          <p:cNvSpPr/>
          <p:nvPr/>
        </p:nvSpPr>
        <p:spPr>
          <a:xfrm>
            <a:off x="5413248" y="1371600"/>
            <a:ext cx="3383280" cy="630936"/>
          </a:xfrm>
          <a:prstGeom prst="roundRect">
            <a:avLst>
              <a:gd name="adj" fmla="val 8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utcome 1 text"/>
          <p:cNvSpPr txBox="1"/>
          <p:nvPr/>
        </p:nvSpPr>
        <p:spPr>
          <a:xfrm>
            <a:off x="5522976" y="1426464"/>
            <a:ext cx="3182112" cy="521207"/>
          </a:xfrm>
          <a:prstGeom prst="rect">
            <a:avLst/>
          </a:prstGeom>
          <a:noFill/>
        </p:spPr>
        <p:txBody>
          <a:bodyPr wrap="square" lIns="0" tIns="0" rIns="0" bIns="0" anchor="ctr">
            <a:spAutoFit/>
          </a:bodyPr>
          <a:lstStyle/>
          <a:p>
            <a:r>
              <a:rPr sz="1050" b="1">
                <a:solidFill>
                  <a:srgbClr val="1F6F6B"/>
                </a:solidFill>
                <a:latin typeface="Calibri"/>
              </a:rPr>
              <a:t>They reach people before the damage</a:t>
            </a:r>
          </a:p>
          <a:p>
            <a:pPr>
              <a:spcBef>
                <a:spcPts val="200"/>
              </a:spcBef>
            </a:pPr>
            <a:r>
              <a:rPr sz="900" b="0">
                <a:solidFill>
                  <a:srgbClr val="4A5A5D"/>
                </a:solidFill>
                <a:latin typeface="Calibri"/>
              </a:rPr>
              <a:t>The 90 days go to prevention, including suppliers that never served the office.</a:t>
            </a:r>
          </a:p>
        </p:txBody>
      </p:sp>
      <p:sp>
        <p:nvSpPr>
          <p:cNvPr id="22" name="Outcome 2"/>
          <p:cNvSpPr/>
          <p:nvPr/>
        </p:nvSpPr>
        <p:spPr>
          <a:xfrm>
            <a:off x="5413248" y="2080260"/>
            <a:ext cx="3383280" cy="630936"/>
          </a:xfrm>
          <a:prstGeom prst="roundRect">
            <a:avLst>
              <a:gd name="adj" fmla="val 8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utcome 2 text"/>
          <p:cNvSpPr txBox="1"/>
          <p:nvPr/>
        </p:nvSpPr>
        <p:spPr>
          <a:xfrm>
            <a:off x="5522976" y="2135124"/>
            <a:ext cx="3182112" cy="521207"/>
          </a:xfrm>
          <a:prstGeom prst="rect">
            <a:avLst/>
          </a:prstGeom>
          <a:noFill/>
        </p:spPr>
        <p:txBody>
          <a:bodyPr wrap="square" lIns="0" tIns="0" rIns="0" bIns="0" anchor="ctr">
            <a:spAutoFit/>
          </a:bodyPr>
          <a:lstStyle/>
          <a:p>
            <a:r>
              <a:rPr sz="1050" b="1">
                <a:solidFill>
                  <a:srgbClr val="1F6F6B"/>
                </a:solidFill>
                <a:latin typeface="Calibri"/>
              </a:rPr>
              <a:t>A case they can defend, not a score</a:t>
            </a:r>
          </a:p>
          <a:p>
            <a:pPr>
              <a:spcBef>
                <a:spcPts val="200"/>
              </a:spcBef>
            </a:pPr>
            <a:r>
              <a:rPr sz="900" b="0">
                <a:solidFill>
                  <a:srgbClr val="4A5A5D"/>
                </a:solidFill>
                <a:latin typeface="Calibri"/>
              </a:rPr>
              <a:t>Our tools compute every dollar; Gemini explains it. Paths shown, runner-up named.</a:t>
            </a:r>
          </a:p>
        </p:txBody>
      </p:sp>
      <p:sp>
        <p:nvSpPr>
          <p:cNvPr id="24" name="Outcome 3"/>
          <p:cNvSpPr/>
          <p:nvPr/>
        </p:nvSpPr>
        <p:spPr>
          <a:xfrm>
            <a:off x="5413248" y="2788920"/>
            <a:ext cx="3383280" cy="630936"/>
          </a:xfrm>
          <a:prstGeom prst="roundRect">
            <a:avLst>
              <a:gd name="adj" fmla="val 8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utcome 3 text"/>
          <p:cNvSpPr txBox="1"/>
          <p:nvPr/>
        </p:nvSpPr>
        <p:spPr>
          <a:xfrm>
            <a:off x="5522976" y="2843784"/>
            <a:ext cx="3182112" cy="521207"/>
          </a:xfrm>
          <a:prstGeom prst="rect">
            <a:avLst/>
          </a:prstGeom>
          <a:noFill/>
        </p:spPr>
        <p:txBody>
          <a:bodyPr wrap="square" lIns="0" tIns="0" rIns="0" bIns="0" anchor="ctr">
            <a:spAutoFit/>
          </a:bodyPr>
          <a:lstStyle/>
          <a:p>
            <a:r>
              <a:rPr sz="1050" b="1">
                <a:solidFill>
                  <a:srgbClr val="1F6F6B"/>
                </a:solidFill>
                <a:latin typeface="Calibri"/>
              </a:rPr>
              <a:t>Honest about what it cannot know</a:t>
            </a:r>
          </a:p>
          <a:p>
            <a:pPr>
              <a:spcBef>
                <a:spcPts val="200"/>
              </a:spcBef>
            </a:pPr>
            <a:r>
              <a:rPr sz="900" b="0">
                <a:solidFill>
                  <a:srgbClr val="4A5A5D"/>
                </a:solidFill>
                <a:latin typeface="Calibri"/>
              </a:rPr>
              <a:t>States what a grant is assumed to change and flags which links are modeled.</a:t>
            </a:r>
          </a:p>
        </p:txBody>
      </p:sp>
      <p:sp>
        <p:nvSpPr>
          <p:cNvPr id="26" name="Outcome 4"/>
          <p:cNvSpPr/>
          <p:nvPr/>
        </p:nvSpPr>
        <p:spPr>
          <a:xfrm>
            <a:off x="5413248" y="3497580"/>
            <a:ext cx="3383280" cy="630936"/>
          </a:xfrm>
          <a:prstGeom prst="roundRect">
            <a:avLst>
              <a:gd name="adj" fmla="val 8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utcome 4 text"/>
          <p:cNvSpPr txBox="1"/>
          <p:nvPr/>
        </p:nvSpPr>
        <p:spPr>
          <a:xfrm>
            <a:off x="5522976" y="3552444"/>
            <a:ext cx="3182112" cy="521207"/>
          </a:xfrm>
          <a:prstGeom prst="rect">
            <a:avLst/>
          </a:prstGeom>
          <a:noFill/>
        </p:spPr>
        <p:txBody>
          <a:bodyPr wrap="square" lIns="0" tIns="0" rIns="0" bIns="0" anchor="ctr">
            <a:spAutoFit/>
          </a:bodyPr>
          <a:lstStyle/>
          <a:p>
            <a:r>
              <a:rPr sz="1050" b="1">
                <a:solidFill>
                  <a:srgbClr val="1F6F6B"/>
                </a:solidFill>
                <a:latin typeface="Calibri"/>
              </a:rPr>
              <a:t>Fairer by design</a:t>
            </a:r>
          </a:p>
          <a:p>
            <a:pPr>
              <a:spcBef>
                <a:spcPts val="200"/>
              </a:spcBef>
            </a:pPr>
            <a:r>
              <a:rPr sz="900" b="0">
                <a:solidFill>
                  <a:srgbClr val="4A5A5D"/>
                </a:solidFill>
                <a:latin typeface="Calibri"/>
              </a:rPr>
              <a:t>It does not just fund the biggest hub, and audits who benefits by neighborhood.</a:t>
            </a:r>
          </a:p>
        </p:txBody>
      </p:sp>
      <p:sp>
        <p:nvSpPr>
          <p:cNvPr id="28" name="Before and after"/>
          <p:cNvSpPr/>
          <p:nvPr/>
        </p:nvSpPr>
        <p:spPr>
          <a:xfrm>
            <a:off x="347472" y="4334256"/>
            <a:ext cx="8458200" cy="530352"/>
          </a:xfrm>
          <a:prstGeom prst="roundRect">
            <a:avLst>
              <a:gd name="adj" fmla="val 1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Banner text"/>
          <p:cNvSpPr txBox="1"/>
          <p:nvPr/>
        </p:nvSpPr>
        <p:spPr>
          <a:xfrm>
            <a:off x="512064" y="4389120"/>
            <a:ext cx="8129016" cy="420624"/>
          </a:xfrm>
          <a:prstGeom prst="rect">
            <a:avLst/>
          </a:prstGeom>
          <a:noFill/>
        </p:spPr>
        <p:txBody>
          <a:bodyPr wrap="square" lIns="0" tIns="0" rIns="0" bIns="0" anchor="ctr">
            <a:spAutoFit/>
          </a:bodyPr>
          <a:lstStyle/>
          <a:p>
            <a:r>
              <a:rPr sz="1050" b="1">
                <a:solidFill>
                  <a:srgbClr val="B8D4D0"/>
                </a:solidFill>
                <a:latin typeface="Calibri"/>
              </a:rPr>
              <a:t>Today: </a:t>
            </a:r>
            <a:r>
              <a:rPr sz="1050" b="0">
                <a:solidFill>
                  <a:srgbClr val="FFFFFF"/>
                </a:solidFill>
                <a:latin typeface="Calibri"/>
              </a:rPr>
              <a:t>the city learns who was hurt when they close or apply, after the 90 days are gone.   </a:t>
            </a:r>
            <a:r>
              <a:rPr sz="1050" b="1">
                <a:solidFill>
                  <a:srgbClr val="B8D4D0"/>
                </a:solidFill>
                <a:latin typeface="Calibri"/>
              </a:rPr>
              <a:t>With our agent: </a:t>
            </a:r>
            <a:r>
              <a:rPr sz="1050" b="0">
                <a:solidFill>
                  <a:srgbClr val="FFFFFF"/>
                </a:solidFill>
                <a:latin typeface="Calibri"/>
              </a:rPr>
              <a:t>on day one the officer knows who to call, how much to offer, and why.</a:t>
            </a:r>
          </a:p>
        </p:txBody>
      </p:sp>
    </p:spTree>
    <p:extLst>
      <p:ext uri="{BB962C8B-B14F-4D97-AF65-F5344CB8AC3E}">
        <p14:creationId xmlns:p14="http://schemas.microsoft.com/office/powerpoint/2010/main" val="659851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240031"/>
            <a:ext cx="8435340" cy="392415"/>
          </a:xfrm>
          <a:prstGeom prst="rect">
            <a:avLst/>
          </a:prstGeom>
          <a:noFill/>
        </p:spPr>
        <p:txBody>
          <a:bodyPr wrap="square" lIns="0" tIns="0" rIns="0" bIns="0" anchor="t">
            <a:spAutoFit/>
          </a:bodyPr>
          <a:lstStyle/>
          <a:p>
            <a:r>
              <a:rPr sz="2550" b="1">
                <a:solidFill>
                  <a:srgbClr val="12343B"/>
                </a:solidFill>
                <a:latin typeface="Calibri"/>
              </a:rPr>
              <a:t>The data behind our grant agent</a:t>
            </a:r>
          </a:p>
        </p:txBody>
      </p:sp>
      <p:sp>
        <p:nvSpPr>
          <p:cNvPr id="3" name="TextBox 2"/>
          <p:cNvSpPr txBox="1"/>
          <p:nvPr/>
        </p:nvSpPr>
        <p:spPr>
          <a:xfrm>
            <a:off x="342900" y="672084"/>
            <a:ext cx="8435340" cy="150041"/>
          </a:xfrm>
          <a:prstGeom prst="rect">
            <a:avLst/>
          </a:prstGeom>
          <a:noFill/>
        </p:spPr>
        <p:txBody>
          <a:bodyPr wrap="square" lIns="0" tIns="0" rIns="0" bIns="0" anchor="t">
            <a:spAutoFit/>
          </a:bodyPr>
          <a:lstStyle/>
          <a:p>
            <a:r>
              <a:rPr sz="975">
                <a:solidFill>
                  <a:srgbClr val="4A5A5D"/>
                </a:solidFill>
                <a:latin typeface="Calibri"/>
              </a:rPr>
              <a:t>Anchor-closure track · Central Market, San Francisco · BigQuery dataset a4i_econ · nothing is trained: Gemini works from these tables at query time</a:t>
            </a:r>
          </a:p>
        </p:txBody>
      </p:sp>
      <p:graphicFrame>
        <p:nvGraphicFramePr>
          <p:cNvPr id="4" name="Dataset table"/>
          <p:cNvGraphicFramePr>
            <a:graphicFrameLocks noGrp="1"/>
          </p:cNvGraphicFramePr>
          <p:nvPr/>
        </p:nvGraphicFramePr>
        <p:xfrm>
          <a:off x="342900" y="1062990"/>
          <a:ext cx="5863590" cy="3154680"/>
        </p:xfrm>
        <a:graphic>
          <a:graphicData uri="http://schemas.openxmlformats.org/drawingml/2006/table">
            <a:tbl>
              <a:tblPr>
                <a:tableStyleId>{5C22544A-7EE6-4342-B048-85BDC9FD1C3A}</a:tableStyleId>
              </a:tblPr>
              <a:tblGrid>
                <a:gridCol w="1200150">
                  <a:extLst>
                    <a:ext uri="{9D8B030D-6E8A-4147-A177-3AD203B41FA5}">
                      <a16:colId xmlns:a16="http://schemas.microsoft.com/office/drawing/2014/main" val="20000"/>
                    </a:ext>
                  </a:extLst>
                </a:gridCol>
                <a:gridCol w="582930">
                  <a:extLst>
                    <a:ext uri="{9D8B030D-6E8A-4147-A177-3AD203B41FA5}">
                      <a16:colId xmlns:a16="http://schemas.microsoft.com/office/drawing/2014/main" val="20001"/>
                    </a:ext>
                  </a:extLst>
                </a:gridCol>
                <a:gridCol w="2228850">
                  <a:extLst>
                    <a:ext uri="{9D8B030D-6E8A-4147-A177-3AD203B41FA5}">
                      <a16:colId xmlns:a16="http://schemas.microsoft.com/office/drawing/2014/main" val="20002"/>
                    </a:ext>
                  </a:extLst>
                </a:gridCol>
                <a:gridCol w="1200150">
                  <a:extLst>
                    <a:ext uri="{9D8B030D-6E8A-4147-A177-3AD203B41FA5}">
                      <a16:colId xmlns:a16="http://schemas.microsoft.com/office/drawing/2014/main" val="20003"/>
                    </a:ext>
                  </a:extLst>
                </a:gridCol>
                <a:gridCol w="651510">
                  <a:extLst>
                    <a:ext uri="{9D8B030D-6E8A-4147-A177-3AD203B41FA5}">
                      <a16:colId xmlns:a16="http://schemas.microsoft.com/office/drawing/2014/main" val="20004"/>
                    </a:ext>
                  </a:extLst>
                </a:gridCol>
              </a:tblGrid>
              <a:tr h="274320">
                <a:tc>
                  <a:txBody>
                    <a:bodyPr/>
                    <a:lstStyle/>
                    <a:p>
                      <a:pPr algn="l"/>
                      <a:r>
                        <a:rPr sz="900" b="1">
                          <a:solidFill>
                            <a:srgbClr val="FFFFFF"/>
                          </a:solidFill>
                          <a:latin typeface="Calibri"/>
                        </a:rPr>
                        <a:t>Table / file</a:t>
                      </a:r>
                    </a:p>
                  </a:txBody>
                  <a:tcPr marL="54864" marR="54864" marT="20574" marB="20574" anchor="ctr">
                    <a:solidFill>
                      <a:srgbClr val="12343B"/>
                    </a:solidFill>
                  </a:tcPr>
                </a:tc>
                <a:tc>
                  <a:txBody>
                    <a:bodyPr/>
                    <a:lstStyle/>
                    <a:p>
                      <a:pPr algn="l"/>
                      <a:r>
                        <a:rPr sz="900" b="1">
                          <a:solidFill>
                            <a:srgbClr val="FFFFFF"/>
                          </a:solidFill>
                          <a:latin typeface="Calibri"/>
                        </a:rPr>
                        <a:t>Role</a:t>
                      </a:r>
                    </a:p>
                  </a:txBody>
                  <a:tcPr marL="54864" marR="54864" marT="20574" marB="20574" anchor="ctr">
                    <a:solidFill>
                      <a:srgbClr val="12343B"/>
                    </a:solidFill>
                  </a:tcPr>
                </a:tc>
                <a:tc>
                  <a:txBody>
                    <a:bodyPr/>
                    <a:lstStyle/>
                    <a:p>
                      <a:pPr algn="l"/>
                      <a:r>
                        <a:rPr sz="900" b="1">
                          <a:solidFill>
                            <a:srgbClr val="FFFFFF"/>
                          </a:solidFill>
                          <a:latin typeface="Calibri"/>
                        </a:rPr>
                        <a:t>What it holds</a:t>
                      </a:r>
                    </a:p>
                  </a:txBody>
                  <a:tcPr marL="54864" marR="54864" marT="20574" marB="20574" anchor="ctr">
                    <a:solidFill>
                      <a:srgbClr val="12343B"/>
                    </a:solidFill>
                  </a:tcPr>
                </a:tc>
                <a:tc>
                  <a:txBody>
                    <a:bodyPr/>
                    <a:lstStyle/>
                    <a:p>
                      <a:pPr algn="l"/>
                      <a:r>
                        <a:rPr sz="900" b="1">
                          <a:solidFill>
                            <a:srgbClr val="FFFFFF"/>
                          </a:solidFill>
                          <a:latin typeface="Calibri"/>
                        </a:rPr>
                        <a:t>Source</a:t>
                      </a:r>
                    </a:p>
                  </a:txBody>
                  <a:tcPr marL="54864" marR="54864" marT="20574" marB="20574" anchor="ctr">
                    <a:solidFill>
                      <a:srgbClr val="12343B"/>
                    </a:solidFill>
                  </a:tcPr>
                </a:tc>
                <a:tc>
                  <a:txBody>
                    <a:bodyPr/>
                    <a:lstStyle/>
                    <a:p>
                      <a:pPr algn="l"/>
                      <a:r>
                        <a:rPr sz="900" b="1">
                          <a:solidFill>
                            <a:srgbClr val="FFFFFF"/>
                          </a:solidFill>
                          <a:latin typeface="Calibri"/>
                        </a:rPr>
                        <a:t>How real</a:t>
                      </a:r>
                    </a:p>
                  </a:txBody>
                  <a:tcPr marL="54864" marR="54864" marT="20574" marB="20574" anchor="ctr">
                    <a:solidFill>
                      <a:srgbClr val="12343B"/>
                    </a:solidFill>
                  </a:tcPr>
                </a:tc>
                <a:extLst>
                  <a:ext uri="{0D108BD9-81ED-4DB2-BD59-A6C34878D82A}">
                    <a16:rowId xmlns:a16="http://schemas.microsoft.com/office/drawing/2014/main" val="10000"/>
                  </a:ext>
                </a:extLst>
              </a:tr>
              <a:tr h="411480">
                <a:tc>
                  <a:txBody>
                    <a:bodyPr/>
                    <a:lstStyle/>
                    <a:p>
                      <a:pPr algn="l"/>
                      <a:r>
                        <a:rPr sz="900" b="1">
                          <a:solidFill>
                            <a:srgbClr val="12343B"/>
                          </a:solidFill>
                          <a:latin typeface="Calibri"/>
                        </a:rPr>
                        <a:t>businesses</a:t>
                      </a:r>
                    </a:p>
                  </a:txBody>
                  <a:tcPr marL="54864" marR="54864" marT="20574" marB="20574" anchor="ctr">
                    <a:solidFill>
                      <a:srgbClr val="FFFFFF"/>
                    </a:solidFill>
                  </a:tcPr>
                </a:tc>
                <a:tc>
                  <a:txBody>
                    <a:bodyPr/>
                    <a:lstStyle/>
                    <a:p>
                      <a:pPr algn="l"/>
                      <a:r>
                        <a:rPr sz="800" b="0">
                          <a:solidFill>
                            <a:srgbClr val="4A5A5D"/>
                          </a:solidFill>
                          <a:latin typeface="Calibri"/>
                        </a:rPr>
                        <a:t>Node</a:t>
                      </a:r>
                    </a:p>
                  </a:txBody>
                  <a:tcPr marL="54864" marR="54864" marT="20574" marB="20574" anchor="ctr">
                    <a:solidFill>
                      <a:srgbClr val="FFFFFF"/>
                    </a:solidFill>
                  </a:tcPr>
                </a:tc>
                <a:tc>
                  <a:txBody>
                    <a:bodyPr/>
                    <a:lstStyle/>
                    <a:p>
                      <a:pPr algn="l"/>
                      <a:r>
                        <a:rPr sz="800" b="0">
                          <a:solidFill>
                            <a:srgbClr val="12343B"/>
                          </a:solidFill>
                          <a:latin typeface="Calibri"/>
                        </a:rPr>
                        <a:t>230 registered businesses, 65 industries: name, address, NAICS, lat/lon</a:t>
                      </a:r>
                    </a:p>
                  </a:txBody>
                  <a:tcPr marL="54864" marR="54864" marT="20574" marB="20574" anchor="ctr">
                    <a:solidFill>
                      <a:srgbClr val="FFFFFF"/>
                    </a:solidFill>
                  </a:tcPr>
                </a:tc>
                <a:tc>
                  <a:txBody>
                    <a:bodyPr/>
                    <a:lstStyle/>
                    <a:p>
                      <a:pPr algn="l"/>
                      <a:r>
                        <a:rPr sz="800" b="0">
                          <a:solidFill>
                            <a:srgbClr val="4A5A5D"/>
                          </a:solidFill>
                          <a:latin typeface="Calibri"/>
                        </a:rPr>
                        <a:t>SF Registered Business Locations (PDDL)</a:t>
                      </a:r>
                    </a:p>
                  </a:txBody>
                  <a:tcPr marL="54864" marR="54864" marT="20574" marB="20574" anchor="ctr">
                    <a:solidFill>
                      <a:srgbClr val="FFFFFF"/>
                    </a:solidFill>
                  </a:tcPr>
                </a:tc>
                <a:tc>
                  <a:txBody>
                    <a:bodyPr/>
                    <a:lstStyle/>
                    <a:p>
                      <a:pPr algn="ctr"/>
                      <a:r>
                        <a:rPr sz="800" b="1">
                          <a:solidFill>
                            <a:srgbClr val="FFFFFF"/>
                          </a:solidFill>
                          <a:latin typeface="Calibri"/>
                        </a:rPr>
                        <a:t>Real</a:t>
                      </a:r>
                    </a:p>
                  </a:txBody>
                  <a:tcPr marL="54864" marR="54864" marT="20574" marB="20574" anchor="ctr">
                    <a:solidFill>
                      <a:srgbClr val="1F6F6B"/>
                    </a:solidFill>
                  </a:tcPr>
                </a:tc>
                <a:extLst>
                  <a:ext uri="{0D108BD9-81ED-4DB2-BD59-A6C34878D82A}">
                    <a16:rowId xmlns:a16="http://schemas.microsoft.com/office/drawing/2014/main" val="10001"/>
                  </a:ext>
                </a:extLst>
              </a:tr>
              <a:tr h="411480">
                <a:tc>
                  <a:txBody>
                    <a:bodyPr/>
                    <a:lstStyle/>
                    <a:p>
                      <a:pPr algn="l"/>
                      <a:r>
                        <a:rPr sz="900" b="1" dirty="0" err="1">
                          <a:solidFill>
                            <a:srgbClr val="12343B"/>
                          </a:solidFill>
                          <a:latin typeface="Calibri"/>
                        </a:rPr>
                        <a:t>employer_blocks</a:t>
                      </a:r>
                      <a:endParaRPr sz="900" b="1" dirty="0">
                        <a:solidFill>
                          <a:srgbClr val="12343B"/>
                        </a:solidFill>
                        <a:latin typeface="Calibri"/>
                      </a:endParaRPr>
                    </a:p>
                  </a:txBody>
                  <a:tcPr marL="54864" marR="54864" marT="20574" marB="20574" anchor="ctr">
                    <a:solidFill>
                      <a:srgbClr val="E3EFED"/>
                    </a:solidFill>
                  </a:tcPr>
                </a:tc>
                <a:tc>
                  <a:txBody>
                    <a:bodyPr/>
                    <a:lstStyle/>
                    <a:p>
                      <a:pPr algn="l"/>
                      <a:r>
                        <a:rPr sz="800" b="0">
                          <a:solidFill>
                            <a:srgbClr val="4A5A5D"/>
                          </a:solidFill>
                          <a:latin typeface="Calibri"/>
                        </a:rPr>
                        <a:t>Node</a:t>
                      </a:r>
                    </a:p>
                  </a:txBody>
                  <a:tcPr marL="54864" marR="54864" marT="20574" marB="20574" anchor="ctr">
                    <a:solidFill>
                      <a:srgbClr val="E3EFED"/>
                    </a:solidFill>
                  </a:tcPr>
                </a:tc>
                <a:tc>
                  <a:txBody>
                    <a:bodyPr/>
                    <a:lstStyle/>
                    <a:p>
                      <a:pPr algn="l"/>
                      <a:r>
                        <a:rPr sz="800" b="0">
                          <a:solidFill>
                            <a:srgbClr val="12343B"/>
                          </a:solidFill>
                          <a:latin typeface="Calibri"/>
                        </a:rPr>
                        <a:t>Census workplace blocks with total job counts; placed at tract centre</a:t>
                      </a:r>
                    </a:p>
                  </a:txBody>
                  <a:tcPr marL="54864" marR="54864" marT="20574" marB="20574" anchor="ctr">
                    <a:solidFill>
                      <a:srgbClr val="E3EFED"/>
                    </a:solidFill>
                  </a:tcPr>
                </a:tc>
                <a:tc>
                  <a:txBody>
                    <a:bodyPr/>
                    <a:lstStyle/>
                    <a:p>
                      <a:pPr algn="l"/>
                      <a:r>
                        <a:rPr sz="800" b="0">
                          <a:solidFill>
                            <a:srgbClr val="4A5A5D"/>
                          </a:solidFill>
                          <a:latin typeface="Calibri"/>
                        </a:rPr>
                        <a:t>Census LEHD LODES8 WAC 2023</a:t>
                      </a:r>
                    </a:p>
                  </a:txBody>
                  <a:tcPr marL="54864" marR="54864" marT="20574" marB="20574" anchor="ctr">
                    <a:solidFill>
                      <a:srgbClr val="E3EFED"/>
                    </a:solidFill>
                  </a:tcPr>
                </a:tc>
                <a:tc>
                  <a:txBody>
                    <a:bodyPr/>
                    <a:lstStyle/>
                    <a:p>
                      <a:pPr algn="ctr"/>
                      <a:r>
                        <a:rPr sz="800" b="1">
                          <a:solidFill>
                            <a:srgbClr val="FFFFFF"/>
                          </a:solidFill>
                          <a:latin typeface="Calibri"/>
                        </a:rPr>
                        <a:t>Real</a:t>
                      </a:r>
                    </a:p>
                  </a:txBody>
                  <a:tcPr marL="54864" marR="54864" marT="20574" marB="20574" anchor="ctr">
                    <a:solidFill>
                      <a:srgbClr val="1F6F6B"/>
                    </a:solidFill>
                  </a:tcPr>
                </a:tc>
                <a:extLst>
                  <a:ext uri="{0D108BD9-81ED-4DB2-BD59-A6C34878D82A}">
                    <a16:rowId xmlns:a16="http://schemas.microsoft.com/office/drawing/2014/main" val="10002"/>
                  </a:ext>
                </a:extLst>
              </a:tr>
              <a:tr h="411480">
                <a:tc>
                  <a:txBody>
                    <a:bodyPr/>
                    <a:lstStyle/>
                    <a:p>
                      <a:pPr algn="l"/>
                      <a:r>
                        <a:rPr sz="900" b="1">
                          <a:solidFill>
                            <a:srgbClr val="12343B"/>
                          </a:solidFill>
                          <a:latin typeface="Calibri"/>
                        </a:rPr>
                        <a:t>draws_footfall_from</a:t>
                      </a:r>
                    </a:p>
                  </a:txBody>
                  <a:tcPr marL="54864" marR="54864" marT="20574" marB="20574" anchor="ctr">
                    <a:solidFill>
                      <a:srgbClr val="FFFFFF"/>
                    </a:solidFill>
                  </a:tcPr>
                </a:tc>
                <a:tc>
                  <a:txBody>
                    <a:bodyPr/>
                    <a:lstStyle/>
                    <a:p>
                      <a:pPr algn="l"/>
                      <a:r>
                        <a:rPr sz="800" b="0">
                          <a:solidFill>
                            <a:srgbClr val="4A5A5D"/>
                          </a:solidFill>
                          <a:latin typeface="Calibri"/>
                        </a:rPr>
                        <a:t>Edge</a:t>
                      </a:r>
                    </a:p>
                  </a:txBody>
                  <a:tcPr marL="54864" marR="54864" marT="20574" marB="20574" anchor="ctr">
                    <a:solidFill>
                      <a:srgbClr val="FFFFFF"/>
                    </a:solidFill>
                  </a:tcPr>
                </a:tc>
                <a:tc>
                  <a:txBody>
                    <a:bodyPr/>
                    <a:lstStyle/>
                    <a:p>
                      <a:pPr algn="l"/>
                      <a:r>
                        <a:rPr sz="800" b="0">
                          <a:solidFill>
                            <a:srgbClr val="12343B"/>
                          </a:solidFill>
                          <a:latin typeface="Calibri"/>
                        </a:rPr>
                        <a:t>Block → consumer shops within 500 m; worker_share = jobs ÷ shops</a:t>
                      </a:r>
                    </a:p>
                  </a:txBody>
                  <a:tcPr marL="54864" marR="54864" marT="20574" marB="20574" anchor="ctr">
                    <a:solidFill>
                      <a:srgbClr val="FFFFFF"/>
                    </a:solidFill>
                  </a:tcPr>
                </a:tc>
                <a:tc>
                  <a:txBody>
                    <a:bodyPr/>
                    <a:lstStyle/>
                    <a:p>
                      <a:pPr algn="l"/>
                      <a:r>
                        <a:rPr sz="800" b="0">
                          <a:solidFill>
                            <a:srgbClr val="4A5A5D"/>
                          </a:solidFill>
                          <a:latin typeface="Calibri"/>
                        </a:rPr>
                        <a:t>Derived from LODES</a:t>
                      </a:r>
                    </a:p>
                  </a:txBody>
                  <a:tcPr marL="54864" marR="54864" marT="20574" marB="20574" anchor="ctr">
                    <a:solidFill>
                      <a:srgbClr val="FFFFFF"/>
                    </a:solidFill>
                  </a:tcPr>
                </a:tc>
                <a:tc>
                  <a:txBody>
                    <a:bodyPr/>
                    <a:lstStyle/>
                    <a:p>
                      <a:pPr algn="ctr"/>
                      <a:r>
                        <a:rPr sz="800" b="1">
                          <a:solidFill>
                            <a:srgbClr val="FFFFFF"/>
                          </a:solidFill>
                          <a:latin typeface="Calibri"/>
                        </a:rPr>
                        <a:t>Rate real · pairing modeled</a:t>
                      </a:r>
                    </a:p>
                  </a:txBody>
                  <a:tcPr marL="54864" marR="54864" marT="20574" marB="20574" anchor="ctr">
                    <a:solidFill>
                      <a:srgbClr val="C27C00"/>
                    </a:solidFill>
                  </a:tcPr>
                </a:tc>
                <a:extLst>
                  <a:ext uri="{0D108BD9-81ED-4DB2-BD59-A6C34878D82A}">
                    <a16:rowId xmlns:a16="http://schemas.microsoft.com/office/drawing/2014/main" val="10003"/>
                  </a:ext>
                </a:extLst>
              </a:tr>
              <a:tr h="411480">
                <a:tc>
                  <a:txBody>
                    <a:bodyPr/>
                    <a:lstStyle/>
                    <a:p>
                      <a:pPr algn="l"/>
                      <a:r>
                        <a:rPr sz="900" b="1">
                          <a:solidFill>
                            <a:srgbClr val="12343B"/>
                          </a:solidFill>
                          <a:latin typeface="Calibri"/>
                        </a:rPr>
                        <a:t>supplies</a:t>
                      </a:r>
                    </a:p>
                  </a:txBody>
                  <a:tcPr marL="54864" marR="54864" marT="20574" marB="20574" anchor="ctr">
                    <a:solidFill>
                      <a:srgbClr val="E3EFED"/>
                    </a:solidFill>
                  </a:tcPr>
                </a:tc>
                <a:tc>
                  <a:txBody>
                    <a:bodyPr/>
                    <a:lstStyle/>
                    <a:p>
                      <a:pPr algn="l"/>
                      <a:r>
                        <a:rPr sz="800" b="0">
                          <a:solidFill>
                            <a:srgbClr val="4A5A5D"/>
                          </a:solidFill>
                          <a:latin typeface="Calibri"/>
                        </a:rPr>
                        <a:t>Edge</a:t>
                      </a:r>
                    </a:p>
                  </a:txBody>
                  <a:tcPr marL="54864" marR="54864" marT="20574" marB="20574" anchor="ctr">
                    <a:solidFill>
                      <a:srgbClr val="E3EFED"/>
                    </a:solidFill>
                  </a:tcPr>
                </a:tc>
                <a:tc>
                  <a:txBody>
                    <a:bodyPr/>
                    <a:lstStyle/>
                    <a:p>
                      <a:pPr algn="l"/>
                      <a:r>
                        <a:rPr sz="800" b="0">
                          <a:solidFill>
                            <a:srgbClr val="12343B"/>
                          </a:solidFill>
                          <a:latin typeface="Calibri"/>
                        </a:rPr>
                        <a:t>Supplier → buyer within 1,200 m; intensity = cents of input per $ of output</a:t>
                      </a:r>
                    </a:p>
                  </a:txBody>
                  <a:tcPr marL="54864" marR="54864" marT="20574" marB="20574" anchor="ctr">
                    <a:solidFill>
                      <a:srgbClr val="E3EFED"/>
                    </a:solidFill>
                  </a:tcPr>
                </a:tc>
                <a:tc>
                  <a:txBody>
                    <a:bodyPr/>
                    <a:lstStyle/>
                    <a:p>
                      <a:pPr algn="l"/>
                      <a:r>
                        <a:rPr sz="800" b="0">
                          <a:solidFill>
                            <a:srgbClr val="4A5A5D"/>
                          </a:solidFill>
                          <a:latin typeface="Calibri"/>
                        </a:rPr>
                        <a:t>BEA Input-Output Use table</a:t>
                      </a:r>
                    </a:p>
                  </a:txBody>
                  <a:tcPr marL="54864" marR="54864" marT="20574" marB="20574" anchor="ctr">
                    <a:solidFill>
                      <a:srgbClr val="E3EFED"/>
                    </a:solidFill>
                  </a:tcPr>
                </a:tc>
                <a:tc>
                  <a:txBody>
                    <a:bodyPr/>
                    <a:lstStyle/>
                    <a:p>
                      <a:pPr algn="ctr"/>
                      <a:r>
                        <a:rPr sz="800" b="1">
                          <a:solidFill>
                            <a:srgbClr val="FFFFFF"/>
                          </a:solidFill>
                          <a:latin typeface="Calibri"/>
                        </a:rPr>
                        <a:t>Rate real · pairing modeled</a:t>
                      </a:r>
                    </a:p>
                  </a:txBody>
                  <a:tcPr marL="54864" marR="54864" marT="20574" marB="20574" anchor="ctr">
                    <a:solidFill>
                      <a:srgbClr val="C27C00"/>
                    </a:solidFill>
                  </a:tcPr>
                </a:tc>
                <a:extLst>
                  <a:ext uri="{0D108BD9-81ED-4DB2-BD59-A6C34878D82A}">
                    <a16:rowId xmlns:a16="http://schemas.microsoft.com/office/drawing/2014/main" val="10004"/>
                  </a:ext>
                </a:extLst>
              </a:tr>
              <a:tr h="411480">
                <a:tc>
                  <a:txBody>
                    <a:bodyPr/>
                    <a:lstStyle/>
                    <a:p>
                      <a:pPr algn="l"/>
                      <a:r>
                        <a:rPr sz="900" b="1">
                          <a:solidFill>
                            <a:srgbClr val="12343B"/>
                          </a:solidFill>
                          <a:latin typeface="Calibri"/>
                        </a:rPr>
                        <a:t>borrowed_from</a:t>
                      </a:r>
                    </a:p>
                  </a:txBody>
                  <a:tcPr marL="54864" marR="54864" marT="20574" marB="20574" anchor="ctr">
                    <a:solidFill>
                      <a:srgbClr val="FFFFFF"/>
                    </a:solidFill>
                  </a:tcPr>
                </a:tc>
                <a:tc>
                  <a:txBody>
                    <a:bodyPr/>
                    <a:lstStyle/>
                    <a:p>
                      <a:pPr algn="l"/>
                      <a:r>
                        <a:rPr sz="800" b="0">
                          <a:solidFill>
                            <a:srgbClr val="4A5A5D"/>
                          </a:solidFill>
                          <a:latin typeface="Calibri"/>
                        </a:rPr>
                        <a:t>Edge</a:t>
                      </a:r>
                    </a:p>
                  </a:txBody>
                  <a:tcPr marL="54864" marR="54864" marT="20574" marB="20574" anchor="ctr">
                    <a:solidFill>
                      <a:srgbClr val="FFFFFF"/>
                    </a:solidFill>
                  </a:tcPr>
                </a:tc>
                <a:tc>
                  <a:txBody>
                    <a:bodyPr/>
                    <a:lstStyle/>
                    <a:p>
                      <a:pPr algn="l"/>
                      <a:r>
                        <a:rPr sz="800" b="0">
                          <a:solidFill>
                            <a:srgbClr val="12343B"/>
                          </a:solidFill>
                          <a:latin typeface="Calibri"/>
                        </a:rPr>
                        <a:t>Business → lender: amount, date, status, charged_off (real failures)</a:t>
                      </a:r>
                    </a:p>
                  </a:txBody>
                  <a:tcPr marL="54864" marR="54864" marT="20574" marB="20574" anchor="ctr">
                    <a:solidFill>
                      <a:srgbClr val="FFFFFF"/>
                    </a:solidFill>
                  </a:tcPr>
                </a:tc>
                <a:tc>
                  <a:txBody>
                    <a:bodyPr/>
                    <a:lstStyle/>
                    <a:p>
                      <a:pPr algn="l"/>
                      <a:r>
                        <a:rPr sz="800" b="0">
                          <a:solidFill>
                            <a:srgbClr val="4A5A5D"/>
                          </a:solidFill>
                          <a:latin typeface="Calibri"/>
                        </a:rPr>
                        <a:t>SBA 7(a) FOIA loans, FY2020–</a:t>
                      </a:r>
                    </a:p>
                  </a:txBody>
                  <a:tcPr marL="54864" marR="54864" marT="20574" marB="20574" anchor="ctr">
                    <a:solidFill>
                      <a:srgbClr val="FFFFFF"/>
                    </a:solidFill>
                  </a:tcPr>
                </a:tc>
                <a:tc>
                  <a:txBody>
                    <a:bodyPr/>
                    <a:lstStyle/>
                    <a:p>
                      <a:pPr algn="ctr"/>
                      <a:r>
                        <a:rPr sz="800" b="1">
                          <a:solidFill>
                            <a:srgbClr val="FFFFFF"/>
                          </a:solidFill>
                          <a:latin typeface="Calibri"/>
                        </a:rPr>
                        <a:t>Real</a:t>
                      </a:r>
                    </a:p>
                  </a:txBody>
                  <a:tcPr marL="54864" marR="54864" marT="20574" marB="20574" anchor="ctr">
                    <a:solidFill>
                      <a:srgbClr val="1F6F6B"/>
                    </a:solidFill>
                  </a:tcPr>
                </a:tc>
                <a:extLst>
                  <a:ext uri="{0D108BD9-81ED-4DB2-BD59-A6C34878D82A}">
                    <a16:rowId xmlns:a16="http://schemas.microsoft.com/office/drawing/2014/main" val="10005"/>
                  </a:ext>
                </a:extLst>
              </a:tr>
              <a:tr h="411480">
                <a:tc>
                  <a:txBody>
                    <a:bodyPr/>
                    <a:lstStyle/>
                    <a:p>
                      <a:pPr algn="l"/>
                      <a:r>
                        <a:rPr sz="900" b="1">
                          <a:solidFill>
                            <a:srgbClr val="12343B"/>
                          </a:solidFill>
                          <a:latin typeface="Calibri"/>
                        </a:rPr>
                        <a:t>tract_demographics</a:t>
                      </a:r>
                    </a:p>
                  </a:txBody>
                  <a:tcPr marL="54864" marR="54864" marT="20574" marB="20574" anchor="ctr">
                    <a:solidFill>
                      <a:srgbClr val="E3EFED"/>
                    </a:solidFill>
                  </a:tcPr>
                </a:tc>
                <a:tc>
                  <a:txBody>
                    <a:bodyPr/>
                    <a:lstStyle/>
                    <a:p>
                      <a:pPr algn="l"/>
                      <a:r>
                        <a:rPr sz="800" b="0">
                          <a:solidFill>
                            <a:srgbClr val="4A5A5D"/>
                          </a:solidFill>
                          <a:latin typeface="Calibri"/>
                        </a:rPr>
                        <a:t>Attribute</a:t>
                      </a:r>
                    </a:p>
                  </a:txBody>
                  <a:tcPr marL="54864" marR="54864" marT="20574" marB="20574" anchor="ctr">
                    <a:solidFill>
                      <a:srgbClr val="E3EFED"/>
                    </a:solidFill>
                  </a:tcPr>
                </a:tc>
                <a:tc>
                  <a:txBody>
                    <a:bodyPr/>
                    <a:lstStyle/>
                    <a:p>
                      <a:pPr algn="l"/>
                      <a:r>
                        <a:rPr sz="800" b="0">
                          <a:solidFill>
                            <a:srgbClr val="12343B"/>
                          </a:solidFill>
                          <a:latin typeface="Calibri"/>
                        </a:rPr>
                        <a:t>7 tracts: poverty, no-vehicle, public-assistance rates, income</a:t>
                      </a:r>
                    </a:p>
                  </a:txBody>
                  <a:tcPr marL="54864" marR="54864" marT="20574" marB="20574" anchor="ctr">
                    <a:solidFill>
                      <a:srgbClr val="E3EFED"/>
                    </a:solidFill>
                  </a:tcPr>
                </a:tc>
                <a:tc>
                  <a:txBody>
                    <a:bodyPr/>
                    <a:lstStyle/>
                    <a:p>
                      <a:pPr algn="l"/>
                      <a:r>
                        <a:rPr sz="800" b="0">
                          <a:solidFill>
                            <a:srgbClr val="4A5A5D"/>
                          </a:solidFill>
                          <a:latin typeface="Calibri"/>
                        </a:rPr>
                        <a:t>ACS 5-year (BigQuery public data)</a:t>
                      </a:r>
                    </a:p>
                  </a:txBody>
                  <a:tcPr marL="54864" marR="54864" marT="20574" marB="20574" anchor="ctr">
                    <a:solidFill>
                      <a:srgbClr val="E3EFED"/>
                    </a:solidFill>
                  </a:tcPr>
                </a:tc>
                <a:tc>
                  <a:txBody>
                    <a:bodyPr/>
                    <a:lstStyle/>
                    <a:p>
                      <a:pPr algn="ctr"/>
                      <a:r>
                        <a:rPr sz="800" b="1">
                          <a:solidFill>
                            <a:srgbClr val="FFFFFF"/>
                          </a:solidFill>
                          <a:latin typeface="Calibri"/>
                        </a:rPr>
                        <a:t>Real</a:t>
                      </a:r>
                    </a:p>
                  </a:txBody>
                  <a:tcPr marL="54864" marR="54864" marT="20574" marB="20574" anchor="ctr">
                    <a:solidFill>
                      <a:srgbClr val="1F6F6B"/>
                    </a:solidFill>
                  </a:tcPr>
                </a:tc>
                <a:extLst>
                  <a:ext uri="{0D108BD9-81ED-4DB2-BD59-A6C34878D82A}">
                    <a16:rowId xmlns:a16="http://schemas.microsoft.com/office/drawing/2014/main" val="10006"/>
                  </a:ext>
                </a:extLst>
              </a:tr>
              <a:tr h="411480">
                <a:tc>
                  <a:txBody>
                    <a:bodyPr/>
                    <a:lstStyle/>
                    <a:p>
                      <a:pPr algn="l"/>
                      <a:r>
                        <a:rPr sz="900" b="1">
                          <a:solidFill>
                            <a:srgbClr val="12343B"/>
                          </a:solidFill>
                          <a:latin typeface="Calibri"/>
                        </a:rPr>
                        <a:t>bea_*.csv (repo)</a:t>
                      </a:r>
                    </a:p>
                  </a:txBody>
                  <a:tcPr marL="54864" marR="54864" marT="20574" marB="20574" anchor="ctr">
                    <a:solidFill>
                      <a:srgbClr val="FFFFFF"/>
                    </a:solidFill>
                  </a:tcPr>
                </a:tc>
                <a:tc>
                  <a:txBody>
                    <a:bodyPr/>
                    <a:lstStyle/>
                    <a:p>
                      <a:pPr algn="l"/>
                      <a:r>
                        <a:rPr sz="800" b="0">
                          <a:solidFill>
                            <a:srgbClr val="4A5A5D"/>
                          </a:solidFill>
                          <a:latin typeface="Calibri"/>
                        </a:rPr>
                        <a:t>Reference</a:t>
                      </a:r>
                    </a:p>
                  </a:txBody>
                  <a:tcPr marL="54864" marR="54864" marT="20574" marB="20574" anchor="ctr">
                    <a:solidFill>
                      <a:srgbClr val="FFFFFF"/>
                    </a:solidFill>
                  </a:tcPr>
                </a:tc>
                <a:tc>
                  <a:txBody>
                    <a:bodyPr/>
                    <a:lstStyle/>
                    <a:p>
                      <a:pPr algn="l"/>
                      <a:r>
                        <a:rPr sz="800" b="0">
                          <a:solidFill>
                            <a:srgbClr val="12343B"/>
                          </a:solidFill>
                          <a:latin typeface="Calibri"/>
                        </a:rPr>
                        <a:t>44,867 industry-pair coefficients + 244-row BEA→NAICS map</a:t>
                      </a:r>
                    </a:p>
                  </a:txBody>
                  <a:tcPr marL="54864" marR="54864" marT="20574" marB="20574" anchor="ctr">
                    <a:solidFill>
                      <a:srgbClr val="FFFFFF"/>
                    </a:solidFill>
                  </a:tcPr>
                </a:tc>
                <a:tc>
                  <a:txBody>
                    <a:bodyPr/>
                    <a:lstStyle/>
                    <a:p>
                      <a:pPr algn="l"/>
                      <a:r>
                        <a:rPr sz="800" b="0">
                          <a:solidFill>
                            <a:srgbClr val="4A5A5D"/>
                          </a:solidFill>
                          <a:latin typeface="Calibri"/>
                        </a:rPr>
                        <a:t>BEA, public domain</a:t>
                      </a:r>
                    </a:p>
                  </a:txBody>
                  <a:tcPr marL="54864" marR="54864" marT="20574" marB="20574" anchor="ctr">
                    <a:solidFill>
                      <a:srgbClr val="FFFFFF"/>
                    </a:solidFill>
                  </a:tcPr>
                </a:tc>
                <a:tc>
                  <a:txBody>
                    <a:bodyPr/>
                    <a:lstStyle/>
                    <a:p>
                      <a:pPr algn="ctr"/>
                      <a:r>
                        <a:rPr sz="800" b="1" dirty="0">
                          <a:solidFill>
                            <a:srgbClr val="FFFFFF"/>
                          </a:solidFill>
                          <a:latin typeface="Calibri"/>
                        </a:rPr>
                        <a:t>Real</a:t>
                      </a:r>
                    </a:p>
                  </a:txBody>
                  <a:tcPr marL="54864" marR="54864" marT="20574" marB="20574" anchor="ctr">
                    <a:solidFill>
                      <a:srgbClr val="1F6F6B"/>
                    </a:solidFill>
                  </a:tcPr>
                </a:tc>
                <a:extLst>
                  <a:ext uri="{0D108BD9-81ED-4DB2-BD59-A6C34878D82A}">
                    <a16:rowId xmlns:a16="http://schemas.microsoft.com/office/drawing/2014/main" val="10007"/>
                  </a:ext>
                </a:extLst>
              </a:tr>
            </a:tbl>
          </a:graphicData>
        </a:graphic>
      </p:graphicFrame>
      <p:sp>
        <p:nvSpPr>
          <p:cNvPr id="5" name="How the modeled edges are made"/>
          <p:cNvSpPr/>
          <p:nvPr/>
        </p:nvSpPr>
        <p:spPr>
          <a:xfrm>
            <a:off x="6412230" y="1062990"/>
            <a:ext cx="2386584" cy="1028700"/>
          </a:xfrm>
          <a:prstGeom prst="roundRect">
            <a:avLst>
              <a:gd name="adj" fmla="val 6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6515100" y="1131570"/>
            <a:ext cx="2180844" cy="887422"/>
          </a:xfrm>
          <a:prstGeom prst="rect">
            <a:avLst/>
          </a:prstGeom>
          <a:noFill/>
        </p:spPr>
        <p:txBody>
          <a:bodyPr wrap="square" lIns="0" tIns="0" rIns="0" bIns="0" anchor="t">
            <a:spAutoFit/>
          </a:bodyPr>
          <a:lstStyle/>
          <a:p>
            <a:pPr>
              <a:spcAft>
                <a:spcPts val="150"/>
              </a:spcAft>
            </a:pPr>
            <a:r>
              <a:rPr sz="975" b="1">
                <a:solidFill>
                  <a:srgbClr val="1F6F6B"/>
                </a:solidFill>
                <a:latin typeface="Calibri"/>
              </a:rPr>
              <a:t>How the modeled edges are made</a:t>
            </a:r>
          </a:p>
          <a:p>
            <a:pPr>
              <a:spcAft>
                <a:spcPts val="150"/>
              </a:spcAft>
            </a:pPr>
            <a:r>
              <a:rPr sz="825" b="1">
                <a:solidFill>
                  <a:srgbClr val="C27C00"/>
                </a:solidFill>
                <a:latin typeface="Calibri"/>
              </a:rPr>
              <a:t>• </a:t>
            </a:r>
            <a:r>
              <a:rPr sz="825">
                <a:solidFill>
                  <a:srgbClr val="12343B"/>
                </a:solidFill>
                <a:latin typeface="Calibri"/>
              </a:rPr>
              <a:t>No randomness. BEA coefficient ≥ 0.005</a:t>
            </a:r>
          </a:p>
          <a:p>
            <a:pPr>
              <a:spcAft>
                <a:spcPts val="150"/>
              </a:spcAft>
            </a:pPr>
            <a:r>
              <a:rPr sz="825" b="1">
                <a:solidFill>
                  <a:srgbClr val="C27C00"/>
                </a:solidFill>
                <a:latin typeface="Calibri"/>
              </a:rPr>
              <a:t>• </a:t>
            </a:r>
            <a:r>
              <a:rPr sz="825">
                <a:solidFill>
                  <a:srgbClr val="12343B"/>
                </a:solidFill>
                <a:latin typeface="Calibri"/>
              </a:rPr>
              <a:t>Top 10% most ubiquitous suppliers dropped</a:t>
            </a:r>
          </a:p>
          <a:p>
            <a:pPr>
              <a:spcAft>
                <a:spcPts val="150"/>
              </a:spcAft>
            </a:pPr>
            <a:r>
              <a:rPr sz="825" b="1">
                <a:solidFill>
                  <a:srgbClr val="C27C00"/>
                </a:solidFill>
                <a:latin typeface="Calibri"/>
              </a:rPr>
              <a:t>• </a:t>
            </a:r>
            <a:r>
              <a:rPr sz="825">
                <a:solidFill>
                  <a:srgbClr val="12343B"/>
                </a:solidFill>
                <a:latin typeface="Calibri"/>
              </a:rPr>
              <a:t>Each buyer keeps its 5 strongest suppliers</a:t>
            </a:r>
          </a:p>
          <a:p>
            <a:pPr>
              <a:spcAft>
                <a:spcPts val="150"/>
              </a:spcAft>
            </a:pPr>
            <a:r>
              <a:rPr sz="825" b="1">
                <a:solidFill>
                  <a:srgbClr val="C27C00"/>
                </a:solidFill>
                <a:latin typeface="Calibri"/>
              </a:rPr>
              <a:t>• </a:t>
            </a:r>
            <a:r>
              <a:rPr sz="825">
                <a:solidFill>
                  <a:srgbClr val="12343B"/>
                </a:solidFill>
                <a:latin typeface="Calibri"/>
              </a:rPr>
              <a:t>Footfall from finance, professional, health, education jobs</a:t>
            </a:r>
          </a:p>
        </p:txBody>
      </p:sp>
      <p:sp>
        <p:nvSpPr>
          <p:cNvPr id="7" name="How the agent reaches it"/>
          <p:cNvSpPr/>
          <p:nvPr/>
        </p:nvSpPr>
        <p:spPr>
          <a:xfrm>
            <a:off x="6412230" y="2194560"/>
            <a:ext cx="2386584" cy="1062990"/>
          </a:xfrm>
          <a:prstGeom prst="roundRect">
            <a:avLst>
              <a:gd name="adj" fmla="val 6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8" name="TextBox 7"/>
          <p:cNvSpPr txBox="1"/>
          <p:nvPr/>
        </p:nvSpPr>
        <p:spPr>
          <a:xfrm>
            <a:off x="6515100" y="2263141"/>
            <a:ext cx="2180844" cy="836126"/>
          </a:xfrm>
          <a:prstGeom prst="rect">
            <a:avLst/>
          </a:prstGeom>
          <a:noFill/>
        </p:spPr>
        <p:txBody>
          <a:bodyPr wrap="square" lIns="0" tIns="0" rIns="0" bIns="0" anchor="t">
            <a:spAutoFit/>
          </a:bodyPr>
          <a:lstStyle/>
          <a:p>
            <a:pPr>
              <a:spcAft>
                <a:spcPts val="150"/>
              </a:spcAft>
            </a:pPr>
            <a:r>
              <a:rPr sz="975" b="1">
                <a:solidFill>
                  <a:srgbClr val="1F6F6B"/>
                </a:solidFill>
                <a:latin typeface="Calibri"/>
              </a:rPr>
              <a:t>How the agent reaches it</a:t>
            </a:r>
          </a:p>
          <a:p>
            <a:pPr>
              <a:spcAft>
                <a:spcPts val="150"/>
              </a:spcAft>
            </a:pPr>
            <a:r>
              <a:rPr sz="825" b="1">
                <a:solidFill>
                  <a:srgbClr val="C27C00"/>
                </a:solidFill>
                <a:latin typeface="Calibri"/>
              </a:rPr>
              <a:t>• </a:t>
            </a:r>
            <a:r>
              <a:rPr sz="825">
                <a:solidFill>
                  <a:srgbClr val="12343B"/>
                </a:solidFill>
                <a:latin typeface="Calibri"/>
              </a:rPr>
              <a:t>MCP Toolbox: anchor_cascade (GQL, footfall → then &lt;-[:Supplies]-), supply_cascade, profiles, loan_history</a:t>
            </a:r>
          </a:p>
          <a:p>
            <a:pPr>
              <a:spcAft>
                <a:spcPts val="150"/>
              </a:spcAft>
            </a:pPr>
            <a:r>
              <a:rPr sz="825" b="1">
                <a:solidFill>
                  <a:srgbClr val="C27C00"/>
                </a:solidFill>
                <a:latin typeface="Calibri"/>
              </a:rPr>
              <a:t>• </a:t>
            </a:r>
            <a:r>
              <a:rPr sz="825">
                <a:solidFill>
                  <a:srgbClr val="12343B"/>
                </a:solidFill>
                <a:latin typeface="Calibri"/>
              </a:rPr>
              <a:t>Python tools score, allocate, test sensitivity, audit equity</a:t>
            </a:r>
          </a:p>
        </p:txBody>
      </p:sp>
      <p:sp>
        <p:nvSpPr>
          <p:cNvPr id="9" name="Filtered out, on purpose"/>
          <p:cNvSpPr/>
          <p:nvPr/>
        </p:nvSpPr>
        <p:spPr>
          <a:xfrm>
            <a:off x="6412230" y="3360420"/>
            <a:ext cx="2386584" cy="788670"/>
          </a:xfrm>
          <a:prstGeom prst="roundRect">
            <a:avLst>
              <a:gd name="adj" fmla="val 6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6515100" y="3429000"/>
            <a:ext cx="2180844" cy="455253"/>
          </a:xfrm>
          <a:prstGeom prst="rect">
            <a:avLst/>
          </a:prstGeom>
          <a:noFill/>
        </p:spPr>
        <p:txBody>
          <a:bodyPr wrap="square" lIns="0" tIns="0" rIns="0" bIns="0" anchor="t">
            <a:spAutoFit/>
          </a:bodyPr>
          <a:lstStyle/>
          <a:p>
            <a:pPr>
              <a:spcAft>
                <a:spcPts val="150"/>
              </a:spcAft>
            </a:pPr>
            <a:r>
              <a:rPr sz="975" b="1">
                <a:solidFill>
                  <a:srgbClr val="1F6F6B"/>
                </a:solidFill>
                <a:latin typeface="Calibri"/>
              </a:rPr>
              <a:t>Filtered out, on purpose</a:t>
            </a:r>
          </a:p>
          <a:p>
            <a:pPr>
              <a:spcAft>
                <a:spcPts val="150"/>
              </a:spcAft>
            </a:pPr>
            <a:r>
              <a:rPr sz="825" b="1">
                <a:solidFill>
                  <a:srgbClr val="C27C00"/>
                </a:solidFill>
                <a:latin typeface="Calibri"/>
              </a:rPr>
              <a:t>• </a:t>
            </a:r>
            <a:r>
              <a:rPr sz="825">
                <a:solidFill>
                  <a:srgbClr val="12343B"/>
                </a:solidFill>
                <a:latin typeface="Calibri"/>
              </a:rPr>
              <a:t>Sole proprietors and home addresses</a:t>
            </a:r>
          </a:p>
          <a:p>
            <a:pPr>
              <a:spcAft>
                <a:spcPts val="150"/>
              </a:spcAft>
            </a:pPr>
            <a:r>
              <a:rPr sz="825" b="1">
                <a:solidFill>
                  <a:srgbClr val="C27C00"/>
                </a:solidFill>
                <a:latin typeface="Calibri"/>
              </a:rPr>
              <a:t>• </a:t>
            </a:r>
            <a:r>
              <a:rPr sz="825">
                <a:solidFill>
                  <a:srgbClr val="12343B"/>
                </a:solidFill>
                <a:latin typeface="Calibri"/>
              </a:rPr>
              <a:t>Race and ethnicity: audit only, never an input</a:t>
            </a:r>
          </a:p>
        </p:txBody>
      </p:sp>
      <p:sp>
        <p:nvSpPr>
          <p:cNvPr id="11" name="Real vs modeled"/>
          <p:cNvSpPr/>
          <p:nvPr/>
        </p:nvSpPr>
        <p:spPr>
          <a:xfrm>
            <a:off x="342900" y="4334256"/>
            <a:ext cx="8455914" cy="534924"/>
          </a:xfrm>
          <a:prstGeom prst="roundRect">
            <a:avLst>
              <a:gd name="adj" fmla="val 6000"/>
            </a:avLst>
          </a:prstGeom>
          <a:solidFill>
            <a:srgbClr val="123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4463219"/>
            <a:ext cx="8126730" cy="276999"/>
          </a:xfrm>
          <a:prstGeom prst="rect">
            <a:avLst/>
          </a:prstGeom>
          <a:noFill/>
        </p:spPr>
        <p:txBody>
          <a:bodyPr wrap="square" lIns="0" tIns="0" rIns="0" bIns="0" anchor="ctr">
            <a:spAutoFit/>
          </a:bodyPr>
          <a:lstStyle/>
          <a:p>
            <a:r>
              <a:rPr sz="900" b="1">
                <a:solidFill>
                  <a:srgbClr val="B8D4D0"/>
                </a:solidFill>
                <a:latin typeface="Calibri"/>
              </a:rPr>
              <a:t>Real vs modeled: </a:t>
            </a:r>
            <a:r>
              <a:rPr sz="900">
                <a:solidFill>
                  <a:srgbClr val="FFFFFF"/>
                </a:solidFill>
                <a:latin typeface="Calibri"/>
              </a:rPr>
              <a:t>businesses, loans, job counts, demographics and industry purchase rates are measured. Which business buys from which, and which shops a block's workers use, is our model. Limits: footfall location is tract-level and cascades count businesses, not jobs.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42900" y="260605"/>
            <a:ext cx="8435340" cy="392415"/>
          </a:xfrm>
          <a:prstGeom prst="rect">
            <a:avLst/>
          </a:prstGeom>
          <a:noFill/>
        </p:spPr>
        <p:txBody>
          <a:bodyPr wrap="square" lIns="0" tIns="0" rIns="0" bIns="0" anchor="t">
            <a:spAutoFit/>
          </a:bodyPr>
          <a:lstStyle/>
          <a:p>
            <a:pPr>
              <a:spcAft>
                <a:spcPts val="225"/>
              </a:spcAft>
            </a:pPr>
            <a:r>
              <a:rPr sz="2550" b="1" dirty="0">
                <a:solidFill>
                  <a:srgbClr val="12343B"/>
                </a:solidFill>
                <a:latin typeface="Calibri"/>
              </a:rPr>
              <a:t>How our grant decision agents work together</a:t>
            </a:r>
          </a:p>
        </p:txBody>
      </p:sp>
      <p:sp>
        <p:nvSpPr>
          <p:cNvPr id="3" name="Subtitle"/>
          <p:cNvSpPr txBox="1"/>
          <p:nvPr/>
        </p:nvSpPr>
        <p:spPr>
          <a:xfrm>
            <a:off x="342900" y="685801"/>
            <a:ext cx="8435340" cy="161583"/>
          </a:xfrm>
          <a:prstGeom prst="rect">
            <a:avLst/>
          </a:prstGeom>
          <a:noFill/>
        </p:spPr>
        <p:txBody>
          <a:bodyPr wrap="square" lIns="0" tIns="0" rIns="0" bIns="0" anchor="t">
            <a:spAutoFit/>
          </a:bodyPr>
          <a:lstStyle/>
          <a:p>
            <a:pPr>
              <a:spcAft>
                <a:spcPts val="225"/>
              </a:spcAft>
            </a:pPr>
            <a:r>
              <a:rPr sz="1050">
                <a:solidFill>
                  <a:srgbClr val="4A5A5D"/>
                </a:solidFill>
                <a:latin typeface="Calibri"/>
              </a:rPr>
              <a:t>Anchor-closure track · Central Market, San Francisco · four ADK agents in one chain, data through MCP, everything on Google Cloud</a:t>
            </a:r>
          </a:p>
        </p:txBody>
      </p:sp>
      <p:sp>
        <p:nvSpPr>
          <p:cNvPr id="4" name="User card"/>
          <p:cNvSpPr/>
          <p:nvPr/>
        </p:nvSpPr>
        <p:spPr>
          <a:xfrm>
            <a:off x="342900" y="1062990"/>
            <a:ext cx="1577340" cy="672084"/>
          </a:xfrm>
          <a:prstGeom prst="roundRect">
            <a:avLst>
              <a:gd name="adj" fmla="val 12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 name="TextBox 4"/>
          <p:cNvSpPr txBox="1"/>
          <p:nvPr/>
        </p:nvSpPr>
        <p:spPr>
          <a:xfrm>
            <a:off x="466344" y="1124712"/>
            <a:ext cx="1330452" cy="568104"/>
          </a:xfrm>
          <a:prstGeom prst="rect">
            <a:avLst/>
          </a:prstGeom>
          <a:noFill/>
        </p:spPr>
        <p:txBody>
          <a:bodyPr wrap="square" lIns="0" tIns="0" rIns="0" bIns="0" anchor="t">
            <a:spAutoFit/>
          </a:bodyPr>
          <a:lstStyle/>
          <a:p>
            <a:pPr>
              <a:spcAft>
                <a:spcPts val="225"/>
              </a:spcAft>
            </a:pPr>
            <a:r>
              <a:rPr sz="1050" b="1">
                <a:solidFill>
                  <a:srgbClr val="12343B"/>
                </a:solidFill>
                <a:latin typeface="Calibri"/>
              </a:rPr>
              <a:t>Grant officer</a:t>
            </a:r>
          </a:p>
          <a:p>
            <a:pPr>
              <a:spcAft>
                <a:spcPts val="225"/>
              </a:spcAft>
            </a:pPr>
            <a:r>
              <a:rPr sz="825">
                <a:solidFill>
                  <a:srgbClr val="4A5A5D"/>
                </a:solidFill>
                <a:latin typeface="Calibri"/>
              </a:rPr>
              <a:t>Picks the closing employer, the budget and the grant-effect assumption</a:t>
            </a:r>
          </a:p>
        </p:txBody>
      </p:sp>
      <p:cxnSp>
        <p:nvCxnSpPr>
          <p:cNvPr id="6" name="Connector 5"/>
          <p:cNvCxnSpPr/>
          <p:nvPr/>
        </p:nvCxnSpPr>
        <p:spPr>
          <a:xfrm>
            <a:off x="1131570" y="1735074"/>
            <a:ext cx="0" cy="219456"/>
          </a:xfrm>
          <a:prstGeom prst="line">
            <a:avLst/>
          </a:prstGeom>
          <a:ln w="22225">
            <a:solidFill>
              <a:srgbClr val="C27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Front end card"/>
          <p:cNvSpPr/>
          <p:nvPr/>
        </p:nvSpPr>
        <p:spPr>
          <a:xfrm>
            <a:off x="342900" y="1954530"/>
            <a:ext cx="1577340" cy="1337310"/>
          </a:xfrm>
          <a:prstGeom prst="roundRect">
            <a:avLst>
              <a:gd name="adj" fmla="val 6153"/>
            </a:avLst>
          </a:prstGeom>
          <a:solidFill>
            <a:srgbClr val="FFFFFF"/>
          </a:solidFill>
          <a:ln w="19050">
            <a:solidFill>
              <a:srgbClr val="C27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8" name="TextBox 7"/>
          <p:cNvSpPr txBox="1"/>
          <p:nvPr/>
        </p:nvSpPr>
        <p:spPr>
          <a:xfrm>
            <a:off x="466344" y="2023110"/>
            <a:ext cx="1330452" cy="1000274"/>
          </a:xfrm>
          <a:prstGeom prst="rect">
            <a:avLst/>
          </a:prstGeom>
          <a:noFill/>
        </p:spPr>
        <p:txBody>
          <a:bodyPr wrap="square" lIns="0" tIns="0" rIns="0" bIns="0" anchor="t">
            <a:spAutoFit/>
          </a:bodyPr>
          <a:lstStyle/>
          <a:p>
            <a:pPr>
              <a:spcAft>
                <a:spcPts val="225"/>
              </a:spcAft>
            </a:pPr>
            <a:r>
              <a:rPr sz="1050" b="1">
                <a:solidFill>
                  <a:srgbClr val="12343B"/>
                </a:solidFill>
                <a:latin typeface="Calibri"/>
              </a:rPr>
              <a:t>Interactive map</a:t>
            </a:r>
          </a:p>
          <a:p>
            <a:pPr>
              <a:spcAft>
                <a:spcPts val="225"/>
              </a:spcAft>
            </a:pPr>
            <a:r>
              <a:rPr sz="825" b="1">
                <a:solidFill>
                  <a:srgbClr val="C27C00"/>
                </a:solidFill>
                <a:latin typeface="Calibri"/>
              </a:rPr>
              <a:t>Cloud Run · Google Maps JS API</a:t>
            </a:r>
          </a:p>
          <a:p>
            <a:pPr>
              <a:spcAft>
                <a:spcPts val="225"/>
              </a:spcAft>
            </a:pPr>
            <a:r>
              <a:rPr sz="825">
                <a:solidFill>
                  <a:srgbClr val="4A5A5D"/>
                </a:solidFill>
                <a:latin typeface="Calibri"/>
              </a:rPr>
              <a:t>Hover a business: amount, justification, impact</a:t>
            </a:r>
          </a:p>
          <a:p>
            <a:pPr>
              <a:spcAft>
                <a:spcPts val="225"/>
              </a:spcAft>
            </a:pPr>
            <a:r>
              <a:rPr sz="825">
                <a:solidFill>
                  <a:srgbClr val="4A5A5D"/>
                </a:solidFill>
                <a:latin typeface="Calibri"/>
              </a:rPr>
              <a:t>The cascade is drawn on the map, anchor to supplier</a:t>
            </a:r>
          </a:p>
        </p:txBody>
      </p:sp>
      <p:cxnSp>
        <p:nvCxnSpPr>
          <p:cNvPr id="9" name="Connector 8"/>
          <p:cNvCxnSpPr/>
          <p:nvPr/>
        </p:nvCxnSpPr>
        <p:spPr>
          <a:xfrm>
            <a:off x="1920240" y="2297430"/>
            <a:ext cx="651510" cy="0"/>
          </a:xfrm>
          <a:prstGeom prst="line">
            <a:avLst/>
          </a:prstGeom>
          <a:ln w="22225">
            <a:solidFill>
              <a:srgbClr val="C27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947672" y="2057401"/>
            <a:ext cx="596646" cy="103875"/>
          </a:xfrm>
          <a:prstGeom prst="rect">
            <a:avLst/>
          </a:prstGeom>
          <a:noFill/>
        </p:spPr>
        <p:txBody>
          <a:bodyPr wrap="square" lIns="0" tIns="0" rIns="0" bIns="0" anchor="t">
            <a:spAutoFit/>
          </a:bodyPr>
          <a:lstStyle/>
          <a:p>
            <a:pPr algn="ctr">
              <a:spcAft>
                <a:spcPts val="225"/>
              </a:spcAft>
            </a:pPr>
            <a:r>
              <a:rPr sz="675" b="1">
                <a:solidFill>
                  <a:srgbClr val="C27C00"/>
                </a:solidFill>
                <a:latin typeface="Calibri"/>
              </a:rPr>
              <a:t>POST /scenario</a:t>
            </a:r>
          </a:p>
        </p:txBody>
      </p:sp>
      <p:cxnSp>
        <p:nvCxnSpPr>
          <p:cNvPr id="11" name="Connector 10"/>
          <p:cNvCxnSpPr/>
          <p:nvPr/>
        </p:nvCxnSpPr>
        <p:spPr>
          <a:xfrm flipH="1">
            <a:off x="1920240" y="2914650"/>
            <a:ext cx="651510" cy="0"/>
          </a:xfrm>
          <a:prstGeom prst="line">
            <a:avLst/>
          </a:prstGeom>
          <a:ln w="22225">
            <a:solidFill>
              <a:srgbClr val="C27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947672" y="2955798"/>
            <a:ext cx="596646" cy="103875"/>
          </a:xfrm>
          <a:prstGeom prst="rect">
            <a:avLst/>
          </a:prstGeom>
          <a:noFill/>
        </p:spPr>
        <p:txBody>
          <a:bodyPr wrap="square" lIns="0" tIns="0" rIns="0" bIns="0" anchor="t">
            <a:spAutoFit/>
          </a:bodyPr>
          <a:lstStyle/>
          <a:p>
            <a:pPr algn="ctr">
              <a:spcAft>
                <a:spcPts val="225"/>
              </a:spcAft>
            </a:pPr>
            <a:r>
              <a:rPr sz="675" b="1">
                <a:solidFill>
                  <a:srgbClr val="C27C00"/>
                </a:solidFill>
                <a:latin typeface="Calibri"/>
              </a:rPr>
              <a:t>decisions.json</a:t>
            </a:r>
          </a:p>
        </p:txBody>
      </p:sp>
      <p:sp>
        <p:nvSpPr>
          <p:cNvPr id="13" name="ADK root agent"/>
          <p:cNvSpPr/>
          <p:nvPr/>
        </p:nvSpPr>
        <p:spPr>
          <a:xfrm>
            <a:off x="2571750" y="1028700"/>
            <a:ext cx="6227064" cy="2023110"/>
          </a:xfrm>
          <a:prstGeom prst="roundRect">
            <a:avLst>
              <a:gd name="adj" fmla="val 4067"/>
            </a:avLst>
          </a:prstGeom>
          <a:solidFill>
            <a:srgbClr val="E3EFED"/>
          </a:solidFill>
          <a:ln w="12700">
            <a:solidFill>
              <a:srgbClr val="B8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708910" y="1097281"/>
            <a:ext cx="5952744" cy="161583"/>
          </a:xfrm>
          <a:prstGeom prst="rect">
            <a:avLst/>
          </a:prstGeom>
          <a:noFill/>
        </p:spPr>
        <p:txBody>
          <a:bodyPr wrap="square" lIns="0" tIns="0" rIns="0" bIns="0" anchor="t">
            <a:spAutoFit/>
          </a:bodyPr>
          <a:lstStyle/>
          <a:p>
            <a:pPr>
              <a:spcAft>
                <a:spcPts val="225"/>
              </a:spcAft>
            </a:pPr>
            <a:r>
              <a:rPr sz="1050" b="1">
                <a:solidFill>
                  <a:srgbClr val="12343B"/>
                </a:solidFill>
                <a:latin typeface="Calibri"/>
              </a:rPr>
              <a:t>ADK root agent </a:t>
            </a:r>
            <a:r>
              <a:rPr sz="1050">
                <a:solidFill>
                  <a:srgbClr val="1F6F6B"/>
                </a:solidFill>
                <a:latin typeface="Calibri"/>
              </a:rPr>
              <a:t>· SequentialAgent · Gemini · deployed on Agent Runtime</a:t>
            </a:r>
          </a:p>
        </p:txBody>
      </p:sp>
      <p:sp>
        <p:nvSpPr>
          <p:cNvPr id="15" name="Agent 1"/>
          <p:cNvSpPr/>
          <p:nvPr/>
        </p:nvSpPr>
        <p:spPr>
          <a:xfrm>
            <a:off x="2708910" y="1405889"/>
            <a:ext cx="1323594" cy="1165860"/>
          </a:xfrm>
          <a:prstGeom prst="roundRect">
            <a:avLst>
              <a:gd name="adj" fmla="val 7058"/>
            </a:avLst>
          </a:prstGeom>
          <a:solidFill>
            <a:srgbClr val="FFFFFF"/>
          </a:solidFill>
          <a:ln w="12700">
            <a:solidFill>
              <a:srgbClr val="B8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Oval 15"/>
          <p:cNvSpPr/>
          <p:nvPr/>
        </p:nvSpPr>
        <p:spPr>
          <a:xfrm>
            <a:off x="2804922" y="1501902"/>
            <a:ext cx="246888" cy="246888"/>
          </a:xfrm>
          <a:prstGeom prst="ellipse">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75" b="1">
                <a:solidFill>
                  <a:srgbClr val="FFFFFF"/>
                </a:solidFill>
                <a:latin typeface="Calibri"/>
              </a:rPr>
              <a:t>1</a:t>
            </a:r>
          </a:p>
        </p:txBody>
      </p:sp>
      <p:sp>
        <p:nvSpPr>
          <p:cNvPr id="17" name="TextBox 16"/>
          <p:cNvSpPr txBox="1"/>
          <p:nvPr/>
        </p:nvSpPr>
        <p:spPr>
          <a:xfrm>
            <a:off x="2804922" y="1817370"/>
            <a:ext cx="1131570" cy="150041"/>
          </a:xfrm>
          <a:prstGeom prst="rect">
            <a:avLst/>
          </a:prstGeom>
          <a:noFill/>
        </p:spPr>
        <p:txBody>
          <a:bodyPr wrap="square" lIns="0" tIns="0" rIns="0" bIns="0" anchor="t">
            <a:spAutoFit/>
          </a:bodyPr>
          <a:lstStyle/>
          <a:p>
            <a:pPr>
              <a:spcAft>
                <a:spcPts val="225"/>
              </a:spcAft>
            </a:pPr>
            <a:r>
              <a:rPr sz="975" b="1">
                <a:solidFill>
                  <a:srgbClr val="12343B"/>
                </a:solidFill>
                <a:latin typeface="Calibri"/>
              </a:rPr>
              <a:t>Cascade Scout</a:t>
            </a:r>
          </a:p>
        </p:txBody>
      </p:sp>
      <p:sp>
        <p:nvSpPr>
          <p:cNvPr id="18" name="TextBox 17"/>
          <p:cNvSpPr txBox="1"/>
          <p:nvPr/>
        </p:nvSpPr>
        <p:spPr>
          <a:xfrm>
            <a:off x="2804922" y="2036826"/>
            <a:ext cx="1131570" cy="380873"/>
          </a:xfrm>
          <a:prstGeom prst="rect">
            <a:avLst/>
          </a:prstGeom>
          <a:noFill/>
        </p:spPr>
        <p:txBody>
          <a:bodyPr wrap="square" lIns="0" tIns="0" rIns="0" bIns="0" anchor="t">
            <a:spAutoFit/>
          </a:bodyPr>
          <a:lstStyle/>
          <a:p>
            <a:pPr>
              <a:spcAft>
                <a:spcPts val="225"/>
              </a:spcAft>
            </a:pPr>
            <a:r>
              <a:rPr sz="825">
                <a:solidFill>
                  <a:srgbClr val="4A5A5D"/>
                </a:solidFill>
                <a:latin typeface="Calibri"/>
              </a:rPr>
              <a:t>Walks the graph: footfall forward, then supplies backward, 1 to 2 hops</a:t>
            </a:r>
          </a:p>
        </p:txBody>
      </p:sp>
      <p:cxnSp>
        <p:nvCxnSpPr>
          <p:cNvPr id="19" name="Connector 18"/>
          <p:cNvCxnSpPr/>
          <p:nvPr/>
        </p:nvCxnSpPr>
        <p:spPr>
          <a:xfrm>
            <a:off x="4059936" y="1988820"/>
            <a:ext cx="164592" cy="0"/>
          </a:xfrm>
          <a:prstGeom prst="line">
            <a:avLst/>
          </a:prstGeom>
          <a:ln w="25400">
            <a:solidFill>
              <a:srgbClr val="1F6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Agent 2"/>
          <p:cNvSpPr/>
          <p:nvPr/>
        </p:nvSpPr>
        <p:spPr>
          <a:xfrm>
            <a:off x="4251960" y="1405889"/>
            <a:ext cx="1323594" cy="1165860"/>
          </a:xfrm>
          <a:prstGeom prst="roundRect">
            <a:avLst>
              <a:gd name="adj" fmla="val 7058"/>
            </a:avLst>
          </a:prstGeom>
          <a:solidFill>
            <a:srgbClr val="FFFFFF"/>
          </a:solidFill>
          <a:ln w="12700">
            <a:solidFill>
              <a:srgbClr val="B8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Oval 20"/>
          <p:cNvSpPr/>
          <p:nvPr/>
        </p:nvSpPr>
        <p:spPr>
          <a:xfrm>
            <a:off x="4347972" y="1501902"/>
            <a:ext cx="246888" cy="246888"/>
          </a:xfrm>
          <a:prstGeom prst="ellipse">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75" b="1">
                <a:solidFill>
                  <a:srgbClr val="FFFFFF"/>
                </a:solidFill>
                <a:latin typeface="Calibri"/>
              </a:rPr>
              <a:t>2</a:t>
            </a:r>
          </a:p>
        </p:txBody>
      </p:sp>
      <p:sp>
        <p:nvSpPr>
          <p:cNvPr id="22" name="TextBox 21"/>
          <p:cNvSpPr txBox="1"/>
          <p:nvPr/>
        </p:nvSpPr>
        <p:spPr>
          <a:xfrm>
            <a:off x="4347972" y="1817370"/>
            <a:ext cx="1131570" cy="150041"/>
          </a:xfrm>
          <a:prstGeom prst="rect">
            <a:avLst/>
          </a:prstGeom>
          <a:noFill/>
        </p:spPr>
        <p:txBody>
          <a:bodyPr wrap="square" lIns="0" tIns="0" rIns="0" bIns="0" anchor="t">
            <a:spAutoFit/>
          </a:bodyPr>
          <a:lstStyle/>
          <a:p>
            <a:pPr>
              <a:spcAft>
                <a:spcPts val="225"/>
              </a:spcAft>
            </a:pPr>
            <a:r>
              <a:rPr sz="975" b="1">
                <a:solidFill>
                  <a:srgbClr val="12343B"/>
                </a:solidFill>
                <a:latin typeface="Calibri"/>
              </a:rPr>
              <a:t>Risk Assessor</a:t>
            </a:r>
          </a:p>
        </p:txBody>
      </p:sp>
      <p:sp>
        <p:nvSpPr>
          <p:cNvPr id="23" name="TextBox 22"/>
          <p:cNvSpPr txBox="1"/>
          <p:nvPr/>
        </p:nvSpPr>
        <p:spPr>
          <a:xfrm>
            <a:off x="4347972" y="2036826"/>
            <a:ext cx="1131570" cy="380873"/>
          </a:xfrm>
          <a:prstGeom prst="rect">
            <a:avLst/>
          </a:prstGeom>
          <a:noFill/>
        </p:spPr>
        <p:txBody>
          <a:bodyPr wrap="square" lIns="0" tIns="0" rIns="0" bIns="0" anchor="t">
            <a:spAutoFit/>
          </a:bodyPr>
          <a:lstStyle/>
          <a:p>
            <a:pPr>
              <a:spcAft>
                <a:spcPts val="225"/>
              </a:spcAft>
            </a:pPr>
            <a:r>
              <a:rPr sz="825">
                <a:solidFill>
                  <a:srgbClr val="4A5A5D"/>
                </a:solidFill>
                <a:latin typeface="Calibri"/>
              </a:rPr>
              <a:t>Scores exposure, fragility and tract need for each business</a:t>
            </a:r>
          </a:p>
        </p:txBody>
      </p:sp>
      <p:cxnSp>
        <p:nvCxnSpPr>
          <p:cNvPr id="24" name="Connector 23"/>
          <p:cNvCxnSpPr/>
          <p:nvPr/>
        </p:nvCxnSpPr>
        <p:spPr>
          <a:xfrm>
            <a:off x="5602986" y="1988820"/>
            <a:ext cx="164592" cy="0"/>
          </a:xfrm>
          <a:prstGeom prst="line">
            <a:avLst/>
          </a:prstGeom>
          <a:ln w="25400">
            <a:solidFill>
              <a:srgbClr val="1F6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Agent 3"/>
          <p:cNvSpPr/>
          <p:nvPr/>
        </p:nvSpPr>
        <p:spPr>
          <a:xfrm>
            <a:off x="5795009" y="1405889"/>
            <a:ext cx="1323594" cy="1165860"/>
          </a:xfrm>
          <a:prstGeom prst="roundRect">
            <a:avLst>
              <a:gd name="adj" fmla="val 7058"/>
            </a:avLst>
          </a:prstGeom>
          <a:solidFill>
            <a:srgbClr val="FFFFFF"/>
          </a:solidFill>
          <a:ln w="12700">
            <a:solidFill>
              <a:srgbClr val="B8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Oval 25"/>
          <p:cNvSpPr/>
          <p:nvPr/>
        </p:nvSpPr>
        <p:spPr>
          <a:xfrm>
            <a:off x="5891022" y="1501902"/>
            <a:ext cx="246888" cy="246888"/>
          </a:xfrm>
          <a:prstGeom prst="ellipse">
            <a:avLst/>
          </a:prstGeom>
          <a:solidFill>
            <a:srgbClr val="C27C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75" b="1">
                <a:solidFill>
                  <a:srgbClr val="FFFFFF"/>
                </a:solidFill>
                <a:latin typeface="Calibri"/>
              </a:rPr>
              <a:t>3</a:t>
            </a:r>
          </a:p>
        </p:txBody>
      </p:sp>
      <p:sp>
        <p:nvSpPr>
          <p:cNvPr id="27" name="TextBox 26"/>
          <p:cNvSpPr txBox="1"/>
          <p:nvPr/>
        </p:nvSpPr>
        <p:spPr>
          <a:xfrm>
            <a:off x="5891022" y="1817370"/>
            <a:ext cx="1131570" cy="150041"/>
          </a:xfrm>
          <a:prstGeom prst="rect">
            <a:avLst/>
          </a:prstGeom>
          <a:noFill/>
        </p:spPr>
        <p:txBody>
          <a:bodyPr wrap="square" lIns="0" tIns="0" rIns="0" bIns="0" anchor="t">
            <a:spAutoFit/>
          </a:bodyPr>
          <a:lstStyle/>
          <a:p>
            <a:pPr>
              <a:spcAft>
                <a:spcPts val="225"/>
              </a:spcAft>
            </a:pPr>
            <a:r>
              <a:rPr sz="975" b="1">
                <a:solidFill>
                  <a:srgbClr val="12343B"/>
                </a:solidFill>
                <a:latin typeface="Calibri"/>
              </a:rPr>
              <a:t>Grant Allocator</a:t>
            </a:r>
          </a:p>
        </p:txBody>
      </p:sp>
      <p:sp>
        <p:nvSpPr>
          <p:cNvPr id="28" name="TextBox 27"/>
          <p:cNvSpPr txBox="1"/>
          <p:nvPr/>
        </p:nvSpPr>
        <p:spPr>
          <a:xfrm>
            <a:off x="5891022" y="2036826"/>
            <a:ext cx="1131570" cy="380873"/>
          </a:xfrm>
          <a:prstGeom prst="rect">
            <a:avLst/>
          </a:prstGeom>
          <a:noFill/>
        </p:spPr>
        <p:txBody>
          <a:bodyPr wrap="square" lIns="0" tIns="0" rIns="0" bIns="0" anchor="t">
            <a:spAutoFit/>
          </a:bodyPr>
          <a:lstStyle/>
          <a:p>
            <a:pPr>
              <a:spcAft>
                <a:spcPts val="225"/>
              </a:spcAft>
            </a:pPr>
            <a:r>
              <a:rPr sz="825">
                <a:solidFill>
                  <a:srgbClr val="4A5A5D"/>
                </a:solidFill>
                <a:latin typeface="Calibri"/>
              </a:rPr>
              <a:t>Splits the budget, names the runner-up, tests the assumption</a:t>
            </a:r>
          </a:p>
        </p:txBody>
      </p:sp>
      <p:cxnSp>
        <p:nvCxnSpPr>
          <p:cNvPr id="29" name="Connector 28"/>
          <p:cNvCxnSpPr/>
          <p:nvPr/>
        </p:nvCxnSpPr>
        <p:spPr>
          <a:xfrm>
            <a:off x="7146036" y="1988820"/>
            <a:ext cx="164593" cy="0"/>
          </a:xfrm>
          <a:prstGeom prst="line">
            <a:avLst/>
          </a:prstGeom>
          <a:ln w="25400">
            <a:solidFill>
              <a:srgbClr val="1F6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Agent 4"/>
          <p:cNvSpPr/>
          <p:nvPr/>
        </p:nvSpPr>
        <p:spPr>
          <a:xfrm>
            <a:off x="7338060" y="1405889"/>
            <a:ext cx="1323594" cy="1165860"/>
          </a:xfrm>
          <a:prstGeom prst="roundRect">
            <a:avLst>
              <a:gd name="adj" fmla="val 7058"/>
            </a:avLst>
          </a:prstGeom>
          <a:solidFill>
            <a:srgbClr val="FFFFFF"/>
          </a:solidFill>
          <a:ln w="12700">
            <a:solidFill>
              <a:srgbClr val="B8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Oval 30"/>
          <p:cNvSpPr/>
          <p:nvPr/>
        </p:nvSpPr>
        <p:spPr>
          <a:xfrm>
            <a:off x="7434072" y="1501902"/>
            <a:ext cx="246888" cy="246888"/>
          </a:xfrm>
          <a:prstGeom prst="ellipse">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75" b="1">
                <a:solidFill>
                  <a:srgbClr val="FFFFFF"/>
                </a:solidFill>
                <a:latin typeface="Calibri"/>
              </a:rPr>
              <a:t>4</a:t>
            </a:r>
          </a:p>
        </p:txBody>
      </p:sp>
      <p:sp>
        <p:nvSpPr>
          <p:cNvPr id="32" name="TextBox 31"/>
          <p:cNvSpPr txBox="1"/>
          <p:nvPr/>
        </p:nvSpPr>
        <p:spPr>
          <a:xfrm>
            <a:off x="7434072" y="1817370"/>
            <a:ext cx="1131570" cy="150041"/>
          </a:xfrm>
          <a:prstGeom prst="rect">
            <a:avLst/>
          </a:prstGeom>
          <a:noFill/>
        </p:spPr>
        <p:txBody>
          <a:bodyPr wrap="square" lIns="0" tIns="0" rIns="0" bIns="0" anchor="t">
            <a:spAutoFit/>
          </a:bodyPr>
          <a:lstStyle/>
          <a:p>
            <a:pPr>
              <a:spcAft>
                <a:spcPts val="225"/>
              </a:spcAft>
            </a:pPr>
            <a:r>
              <a:rPr sz="975" b="1">
                <a:solidFill>
                  <a:srgbClr val="12343B"/>
                </a:solidFill>
                <a:latin typeface="Calibri"/>
              </a:rPr>
              <a:t>Memo Writer</a:t>
            </a:r>
          </a:p>
        </p:txBody>
      </p:sp>
      <p:sp>
        <p:nvSpPr>
          <p:cNvPr id="33" name="TextBox 32"/>
          <p:cNvSpPr txBox="1"/>
          <p:nvPr/>
        </p:nvSpPr>
        <p:spPr>
          <a:xfrm>
            <a:off x="7434072" y="2036826"/>
            <a:ext cx="1131570" cy="253916"/>
          </a:xfrm>
          <a:prstGeom prst="rect">
            <a:avLst/>
          </a:prstGeom>
          <a:noFill/>
        </p:spPr>
        <p:txBody>
          <a:bodyPr wrap="square" lIns="0" tIns="0" rIns="0" bIns="0" anchor="t">
            <a:spAutoFit/>
          </a:bodyPr>
          <a:lstStyle/>
          <a:p>
            <a:pPr>
              <a:spcAft>
                <a:spcPts val="225"/>
              </a:spcAft>
            </a:pPr>
            <a:r>
              <a:rPr sz="825">
                <a:solidFill>
                  <a:srgbClr val="4A5A5D"/>
                </a:solidFill>
                <a:latin typeface="Calibri"/>
              </a:rPr>
              <a:t>Writes every justification and the grant memo</a:t>
            </a:r>
          </a:p>
        </p:txBody>
      </p:sp>
      <p:sp>
        <p:nvSpPr>
          <p:cNvPr id="34" name="Session state"/>
          <p:cNvSpPr/>
          <p:nvPr/>
        </p:nvSpPr>
        <p:spPr>
          <a:xfrm>
            <a:off x="2708910" y="2647188"/>
            <a:ext cx="5952744" cy="274320"/>
          </a:xfrm>
          <a:prstGeom prst="roundRect">
            <a:avLst>
              <a:gd name="adj" fmla="val 12000"/>
            </a:avLst>
          </a:prstGeom>
          <a:solidFill>
            <a:srgbClr val="FFFFFF"/>
          </a:solidFill>
          <a:ln w="12700">
            <a:solidFill>
              <a:srgbClr val="B8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2811780" y="2720870"/>
            <a:ext cx="5747004" cy="126958"/>
          </a:xfrm>
          <a:prstGeom prst="rect">
            <a:avLst/>
          </a:prstGeom>
          <a:noFill/>
        </p:spPr>
        <p:txBody>
          <a:bodyPr wrap="square" lIns="0" tIns="0" rIns="0" bIns="0" anchor="ctr">
            <a:spAutoFit/>
          </a:bodyPr>
          <a:lstStyle/>
          <a:p>
            <a:pPr>
              <a:spcAft>
                <a:spcPts val="225"/>
              </a:spcAft>
            </a:pPr>
            <a:r>
              <a:rPr sz="825" b="1">
                <a:solidFill>
                  <a:srgbClr val="1F6F6B"/>
                </a:solidFill>
                <a:latin typeface="Calibri"/>
              </a:rPr>
              <a:t>Shared session.state   </a:t>
            </a:r>
            <a:r>
              <a:rPr sz="825">
                <a:solidFill>
                  <a:srgbClr val="12343B"/>
                </a:solidFill>
                <a:latin typeface="Calibri"/>
              </a:rPr>
              <a:t>cascade  →  risk  →  allocation  →  decisions</a:t>
            </a:r>
          </a:p>
        </p:txBody>
      </p:sp>
      <p:sp>
        <p:nvSpPr>
          <p:cNvPr id="36" name="MCP Toolbox"/>
          <p:cNvSpPr/>
          <p:nvPr/>
        </p:nvSpPr>
        <p:spPr>
          <a:xfrm>
            <a:off x="2708911" y="3326130"/>
            <a:ext cx="2866643" cy="720090"/>
          </a:xfrm>
          <a:prstGeom prst="roundRect">
            <a:avLst>
              <a:gd name="adj" fmla="val 11428"/>
            </a:avLst>
          </a:prstGeom>
          <a:solidFill>
            <a:srgbClr val="FFFFFF"/>
          </a:solidFill>
          <a:ln w="19050">
            <a:solidFill>
              <a:srgbClr val="1F6F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832354" y="3394710"/>
            <a:ext cx="2619756" cy="429605"/>
          </a:xfrm>
          <a:prstGeom prst="rect">
            <a:avLst/>
          </a:prstGeom>
          <a:noFill/>
        </p:spPr>
        <p:txBody>
          <a:bodyPr wrap="square" lIns="0" tIns="0" rIns="0" bIns="0" anchor="t">
            <a:spAutoFit/>
          </a:bodyPr>
          <a:lstStyle/>
          <a:p>
            <a:pPr>
              <a:spcAft>
                <a:spcPts val="225"/>
              </a:spcAft>
            </a:pPr>
            <a:r>
              <a:rPr sz="975" b="1">
                <a:solidFill>
                  <a:srgbClr val="12343B"/>
                </a:solidFill>
                <a:latin typeface="Calibri"/>
              </a:rPr>
              <a:t>MCP Toolbox for Databases </a:t>
            </a:r>
            <a:r>
              <a:rPr sz="825">
                <a:solidFill>
                  <a:srgbClr val="1F6F6B"/>
                </a:solidFill>
                <a:latin typeface="Calibri"/>
              </a:rPr>
              <a:t>· Cloud Run</a:t>
            </a:r>
          </a:p>
          <a:p>
            <a:pPr>
              <a:spcAft>
                <a:spcPts val="225"/>
              </a:spcAft>
            </a:pPr>
            <a:r>
              <a:rPr sz="825">
                <a:solidFill>
                  <a:srgbClr val="4A5A5D"/>
                </a:solidFill>
                <a:latin typeface="Calibri"/>
              </a:rPr>
              <a:t>anchor_cascade (GQL) · supply_cascade · business_profile · tract_profile · loan_history</a:t>
            </a:r>
          </a:p>
        </p:txBody>
      </p:sp>
      <p:sp>
        <p:nvSpPr>
          <p:cNvPr id="38" name="Python tools"/>
          <p:cNvSpPr/>
          <p:nvPr/>
        </p:nvSpPr>
        <p:spPr>
          <a:xfrm>
            <a:off x="5795010" y="3326130"/>
            <a:ext cx="2866643" cy="720090"/>
          </a:xfrm>
          <a:prstGeom prst="roundRect">
            <a:avLst>
              <a:gd name="adj" fmla="val 11428"/>
            </a:avLst>
          </a:prstGeom>
          <a:solidFill>
            <a:srgbClr val="FFFFFF"/>
          </a:solidFill>
          <a:ln w="19050">
            <a:solidFill>
              <a:srgbClr val="C27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918453" y="3394710"/>
            <a:ext cx="2619756" cy="429605"/>
          </a:xfrm>
          <a:prstGeom prst="rect">
            <a:avLst/>
          </a:prstGeom>
          <a:noFill/>
        </p:spPr>
        <p:txBody>
          <a:bodyPr wrap="square" lIns="0" tIns="0" rIns="0" bIns="0" anchor="t">
            <a:spAutoFit/>
          </a:bodyPr>
          <a:lstStyle/>
          <a:p>
            <a:pPr>
              <a:spcAft>
                <a:spcPts val="225"/>
              </a:spcAft>
            </a:pPr>
            <a:r>
              <a:rPr sz="975" b="1">
                <a:solidFill>
                  <a:srgbClr val="12343B"/>
                </a:solidFill>
                <a:latin typeface="Calibri"/>
              </a:rPr>
              <a:t>Custom Python tools </a:t>
            </a:r>
            <a:r>
              <a:rPr sz="825">
                <a:solidFill>
                  <a:srgbClr val="C27C00"/>
                </a:solidFill>
                <a:latin typeface="Calibri"/>
              </a:rPr>
              <a:t>· ADK FunctionTool</a:t>
            </a:r>
          </a:p>
          <a:p>
            <a:pPr>
              <a:spcAft>
                <a:spcPts val="225"/>
              </a:spcAft>
            </a:pPr>
            <a:r>
              <a:rPr sz="825">
                <a:solidFill>
                  <a:srgbClr val="4A5A5D"/>
                </a:solidFill>
                <a:latin typeface="Calibri"/>
              </a:rPr>
              <a:t>score_exposure · fragility · allocate_budget · sensitivity · equity_audit · build_memo</a:t>
            </a:r>
          </a:p>
        </p:txBody>
      </p:sp>
      <p:cxnSp>
        <p:nvCxnSpPr>
          <p:cNvPr id="40" name="Connector 39"/>
          <p:cNvCxnSpPr/>
          <p:nvPr/>
        </p:nvCxnSpPr>
        <p:spPr>
          <a:xfrm>
            <a:off x="3370707" y="3051810"/>
            <a:ext cx="0" cy="274320"/>
          </a:xfrm>
          <a:prstGeom prst="line">
            <a:avLst/>
          </a:prstGeom>
          <a:ln w="22225">
            <a:solidFill>
              <a:srgbClr val="1F6F6B"/>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913757" y="3051810"/>
            <a:ext cx="0" cy="274320"/>
          </a:xfrm>
          <a:prstGeom prst="line">
            <a:avLst/>
          </a:prstGeom>
          <a:ln w="22225">
            <a:solidFill>
              <a:srgbClr val="1F6F6B"/>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456807" y="3051810"/>
            <a:ext cx="0" cy="274320"/>
          </a:xfrm>
          <a:prstGeom prst="line">
            <a:avLst/>
          </a:prstGeom>
          <a:ln w="22225">
            <a:solidFill>
              <a:srgbClr val="C27C00"/>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999857" y="3051810"/>
            <a:ext cx="0" cy="274320"/>
          </a:xfrm>
          <a:prstGeom prst="line">
            <a:avLst/>
          </a:prstGeom>
          <a:ln w="22225">
            <a:solidFill>
              <a:srgbClr val="C27C00"/>
            </a:solidFill>
            <a:prstDash val="sysDot"/>
            <a:tailEnd type="triangle" w="med" len="med"/>
          </a:ln>
        </p:spPr>
        <p:style>
          <a:lnRef idx="2">
            <a:schemeClr val="accent1"/>
          </a:lnRef>
          <a:fillRef idx="0">
            <a:schemeClr val="accent1"/>
          </a:fillRef>
          <a:effectRef idx="1">
            <a:schemeClr val="accent1"/>
          </a:effectRef>
          <a:fontRef idx="minor">
            <a:schemeClr val="tx1"/>
          </a:fontRef>
        </p:style>
      </p:cxnSp>
      <p:sp>
        <p:nvSpPr>
          <p:cNvPr id="44" name="BigQuery"/>
          <p:cNvSpPr/>
          <p:nvPr/>
        </p:nvSpPr>
        <p:spPr>
          <a:xfrm>
            <a:off x="2708910" y="4286250"/>
            <a:ext cx="5952744" cy="534924"/>
          </a:xfrm>
          <a:prstGeom prst="roundRect">
            <a:avLst>
              <a:gd name="adj" fmla="val 12000"/>
            </a:avLst>
          </a:prstGeom>
          <a:solidFill>
            <a:srgbClr val="123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2846071" y="4416105"/>
            <a:ext cx="5678423" cy="302647"/>
          </a:xfrm>
          <a:prstGeom prst="rect">
            <a:avLst/>
          </a:prstGeom>
          <a:noFill/>
        </p:spPr>
        <p:txBody>
          <a:bodyPr wrap="square" lIns="0" tIns="0" rIns="0" bIns="0" anchor="ctr">
            <a:spAutoFit/>
          </a:bodyPr>
          <a:lstStyle/>
          <a:p>
            <a:pPr>
              <a:spcAft>
                <a:spcPts val="225"/>
              </a:spcAft>
            </a:pPr>
            <a:r>
              <a:rPr sz="975" b="1">
                <a:solidFill>
                  <a:srgbClr val="FFFFFF"/>
                </a:solidFill>
                <a:latin typeface="Calibri"/>
              </a:rPr>
              <a:t>BigQuery </a:t>
            </a:r>
            <a:r>
              <a:rPr sz="825">
                <a:solidFill>
                  <a:srgbClr val="B8D4D0"/>
                </a:solidFill>
                <a:latin typeface="Calibri"/>
              </a:rPr>
              <a:t>· a4i_econ · property graph LocalEconomy, queried with GQL · Enterprise reservation</a:t>
            </a:r>
          </a:p>
          <a:p>
            <a:pPr>
              <a:spcAft>
                <a:spcPts val="225"/>
              </a:spcAft>
            </a:pPr>
            <a:r>
              <a:rPr sz="825">
                <a:solidFill>
                  <a:srgbClr val="FFFFFF"/>
                </a:solidFill>
                <a:latin typeface="Calibri"/>
              </a:rPr>
              <a:t>businesses · employer_blocks · supplies · draws_footfall_from · borrowed_from · tract_demographics</a:t>
            </a:r>
          </a:p>
        </p:txBody>
      </p:sp>
      <p:cxnSp>
        <p:nvCxnSpPr>
          <p:cNvPr id="46" name="Connector 45"/>
          <p:cNvCxnSpPr/>
          <p:nvPr/>
        </p:nvCxnSpPr>
        <p:spPr>
          <a:xfrm>
            <a:off x="4142232" y="4046220"/>
            <a:ext cx="0" cy="240031"/>
          </a:xfrm>
          <a:prstGeom prst="line">
            <a:avLst/>
          </a:prstGeom>
          <a:ln w="22225">
            <a:solidFill>
              <a:srgbClr val="1F6F6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Legend"/>
          <p:cNvSpPr/>
          <p:nvPr/>
        </p:nvSpPr>
        <p:spPr>
          <a:xfrm>
            <a:off x="342900" y="3566160"/>
            <a:ext cx="1577340" cy="1255014"/>
          </a:xfrm>
          <a:prstGeom prst="roundRect">
            <a:avLst>
              <a:gd name="adj" fmla="val 6557"/>
            </a:avLst>
          </a:prstGeom>
          <a:solidFill>
            <a:srgbClr val="FFFFFF"/>
          </a:solidFill>
          <a:ln w="12700">
            <a:solidFill>
              <a:srgbClr val="B8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466344" y="3634740"/>
            <a:ext cx="1330452" cy="150041"/>
          </a:xfrm>
          <a:prstGeom prst="rect">
            <a:avLst/>
          </a:prstGeom>
          <a:noFill/>
        </p:spPr>
        <p:txBody>
          <a:bodyPr wrap="square" lIns="0" tIns="0" rIns="0" bIns="0" anchor="t">
            <a:spAutoFit/>
          </a:bodyPr>
          <a:lstStyle/>
          <a:p>
            <a:pPr>
              <a:spcAft>
                <a:spcPts val="225"/>
              </a:spcAft>
            </a:pPr>
            <a:r>
              <a:rPr sz="975" b="1">
                <a:solidFill>
                  <a:srgbClr val="12343B"/>
                </a:solidFill>
                <a:latin typeface="Calibri"/>
              </a:rPr>
              <a:t>How they talk</a:t>
            </a:r>
          </a:p>
        </p:txBody>
      </p:sp>
      <p:cxnSp>
        <p:nvCxnSpPr>
          <p:cNvPr id="49" name="Connector 48"/>
          <p:cNvCxnSpPr/>
          <p:nvPr/>
        </p:nvCxnSpPr>
        <p:spPr>
          <a:xfrm>
            <a:off x="466344" y="3963924"/>
            <a:ext cx="342900" cy="0"/>
          </a:xfrm>
          <a:prstGeom prst="line">
            <a:avLst/>
          </a:prstGeom>
          <a:ln w="22225">
            <a:solidFill>
              <a:srgbClr val="C27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91541" y="3907304"/>
            <a:ext cx="925829" cy="126958"/>
          </a:xfrm>
          <a:prstGeom prst="rect">
            <a:avLst/>
          </a:prstGeom>
          <a:noFill/>
        </p:spPr>
        <p:txBody>
          <a:bodyPr wrap="square" lIns="0" tIns="0" rIns="0" bIns="0" anchor="ctr">
            <a:spAutoFit/>
          </a:bodyPr>
          <a:lstStyle/>
          <a:p>
            <a:pPr>
              <a:spcAft>
                <a:spcPts val="225"/>
              </a:spcAft>
            </a:pPr>
            <a:r>
              <a:rPr sz="825">
                <a:solidFill>
                  <a:srgbClr val="4A5A5D"/>
                </a:solidFill>
                <a:latin typeface="Calibri"/>
              </a:rPr>
              <a:t>HTTPS request</a:t>
            </a:r>
          </a:p>
        </p:txBody>
      </p:sp>
      <p:cxnSp>
        <p:nvCxnSpPr>
          <p:cNvPr id="51" name="Connector 50"/>
          <p:cNvCxnSpPr/>
          <p:nvPr/>
        </p:nvCxnSpPr>
        <p:spPr>
          <a:xfrm>
            <a:off x="466344" y="4169664"/>
            <a:ext cx="342900" cy="0"/>
          </a:xfrm>
          <a:prstGeom prst="line">
            <a:avLst/>
          </a:prstGeom>
          <a:ln w="22225">
            <a:solidFill>
              <a:srgbClr val="1F6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91541" y="4113044"/>
            <a:ext cx="925829" cy="126958"/>
          </a:xfrm>
          <a:prstGeom prst="rect">
            <a:avLst/>
          </a:prstGeom>
          <a:noFill/>
        </p:spPr>
        <p:txBody>
          <a:bodyPr wrap="square" lIns="0" tIns="0" rIns="0" bIns="0" anchor="ctr">
            <a:spAutoFit/>
          </a:bodyPr>
          <a:lstStyle/>
          <a:p>
            <a:pPr>
              <a:spcAft>
                <a:spcPts val="225"/>
              </a:spcAft>
            </a:pPr>
            <a:r>
              <a:rPr sz="825">
                <a:solidFill>
                  <a:srgbClr val="4A5A5D"/>
                </a:solidFill>
                <a:latin typeface="Calibri"/>
              </a:rPr>
              <a:t>ADK state handoff</a:t>
            </a:r>
          </a:p>
        </p:txBody>
      </p:sp>
      <p:cxnSp>
        <p:nvCxnSpPr>
          <p:cNvPr id="53" name="Connector 52"/>
          <p:cNvCxnSpPr/>
          <p:nvPr/>
        </p:nvCxnSpPr>
        <p:spPr>
          <a:xfrm>
            <a:off x="466344" y="4375404"/>
            <a:ext cx="342900" cy="0"/>
          </a:xfrm>
          <a:prstGeom prst="line">
            <a:avLst/>
          </a:prstGeom>
          <a:ln w="22225">
            <a:solidFill>
              <a:srgbClr val="1F6F6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891541" y="4318784"/>
            <a:ext cx="925829" cy="126958"/>
          </a:xfrm>
          <a:prstGeom prst="rect">
            <a:avLst/>
          </a:prstGeom>
          <a:noFill/>
        </p:spPr>
        <p:txBody>
          <a:bodyPr wrap="square" lIns="0" tIns="0" rIns="0" bIns="0" anchor="ctr">
            <a:spAutoFit/>
          </a:bodyPr>
          <a:lstStyle/>
          <a:p>
            <a:pPr>
              <a:spcAft>
                <a:spcPts val="225"/>
              </a:spcAft>
            </a:pPr>
            <a:r>
              <a:rPr sz="825">
                <a:solidFill>
                  <a:srgbClr val="4A5A5D"/>
                </a:solidFill>
                <a:latin typeface="Calibri"/>
              </a:rPr>
              <a:t>MCP tool call</a:t>
            </a:r>
          </a:p>
        </p:txBody>
      </p:sp>
      <p:cxnSp>
        <p:nvCxnSpPr>
          <p:cNvPr id="55" name="Connector 54"/>
          <p:cNvCxnSpPr/>
          <p:nvPr/>
        </p:nvCxnSpPr>
        <p:spPr>
          <a:xfrm>
            <a:off x="466344" y="4581144"/>
            <a:ext cx="342900" cy="0"/>
          </a:xfrm>
          <a:prstGeom prst="line">
            <a:avLst/>
          </a:prstGeom>
          <a:ln w="22225">
            <a:solidFill>
              <a:srgbClr val="C27C00"/>
            </a:solidFill>
            <a:prstDash val="sysDot"/>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91541" y="4524524"/>
            <a:ext cx="925829" cy="126958"/>
          </a:xfrm>
          <a:prstGeom prst="rect">
            <a:avLst/>
          </a:prstGeom>
          <a:noFill/>
        </p:spPr>
        <p:txBody>
          <a:bodyPr wrap="square" lIns="0" tIns="0" rIns="0" bIns="0" anchor="ctr">
            <a:spAutoFit/>
          </a:bodyPr>
          <a:lstStyle/>
          <a:p>
            <a:pPr>
              <a:spcAft>
                <a:spcPts val="225"/>
              </a:spcAft>
            </a:pPr>
            <a:r>
              <a:rPr sz="825">
                <a:solidFill>
                  <a:srgbClr val="4A5A5D"/>
                </a:solidFill>
                <a:latin typeface="Calibri"/>
              </a:rPr>
              <a:t>Python function call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47472" y="237744"/>
            <a:ext cx="8430768" cy="393192"/>
          </a:xfrm>
          <a:prstGeom prst="rect">
            <a:avLst/>
          </a:prstGeom>
          <a:noFill/>
        </p:spPr>
        <p:txBody>
          <a:bodyPr wrap="square" anchor="t" lIns="0" rIns="0" tIns="0" bIns="0">
            <a:spAutoFit/>
          </a:bodyPr>
          <a:lstStyle/>
          <a:p>
            <a:r>
              <a:rPr sz="2550" b="1">
                <a:solidFill>
                  <a:srgbClr val="FFFFFF"/>
                </a:solidFill>
                <a:latin typeface="Calibri"/>
              </a:rPr>
              <a:t>One closure, two waves of damage, and no applicants yet</a:t>
            </a:r>
          </a:p>
        </p:txBody>
      </p:sp>
      <p:sp>
        <p:nvSpPr>
          <p:cNvPr id="3" name="Subtitle"/>
          <p:cNvSpPr txBox="1"/>
          <p:nvPr/>
        </p:nvSpPr>
        <p:spPr>
          <a:xfrm>
            <a:off x="347472" y="685800"/>
            <a:ext cx="8430768" cy="164592"/>
          </a:xfrm>
          <a:prstGeom prst="rect">
            <a:avLst/>
          </a:prstGeom>
          <a:noFill/>
        </p:spPr>
        <p:txBody>
          <a:bodyPr wrap="square" anchor="t" lIns="0" rIns="0" tIns="0" bIns="0">
            <a:spAutoFit/>
          </a:bodyPr>
          <a:lstStyle/>
          <a:p>
            <a:r>
              <a:rPr sz="1050" b="0">
                <a:solidFill>
                  <a:srgbClr val="B8C4C6"/>
                </a:solidFill>
                <a:latin typeface="Calibri"/>
              </a:rPr>
              <a:t>Anchor-closure track · Central Market, San Francisco · a major employer announces it leaves in 90 days, and no one has asked for help yet</a:t>
            </a:r>
          </a:p>
        </p:txBody>
      </p:sp>
      <p:sp>
        <p:nvSpPr>
          <p:cNvPr id="4" name="Cascade panel"/>
          <p:cNvSpPr/>
          <p:nvPr/>
        </p:nvSpPr>
        <p:spPr>
          <a:xfrm>
            <a:off x="347472" y="1060704"/>
            <a:ext cx="4846320" cy="3127248"/>
          </a:xfrm>
          <a:prstGeom prst="roundRect">
            <a:avLst>
              <a:gd name="adj" fmla="val 4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scade heading"/>
          <p:cNvSpPr txBox="1"/>
          <p:nvPr/>
        </p:nvSpPr>
        <p:spPr>
          <a:xfrm>
            <a:off x="512064" y="1152144"/>
            <a:ext cx="4572000" cy="201168"/>
          </a:xfrm>
          <a:prstGeom prst="rect">
            <a:avLst/>
          </a:prstGeom>
          <a:noFill/>
        </p:spPr>
        <p:txBody>
          <a:bodyPr wrap="square" anchor="t" lIns="0" rIns="0" tIns="0" bIns="0">
            <a:spAutoFit/>
          </a:bodyPr>
          <a:lstStyle/>
          <a:p>
            <a:r>
              <a:rPr sz="1125" b="1">
                <a:solidFill>
                  <a:srgbClr val="12343B"/>
                </a:solidFill>
                <a:latin typeface="Calibri"/>
              </a:rPr>
              <a:t>How one closure spreads</a:t>
            </a:r>
          </a:p>
        </p:txBody>
      </p:sp>
      <p:sp>
        <p:nvSpPr>
          <p:cNvPr id="6" name="Wave 0"/>
          <p:cNvSpPr/>
          <p:nvPr/>
        </p:nvSpPr>
        <p:spPr>
          <a:xfrm>
            <a:off x="512064" y="1481328"/>
            <a:ext cx="1261872" cy="1481328"/>
          </a:xfrm>
          <a:prstGeom prst="roundRect">
            <a:avLst>
              <a:gd name="adj" fmla="val 8000"/>
            </a:avLst>
          </a:prstGeom>
          <a:solidFill>
            <a:srgbClr val="123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Wave 0 text"/>
          <p:cNvSpPr txBox="1"/>
          <p:nvPr/>
        </p:nvSpPr>
        <p:spPr>
          <a:xfrm>
            <a:off x="603504" y="1591056"/>
            <a:ext cx="1078992" cy="1261872"/>
          </a:xfrm>
          <a:prstGeom prst="rect">
            <a:avLst/>
          </a:prstGeom>
          <a:noFill/>
        </p:spPr>
        <p:txBody>
          <a:bodyPr wrap="square" anchor="t" lIns="0" rIns="0" tIns="0" bIns="0">
            <a:spAutoFit/>
          </a:bodyPr>
          <a:lstStyle/>
          <a:p>
            <a:r>
              <a:rPr sz="1050" b="1">
                <a:solidFill>
                  <a:srgbClr val="FFFFFF"/>
                </a:solidFill>
                <a:latin typeface="Calibri"/>
              </a:rPr>
              <a:t>Anchor employer</a:t>
            </a:r>
          </a:p>
          <a:p>
            <a:pPr>
              <a:spcBef>
                <a:spcPts val="200"/>
              </a:spcBef>
            </a:pPr>
            <a:r>
              <a:rPr sz="900" b="0">
                <a:solidFill>
                  <a:srgbClr val="B8C4C6"/>
                </a:solidFill>
                <a:latin typeface="Calibri"/>
              </a:rPr>
              <a:t>Office block closing in 90 days. Its workers stop coming.</a:t>
            </a:r>
          </a:p>
        </p:txBody>
      </p:sp>
      <p:sp>
        <p:nvSpPr>
          <p:cNvPr id="8" name="Wave 0 route"/>
          <p:cNvSpPr txBox="1"/>
          <p:nvPr/>
        </p:nvSpPr>
        <p:spPr>
          <a:xfrm>
            <a:off x="603504" y="2651760"/>
            <a:ext cx="1078992" cy="219456"/>
          </a:xfrm>
          <a:prstGeom prst="rect">
            <a:avLst/>
          </a:prstGeom>
          <a:noFill/>
        </p:spPr>
        <p:txBody>
          <a:bodyPr wrap="square" anchor="b" lIns="0" rIns="0" tIns="0" bIns="0">
            <a:spAutoFit/>
          </a:bodyPr>
          <a:lstStyle/>
          <a:p>
            <a:r>
              <a:rPr sz="825" b="1">
                <a:solidFill>
                  <a:srgbClr val="B8D4D0"/>
                </a:solidFill>
                <a:latin typeface="Calibri"/>
              </a:rPr>
              <a:t>Graph seed: employer_blocks</a:t>
            </a:r>
          </a:p>
        </p:txBody>
      </p:sp>
      <p:sp>
        <p:nvSpPr>
          <p:cNvPr id="9" name="Wave 1"/>
          <p:cNvSpPr/>
          <p:nvPr/>
        </p:nvSpPr>
        <p:spPr>
          <a:xfrm>
            <a:off x="2048256" y="1481328"/>
            <a:ext cx="1261872" cy="1481328"/>
          </a:xfrm>
          <a:prstGeom prst="roundRect">
            <a:avLst>
              <a:gd name="adj" fmla="val 8000"/>
            </a:avLst>
          </a:prstGeom>
          <a:solidFill>
            <a:srgbClr val="FFFFFF"/>
          </a:solidFill>
          <a:ln w="19050">
            <a:solidFill>
              <a:srgbClr val="1F6F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Wave 1 text"/>
          <p:cNvSpPr txBox="1"/>
          <p:nvPr/>
        </p:nvSpPr>
        <p:spPr>
          <a:xfrm>
            <a:off x="2139696" y="1591056"/>
            <a:ext cx="1078992" cy="1261872"/>
          </a:xfrm>
          <a:prstGeom prst="rect">
            <a:avLst/>
          </a:prstGeom>
          <a:noFill/>
        </p:spPr>
        <p:txBody>
          <a:bodyPr wrap="square" anchor="t" lIns="0" rIns="0" tIns="0" bIns="0">
            <a:spAutoFit/>
          </a:bodyPr>
          <a:lstStyle/>
          <a:p>
            <a:r>
              <a:rPr sz="1050" b="1">
                <a:solidFill>
                  <a:srgbClr val="12343B"/>
                </a:solidFill>
                <a:latin typeface="Calibri"/>
              </a:rPr>
              <a:t>First wave</a:t>
            </a:r>
          </a:p>
          <a:p>
            <a:pPr>
              <a:spcBef>
                <a:spcPts val="200"/>
              </a:spcBef>
            </a:pPr>
            <a:r>
              <a:rPr sz="900" b="0">
                <a:solidFill>
                  <a:srgbClr val="4A5A5D"/>
                </a:solidFill>
                <a:latin typeface="Calibri"/>
              </a:rPr>
              <a:t>Lunch counters, dry cleaners and shops that rely on those workers lose weekday trade.</a:t>
            </a:r>
          </a:p>
        </p:txBody>
      </p:sp>
      <p:sp>
        <p:nvSpPr>
          <p:cNvPr id="11" name="Wave 1 route"/>
          <p:cNvSpPr txBox="1"/>
          <p:nvPr/>
        </p:nvSpPr>
        <p:spPr>
          <a:xfrm>
            <a:off x="2139696" y="2651760"/>
            <a:ext cx="1078992" cy="219456"/>
          </a:xfrm>
          <a:prstGeom prst="rect">
            <a:avLst/>
          </a:prstGeom>
          <a:noFill/>
        </p:spPr>
        <p:txBody>
          <a:bodyPr wrap="square" anchor="b" lIns="0" rIns="0" tIns="0" bIns="0">
            <a:spAutoFit/>
          </a:bodyPr>
          <a:lstStyle/>
          <a:p>
            <a:r>
              <a:rPr sz="825" b="1">
                <a:solidFill>
                  <a:srgbClr val="1F6F6B"/>
                </a:solidFill>
                <a:latin typeface="Calibri"/>
              </a:rPr>
              <a:t>Forward along DrawsFootfall</a:t>
            </a:r>
          </a:p>
        </p:txBody>
      </p:sp>
      <p:sp>
        <p:nvSpPr>
          <p:cNvPr id="12" name="Wave 2"/>
          <p:cNvSpPr/>
          <p:nvPr/>
        </p:nvSpPr>
        <p:spPr>
          <a:xfrm>
            <a:off x="3584448" y="1481328"/>
            <a:ext cx="1261872" cy="1481328"/>
          </a:xfrm>
          <a:prstGeom prst="roundRect">
            <a:avLst>
              <a:gd name="adj" fmla="val 8000"/>
            </a:avLst>
          </a:prstGeom>
          <a:solidFill>
            <a:srgbClr val="FFFFFF"/>
          </a:solidFill>
          <a:ln w="19050">
            <a:solidFill>
              <a:srgbClr val="C27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Wave 2 text"/>
          <p:cNvSpPr txBox="1"/>
          <p:nvPr/>
        </p:nvSpPr>
        <p:spPr>
          <a:xfrm>
            <a:off x="3675887" y="1591056"/>
            <a:ext cx="1078992" cy="1261872"/>
          </a:xfrm>
          <a:prstGeom prst="rect">
            <a:avLst/>
          </a:prstGeom>
          <a:noFill/>
        </p:spPr>
        <p:txBody>
          <a:bodyPr wrap="square" anchor="t" lIns="0" rIns="0" tIns="0" bIns="0">
            <a:spAutoFit/>
          </a:bodyPr>
          <a:lstStyle/>
          <a:p>
            <a:r>
              <a:rPr sz="1050" b="1">
                <a:solidFill>
                  <a:srgbClr val="12343B"/>
                </a:solidFill>
                <a:latin typeface="Calibri"/>
              </a:rPr>
              <a:t>Second wave</a:t>
            </a:r>
          </a:p>
          <a:p>
            <a:pPr>
              <a:spcBef>
                <a:spcPts val="200"/>
              </a:spcBef>
            </a:pPr>
            <a:r>
              <a:rPr sz="900" b="0">
                <a:solidFill>
                  <a:srgbClr val="4A5A5D"/>
                </a:solidFill>
                <a:latin typeface="Calibri"/>
              </a:rPr>
              <a:t>Their suppliers, like the wholesale grocer, lose buyers, though they are nowhere near the anchor.</a:t>
            </a:r>
          </a:p>
        </p:txBody>
      </p:sp>
      <p:sp>
        <p:nvSpPr>
          <p:cNvPr id="14" name="Wave 2 route"/>
          <p:cNvSpPr txBox="1"/>
          <p:nvPr/>
        </p:nvSpPr>
        <p:spPr>
          <a:xfrm>
            <a:off x="3675887" y="2651760"/>
            <a:ext cx="1078992" cy="219456"/>
          </a:xfrm>
          <a:prstGeom prst="rect">
            <a:avLst/>
          </a:prstGeom>
          <a:noFill/>
        </p:spPr>
        <p:txBody>
          <a:bodyPr wrap="square" anchor="b" lIns="0" rIns="0" tIns="0" bIns="0">
            <a:spAutoFit/>
          </a:bodyPr>
          <a:lstStyle/>
          <a:p>
            <a:r>
              <a:rPr sz="825" b="1">
                <a:solidFill>
                  <a:srgbClr val="C27C00"/>
                </a:solidFill>
                <a:latin typeface="Calibri"/>
              </a:rPr>
              <a:t>Backward along Supplies</a:t>
            </a:r>
          </a:p>
        </p:txBody>
      </p:sp>
      <p:cxnSp>
        <p:nvCxnSpPr>
          <p:cNvPr id="15" name="Footfall arrow"/>
          <p:cNvCxnSpPr/>
          <p:nvPr/>
        </p:nvCxnSpPr>
        <p:spPr>
          <a:xfrm>
            <a:off x="1801368" y="2221992"/>
            <a:ext cx="219456" cy="0"/>
          </a:xfrm>
          <a:prstGeom prst="line">
            <a:avLst/>
          </a:prstGeom>
          <a:ln w="25400">
            <a:solidFill>
              <a:srgbClr val="1F6F6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upply arrow"/>
          <p:cNvCxnSpPr/>
          <p:nvPr/>
        </p:nvCxnSpPr>
        <p:spPr>
          <a:xfrm flipH="1">
            <a:off x="3337559" y="2221992"/>
            <a:ext cx="219457" cy="0"/>
          </a:xfrm>
          <a:prstGeom prst="line">
            <a:avLst/>
          </a:prstGeom>
          <a:ln w="25400">
            <a:solidFill>
              <a:srgbClr val="C27C00"/>
            </a:solidFill>
            <a:tailEnd type="triangle"/>
          </a:ln>
        </p:spPr>
        <p:style>
          <a:lnRef idx="2">
            <a:schemeClr val="accent1"/>
          </a:lnRef>
          <a:fillRef idx="0">
            <a:schemeClr val="accent1"/>
          </a:fillRef>
          <a:effectRef idx="1">
            <a:schemeClr val="accent1"/>
          </a:effectRef>
          <a:fontRef idx="minor">
            <a:schemeClr val="tx1"/>
          </a:fontRef>
        </p:style>
      </p:cxnSp>
      <p:sp>
        <p:nvSpPr>
          <p:cNvPr id="17" name="Arrow key"/>
          <p:cNvSpPr txBox="1"/>
          <p:nvPr/>
        </p:nvSpPr>
        <p:spPr>
          <a:xfrm>
            <a:off x="512064" y="3072384"/>
            <a:ext cx="4517136" cy="182880"/>
          </a:xfrm>
          <a:prstGeom prst="rect">
            <a:avLst/>
          </a:prstGeom>
          <a:noFill/>
        </p:spPr>
        <p:txBody>
          <a:bodyPr wrap="square" anchor="t" lIns="0" rIns="0" tIns="0" bIns="0">
            <a:spAutoFit/>
          </a:bodyPr>
          <a:lstStyle/>
          <a:p>
            <a:r>
              <a:rPr sz="825" b="0">
                <a:solidFill>
                  <a:srgbClr val="4A5A5D"/>
                </a:solidFill>
                <a:latin typeface="Calibri"/>
              </a:rPr>
              <a:t>Teal: footfall the anchor sends.  Amber: supply links the harm travels back along.</a:t>
            </a:r>
          </a:p>
        </p:txBody>
      </p:sp>
      <p:sp>
        <p:nvSpPr>
          <p:cNvPr id="18" name="Gap callout"/>
          <p:cNvSpPr/>
          <p:nvPr/>
        </p:nvSpPr>
        <p:spPr>
          <a:xfrm>
            <a:off x="512064" y="3346704"/>
            <a:ext cx="4517136"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ap callout text"/>
          <p:cNvSpPr txBox="1"/>
          <p:nvPr/>
        </p:nvSpPr>
        <p:spPr>
          <a:xfrm>
            <a:off x="640080" y="3401568"/>
            <a:ext cx="4261104" cy="603504"/>
          </a:xfrm>
          <a:prstGeom prst="rect">
            <a:avLst/>
          </a:prstGeom>
          <a:noFill/>
        </p:spPr>
        <p:txBody>
          <a:bodyPr wrap="square" anchor="ctr" lIns="0" rIns="0" tIns="0" bIns="0">
            <a:spAutoFit/>
          </a:bodyPr>
          <a:lstStyle/>
          <a:p>
            <a:r>
              <a:rPr sz="1050" b="1">
                <a:solidFill>
                  <a:srgbClr val="12343B"/>
                </a:solidFill>
                <a:latin typeface="Calibri"/>
              </a:rPr>
              <a:t>The gap today</a:t>
            </a:r>
          </a:p>
          <a:p>
            <a:pPr>
              <a:spcBef>
                <a:spcPts val="200"/>
              </a:spcBef>
            </a:pPr>
            <a:r>
              <a:rPr sz="900" b="0">
                <a:solidFill>
                  <a:srgbClr val="4A5A5D"/>
                </a:solidFill>
                <a:latin typeface="Calibri"/>
              </a:rPr>
              <a:t>Relief programs rank the businesses that apply by how distressed they are. In this case nobody has applied, and the second wave never will, because it does not know the closure reaches it.</a:t>
            </a:r>
          </a:p>
        </p:txBody>
      </p:sp>
      <p:sp>
        <p:nvSpPr>
          <p:cNvPr id="20" name="Benefits heading"/>
          <p:cNvSpPr txBox="1"/>
          <p:nvPr/>
        </p:nvSpPr>
        <p:spPr>
          <a:xfrm>
            <a:off x="5413248" y="1097280"/>
            <a:ext cx="3383280" cy="201168"/>
          </a:xfrm>
          <a:prstGeom prst="rect">
            <a:avLst/>
          </a:prstGeom>
          <a:noFill/>
        </p:spPr>
        <p:txBody>
          <a:bodyPr wrap="square" anchor="t" lIns="0" rIns="0" tIns="0" bIns="0">
            <a:spAutoFit/>
          </a:bodyPr>
          <a:lstStyle/>
          <a:p>
            <a:r>
              <a:rPr sz="1125" b="1">
                <a:solidFill>
                  <a:srgbClr val="FFFFFF"/>
                </a:solidFill>
                <a:latin typeface="Calibri"/>
              </a:rPr>
              <a:t>Who benefits</a:t>
            </a:r>
          </a:p>
        </p:txBody>
      </p:sp>
      <p:sp>
        <p:nvSpPr>
          <p:cNvPr id="21" name="Benefit 1"/>
          <p:cNvSpPr/>
          <p:nvPr/>
        </p:nvSpPr>
        <p:spPr>
          <a:xfrm>
            <a:off x="5413248" y="1371600"/>
            <a:ext cx="3383280" cy="859536"/>
          </a:xfrm>
          <a:prstGeom prst="roundRect">
            <a:avLst>
              <a:gd name="adj" fmla="val 8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enefit 1 text"/>
          <p:cNvSpPr txBox="1"/>
          <p:nvPr/>
        </p:nvSpPr>
        <p:spPr>
          <a:xfrm>
            <a:off x="5522976" y="1444752"/>
            <a:ext cx="3182112" cy="713232"/>
          </a:xfrm>
          <a:prstGeom prst="rect">
            <a:avLst/>
          </a:prstGeom>
          <a:noFill/>
        </p:spPr>
        <p:txBody>
          <a:bodyPr wrap="square" anchor="ctr" lIns="0" rIns="0" tIns="0" bIns="0">
            <a:spAutoFit/>
          </a:bodyPr>
          <a:lstStyle/>
          <a:p>
            <a:r>
              <a:rPr sz="1050" b="1">
                <a:solidFill>
                  <a:srgbClr val="1F6F6B"/>
                </a:solidFill>
                <a:latin typeface="Calibri"/>
              </a:rPr>
              <a:t>City economic-development officers</a:t>
            </a:r>
          </a:p>
          <a:p>
            <a:pPr>
              <a:spcBef>
                <a:spcPts val="200"/>
              </a:spcBef>
            </a:pPr>
            <a:r>
              <a:rPr sz="900" b="0">
                <a:solidFill>
                  <a:srgbClr val="4A5A5D"/>
                </a:solidFill>
                <a:latin typeface="Calibri"/>
              </a:rPr>
              <a:t>See the whole cascade and act within the 90 days, not after the closures.</a:t>
            </a:r>
          </a:p>
        </p:txBody>
      </p:sp>
      <p:sp>
        <p:nvSpPr>
          <p:cNvPr id="23" name="Benefit 2"/>
          <p:cNvSpPr/>
          <p:nvPr/>
        </p:nvSpPr>
        <p:spPr>
          <a:xfrm>
            <a:off x="5413248" y="2322576"/>
            <a:ext cx="3383280" cy="859536"/>
          </a:xfrm>
          <a:prstGeom prst="roundRect">
            <a:avLst>
              <a:gd name="adj" fmla="val 8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enefit 2 text"/>
          <p:cNvSpPr txBox="1"/>
          <p:nvPr/>
        </p:nvSpPr>
        <p:spPr>
          <a:xfrm>
            <a:off x="5522976" y="2395728"/>
            <a:ext cx="3182112" cy="713232"/>
          </a:xfrm>
          <a:prstGeom prst="rect">
            <a:avLst/>
          </a:prstGeom>
          <a:noFill/>
        </p:spPr>
        <p:txBody>
          <a:bodyPr wrap="square" anchor="ctr" lIns="0" rIns="0" tIns="0" bIns="0">
            <a:spAutoFit/>
          </a:bodyPr>
          <a:lstStyle/>
          <a:p>
            <a:r>
              <a:rPr sz="1050" b="1">
                <a:solidFill>
                  <a:srgbClr val="1F6F6B"/>
                </a:solidFill>
                <a:latin typeface="Calibri"/>
              </a:rPr>
              <a:t>Exposed small businesses</a:t>
            </a:r>
          </a:p>
          <a:p>
            <a:pPr>
              <a:spcBef>
                <a:spcPts val="200"/>
              </a:spcBef>
            </a:pPr>
            <a:r>
              <a:rPr sz="900" b="0">
                <a:solidFill>
                  <a:srgbClr val="4A5A5D"/>
                </a:solidFill>
                <a:latin typeface="Calibri"/>
              </a:rPr>
              <a:t>Reached while still healthy, including suppliers that never served the anchor.</a:t>
            </a:r>
          </a:p>
        </p:txBody>
      </p:sp>
      <p:sp>
        <p:nvSpPr>
          <p:cNvPr id="25" name="Benefit 3"/>
          <p:cNvSpPr/>
          <p:nvPr/>
        </p:nvSpPr>
        <p:spPr>
          <a:xfrm>
            <a:off x="5413248" y="3273552"/>
            <a:ext cx="3383280" cy="859536"/>
          </a:xfrm>
          <a:prstGeom prst="roundRect">
            <a:avLst>
              <a:gd name="adj" fmla="val 8000"/>
            </a:avLst>
          </a:prstGeom>
          <a:solidFill>
            <a:srgbClr val="E3EF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enefit 3 text"/>
          <p:cNvSpPr txBox="1"/>
          <p:nvPr/>
        </p:nvSpPr>
        <p:spPr>
          <a:xfrm>
            <a:off x="5522976" y="3346704"/>
            <a:ext cx="3182112" cy="713232"/>
          </a:xfrm>
          <a:prstGeom prst="rect">
            <a:avLst/>
          </a:prstGeom>
          <a:noFill/>
        </p:spPr>
        <p:txBody>
          <a:bodyPr wrap="square" anchor="ctr" lIns="0" rIns="0" tIns="0" bIns="0">
            <a:spAutoFit/>
          </a:bodyPr>
          <a:lstStyle/>
          <a:p>
            <a:r>
              <a:rPr sz="1050" b="1">
                <a:solidFill>
                  <a:srgbClr val="1F6F6B"/>
                </a:solidFill>
                <a:latin typeface="Calibri"/>
              </a:rPr>
              <a:t>The neighborhoods around them</a:t>
            </a:r>
          </a:p>
          <a:p>
            <a:pPr>
              <a:spcBef>
                <a:spcPts val="200"/>
              </a:spcBef>
            </a:pPr>
            <a:r>
              <a:rPr sz="900" b="0">
                <a:solidFill>
                  <a:srgbClr val="4A5A5D"/>
                </a:solidFill>
                <a:latin typeface="Calibri"/>
              </a:rPr>
              <a:t>Grants weighed against census poverty, vehicle-access and public-assistance rates.</a:t>
            </a:r>
          </a:p>
        </p:txBody>
      </p:sp>
      <p:sp>
        <p:nvSpPr>
          <p:cNvPr id="27" name="Why it matters"/>
          <p:cNvSpPr/>
          <p:nvPr/>
        </p:nvSpPr>
        <p:spPr>
          <a:xfrm>
            <a:off x="347472" y="4334256"/>
            <a:ext cx="8458200" cy="530352"/>
          </a:xfrm>
          <a:prstGeom prst="roundRect">
            <a:avLst>
              <a:gd name="adj" fmla="val 1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nner text"/>
          <p:cNvSpPr txBox="1"/>
          <p:nvPr/>
        </p:nvSpPr>
        <p:spPr>
          <a:xfrm>
            <a:off x="512064" y="4389120"/>
            <a:ext cx="8129016" cy="420624"/>
          </a:xfrm>
          <a:prstGeom prst="rect">
            <a:avLst/>
          </a:prstGeom>
          <a:noFill/>
        </p:spPr>
        <p:txBody>
          <a:bodyPr wrap="square" anchor="ctr" lIns="0" rIns="0" tIns="0" bIns="0">
            <a:spAutoFit/>
          </a:bodyPr>
          <a:lstStyle/>
          <a:p>
            <a:r>
              <a:rPr sz="1050" b="1">
                <a:solidFill>
                  <a:srgbClr val="B8D4D0"/>
                </a:solidFill>
                <a:latin typeface="Calibri"/>
              </a:rPr>
              <a:t>Why it matters: </a:t>
            </a:r>
            <a:r>
              <a:rPr sz="1050" b="0">
                <a:solidFill>
                  <a:srgbClr val="FFFFFF"/>
                </a:solidFill>
                <a:latin typeface="Calibri"/>
              </a:rPr>
              <a:t>a commercial corridor is a network, not a list. One closure becomes many, and relief that waits for applications arrives after the businesses are gone.</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1570</Words>
  <Application>Microsoft Macintosh PowerPoint</Application>
  <PresentationFormat>On-screen Show (16:9)</PresentationFormat>
  <Paragraphs>154</Paragraphs>
  <Slides>10</Slides>
  <Notes>9</Notes>
  <HiddenSlides>1</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10</vt:i4>
      </vt:variant>
    </vt:vector>
  </HeadingPairs>
  <TitlesOfParts>
    <vt:vector size="18" baseType="lpstr">
      <vt:lpstr>Arial</vt:lpstr>
      <vt:lpstr>Calibri</vt:lpstr>
      <vt:lpstr>Google Sans</vt:lpstr>
      <vt:lpstr>Google Sans Flex</vt:lpstr>
      <vt:lpstr>Google Sans Flex Medium</vt:lpstr>
      <vt:lpstr>Google Sans Flex Thin</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Amogh Upadhyay</cp:lastModifiedBy>
  <cp:revision>2</cp:revision>
  <dcterms:modified xsi:type="dcterms:W3CDTF">2026-10-27T18:03:11Z</dcterms:modified>
</cp:coreProperties>
</file>