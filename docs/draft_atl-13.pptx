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  <p:sldMasterId id="2147483673" r:id="rId2"/>
  </p:sldMasterIdLst>
  <p:notesMasterIdLst>
    <p:notesMasterId r:id="rId9"/>
  </p:notesMasterIdLst>
  <p:sldIdLst>
    <p:sldId id="256" r:id="rId3"/>
    <p:sldId id="257" r:id="rId4"/>
    <p:sldId id="258" r:id="rId5"/>
    <p:sldId id="267" r:id="rId6"/>
    <p:sldId id="265" r:id="rId7"/>
    <p:sldId id="266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30">
          <p15:clr>
            <a:srgbClr val="747775"/>
          </p15:clr>
        </p15:guide>
        <p15:guide id="2" pos="144">
          <p15:clr>
            <a:srgbClr val="747775"/>
          </p15:clr>
        </p15:guide>
        <p15:guide id="3" orient="horz" pos="360">
          <p15:clr>
            <a:srgbClr val="747775"/>
          </p15:clr>
        </p15:guide>
        <p15:guide id="4" pos="446">
          <p15:clr>
            <a:srgbClr val="747775"/>
          </p15:clr>
        </p15:guide>
        <p15:guide id="5" pos="5477">
          <p15:clr>
            <a:srgbClr val="747775"/>
          </p15:clr>
        </p15:guide>
        <p15:guide id="6" orient="horz" pos="1253">
          <p15:clr>
            <a:srgbClr val="747775"/>
          </p15:clr>
        </p15:guide>
        <p15:guide id="7" pos="284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530251-C406-4842-BE4E-697FB0008ECC}">
  <a:tblStyle styleId="{B0530251-C406-4842-BE4E-697FB0008E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4675"/>
  </p:normalViewPr>
  <p:slideViewPr>
    <p:cSldViewPr snapToGrid="0">
      <p:cViewPr varScale="1">
        <p:scale>
          <a:sx n="159" d="100"/>
          <a:sy n="159" d="100"/>
        </p:scale>
        <p:origin x="216" y="176"/>
      </p:cViewPr>
      <p:guideLst>
        <p:guide orient="horz" pos="3130"/>
        <p:guide pos="144"/>
        <p:guide orient="horz" pos="360"/>
        <p:guide pos="446"/>
        <p:guide pos="5477"/>
        <p:guide orient="horz" pos="1253"/>
        <p:guide pos="28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76d7e2a9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76d7e2a9b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52fa8b8a4798773f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h52fa8b8a4798773f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52fa8b8a4798773f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52fa8b8a4798773f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Our user is the city's economic-development officer in the anchor-closure track: an employer has announced it leaves in 90 days, there is a $50,000 fund, and nobody has applied yet. The officer clicks the closing employer, sets the budget and an assumption about what a grant changes. The agent walks the graph to the shops that lose weekday trade and then backward to their suppliers, and the map shows every path. Hovering a business gives its grant, what it protects and why it beat the runner-up. The officer can change the assumption and rerun, then export a grant memo that states its assumptions and which evidence is modeled. The change: help arrives inside the 90-day window instead of after closures, and every dollar comes with a case the officer can defend.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officer picks a closing employer block, a budget and an assumption about what a grant changes. The map posts that scenario to our ADK root agent on Agent Runtime, a </a:t>
            </a:r>
            <a:r>
              <a:rPr dirty="0" err="1"/>
              <a:t>SequentialAgent</a:t>
            </a:r>
            <a:r>
              <a:rPr dirty="0"/>
              <a:t> with four Gemini sub-agents. Each writes its result into shared session state for the next one. The Cascade Scout and Risk Assessor reach </a:t>
            </a:r>
            <a:r>
              <a:rPr dirty="0" err="1"/>
              <a:t>BigQuery</a:t>
            </a:r>
            <a:r>
              <a:rPr dirty="0"/>
              <a:t> through MCP Toolbox, which runs our two-leg GQL traversal on the property graph. The Allocator and Memo Writer call our own Python tools, so every dollar amount is computed, not generated. The result comes back as </a:t>
            </a:r>
            <a:r>
              <a:rPr dirty="0" err="1"/>
              <a:t>decisions.json</a:t>
            </a:r>
            <a:r>
              <a:rPr dirty="0"/>
              <a:t>, which the map reads so hovering is instant.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noFill/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11" name="Google Shape;11;p2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4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121317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5" title="Asset 1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1200" y="1779099"/>
            <a:ext cx="2861000" cy="189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4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1pPr>
            <a:lvl2pPr lvl="1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2pPr>
            <a:lvl3pPr lvl="2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3pPr>
            <a:lvl4pPr lvl="3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4pPr>
            <a:lvl5pPr lvl="4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5pPr>
            <a:lvl6pPr lvl="5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6pPr>
            <a:lvl7pPr lvl="6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7pPr>
            <a:lvl8pPr lvl="7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8pPr>
            <a:lvl9pPr lvl="8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6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2" name="Google Shape;6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6326" y="689350"/>
            <a:ext cx="2707675" cy="376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1pPr>
            <a:lvl2pPr lvl="1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2pPr>
            <a:lvl3pPr lvl="2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3pPr>
            <a:lvl4pPr lvl="3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4pPr>
            <a:lvl5pPr lvl="4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5pPr>
            <a:lvl6pPr lvl="5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6pPr>
            <a:lvl7pPr lvl="6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7pPr>
            <a:lvl8pPr lvl="7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8pPr>
            <a:lvl9pPr lvl="8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17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7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67" name="Google Shape;67;p17"/>
          <p:cNvSpPr txBox="1"/>
          <p:nvPr/>
        </p:nvSpPr>
        <p:spPr>
          <a:xfrm>
            <a:off x="577750" y="514609"/>
            <a:ext cx="28377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Our Team</a:t>
            </a:r>
            <a:endParaRPr sz="45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1pPr>
            <a:lvl2pPr lvl="1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2pPr>
            <a:lvl3pPr lvl="2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3pPr>
            <a:lvl4pPr lvl="3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4pPr>
            <a:lvl5pPr lvl="4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5pPr>
            <a:lvl6pPr lvl="5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6pPr>
            <a:lvl7pPr lvl="6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7pPr>
            <a:lvl8pPr lvl="7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8pPr>
            <a:lvl9pPr lvl="8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" name="Google Shape;70;p18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8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2" name="Google Shape;72;p18"/>
          <p:cNvSpPr txBox="1"/>
          <p:nvPr/>
        </p:nvSpPr>
        <p:spPr>
          <a:xfrm>
            <a:off x="2380650" y="654125"/>
            <a:ext cx="4382700" cy="16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Challenge</a:t>
            </a:r>
            <a:endParaRPr sz="6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Overview</a:t>
            </a:r>
            <a:endParaRPr sz="6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1pPr>
            <a:lvl2pPr lvl="1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2pPr>
            <a:lvl3pPr lvl="2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3pPr>
            <a:lvl4pPr lvl="3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4pPr>
            <a:lvl5pPr lvl="4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5pPr>
            <a:lvl6pPr lvl="5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6pPr>
            <a:lvl7pPr lvl="6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7pPr>
            <a:lvl8pPr lvl="7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8pPr>
            <a:lvl9pPr lvl="8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" name="Google Shape;75;p19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9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7" name="Google Shape;77;p19"/>
          <p:cNvSpPr txBox="1"/>
          <p:nvPr/>
        </p:nvSpPr>
        <p:spPr>
          <a:xfrm>
            <a:off x="2380650" y="1111325"/>
            <a:ext cx="4382700" cy="16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Impact</a:t>
            </a:r>
            <a:endParaRPr sz="6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1pPr>
            <a:lvl2pPr lvl="1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2pPr>
            <a:lvl3pPr lvl="2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3pPr>
            <a:lvl4pPr lvl="3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4pPr>
            <a:lvl5pPr lvl="4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5pPr>
            <a:lvl6pPr lvl="5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6pPr>
            <a:lvl7pPr lvl="6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7pPr>
            <a:lvl8pPr lvl="7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8pPr>
            <a:lvl9pPr lvl="8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20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0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82" name="Google Shape;82;p20"/>
          <p:cNvSpPr txBox="1"/>
          <p:nvPr/>
        </p:nvSpPr>
        <p:spPr>
          <a:xfrm>
            <a:off x="-207025" y="490822"/>
            <a:ext cx="4382700" cy="1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Sources</a:t>
            </a:r>
            <a:endParaRPr sz="6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E46962"/>
          </p15:clr>
        </p15:guide>
        <p15:guide id="2" pos="379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/>
        </p:nvSpPr>
        <p:spPr>
          <a:xfrm>
            <a:off x="918646" y="662463"/>
            <a:ext cx="2679600" cy="1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</a:t>
            </a:r>
            <a:endParaRPr sz="3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   Architecture</a:t>
            </a:r>
            <a:endParaRPr sz="3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1pPr>
            <a:lvl2pPr lvl="1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2pPr>
            <a:lvl3pPr lvl="2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3pPr>
            <a:lvl4pPr lvl="3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4pPr>
            <a:lvl5pPr lvl="4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5pPr>
            <a:lvl6pPr lvl="5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6pPr>
            <a:lvl7pPr lvl="6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7pPr>
            <a:lvl8pPr lvl="7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8pPr>
            <a:lvl9pPr lvl="8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21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1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E46962"/>
          </p15:clr>
        </p15:guide>
        <p15:guide id="2" pos="379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105" name="Google Shape;105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121317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131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/>
        </p:nvSpPr>
        <p:spPr>
          <a:xfrm>
            <a:off x="577752" y="405687"/>
            <a:ext cx="4382700" cy="12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Instructions</a:t>
            </a:r>
            <a:endParaRPr sz="45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" name="Google Shape;11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6326" y="689350"/>
            <a:ext cx="2707675" cy="376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>
            <a:spLocks noGrp="1"/>
          </p:cNvSpPr>
          <p:nvPr>
            <p:ph type="sldNum" idx="12"/>
          </p:nvPr>
        </p:nvSpPr>
        <p:spPr>
          <a:xfrm>
            <a:off x="8365633" y="473065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Google Sans Flex"/>
                <a:ea typeface="Google Sans Flex"/>
                <a:cs typeface="Google Sans Flex"/>
                <a:sym typeface="Google Sans Flex"/>
              </a:rPr>
              <a:t>1</a:t>
            </a:fld>
            <a:endParaRPr sz="8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14" name="Google Shape;114;p27"/>
          <p:cNvSpPr txBox="1"/>
          <p:nvPr/>
        </p:nvSpPr>
        <p:spPr>
          <a:xfrm>
            <a:off x="577750" y="1305100"/>
            <a:ext cx="5333400" cy="3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ogle Sans Flex"/>
              <a:buAutoNum type="arabicPeriod"/>
            </a:pPr>
            <a:r>
              <a:rPr lang="en" sz="15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Use this slide template as the pitch deck you will submit, please </a:t>
            </a:r>
            <a:r>
              <a:rPr lang="en" sz="1500" b="1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do NOT</a:t>
            </a:r>
            <a:r>
              <a:rPr lang="en" sz="15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add any additional slides. Any additional slides may not be reviewed as part of your submission. You should have</a:t>
            </a:r>
            <a:r>
              <a:rPr lang="en" sz="1500" b="1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6 slides total.</a:t>
            </a:r>
            <a:r>
              <a:rPr lang="en" sz="15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</a:t>
            </a:r>
            <a:endParaRPr sz="15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ogle Sans Flex"/>
              <a:buAutoNum type="arabicPeriod"/>
            </a:pPr>
            <a:r>
              <a:rPr lang="en" sz="15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“Our Team” slide, slide 3, needs to be completely filled out.</a:t>
            </a:r>
            <a:endParaRPr sz="15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ogle Sans Flex"/>
              <a:buAutoNum type="arabicPeriod"/>
            </a:pPr>
            <a:r>
              <a:rPr lang="en" sz="15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Reminder- you must also submit: </a:t>
            </a:r>
            <a:endParaRPr sz="15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oogle Sans"/>
              <a:buAutoNum type="alphaLcPeriod"/>
            </a:pPr>
            <a:r>
              <a:rPr lang="en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Your squad environment link </a:t>
            </a:r>
            <a:endParaRPr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oogle Sans"/>
              <a:buAutoNum type="alphaLcPeriod"/>
            </a:pPr>
            <a:r>
              <a:rPr lang="en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Your demo / live app link</a:t>
            </a:r>
            <a:endParaRPr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oogle Sans"/>
              <a:buAutoNum type="alphaLcPeriod"/>
            </a:pPr>
            <a:r>
              <a:rPr lang="en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Your Github repo link </a:t>
            </a:r>
            <a:endParaRPr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oogle Sans"/>
              <a:buAutoNum type="alphaLcPeriod"/>
            </a:pPr>
            <a:r>
              <a:rPr lang="en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Recorded pitch video, </a:t>
            </a:r>
            <a:r>
              <a:rPr lang="en" u="sng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under</a:t>
            </a:r>
            <a:r>
              <a:rPr lang="en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 3 minutes. </a:t>
            </a:r>
            <a:r>
              <a:rPr lang="en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Please record yourselves briefly explaining/pitching your solution.</a:t>
            </a:r>
            <a:r>
              <a:rPr lang="en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 You can record this from any device.  </a:t>
            </a:r>
            <a:endParaRPr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F8F8F8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7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/>
          <p:nvPr/>
        </p:nvSpPr>
        <p:spPr>
          <a:xfrm>
            <a:off x="5774733" y="2523032"/>
            <a:ext cx="3080700" cy="6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650" tIns="61650" rIns="61650" bIns="6165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ATL-13 Pro Max </a:t>
            </a:r>
            <a:endParaRPr sz="2400" dirty="0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20" name="Google Shape;120;p28" title="A4I_whiteArtboard 38.5-NYC.png"/>
          <p:cNvPicPr preferRelativeResize="0"/>
          <p:nvPr/>
        </p:nvPicPr>
        <p:blipFill rotWithShape="1">
          <a:blip r:embed="rId3">
            <a:alphaModFix/>
          </a:blip>
          <a:srcRect t="27378" b="25727"/>
          <a:stretch/>
        </p:blipFill>
        <p:spPr>
          <a:xfrm rot="10800000" flipH="1">
            <a:off x="3586375" y="2509998"/>
            <a:ext cx="2276050" cy="60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7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" name="Google Shape;125;p29"/>
          <p:cNvGraphicFramePr/>
          <p:nvPr>
            <p:extLst>
              <p:ext uri="{D42A27DB-BD31-4B8C-83A1-F6EECF244321}">
                <p14:modId xmlns:p14="http://schemas.microsoft.com/office/powerpoint/2010/main" val="2489115301"/>
              </p:ext>
            </p:extLst>
          </p:nvPr>
        </p:nvGraphicFramePr>
        <p:xfrm>
          <a:off x="577750" y="1357275"/>
          <a:ext cx="8117675" cy="3691275"/>
        </p:xfrm>
        <a:graphic>
          <a:graphicData uri="http://schemas.openxmlformats.org/drawingml/2006/table">
            <a:tbl>
              <a:tblPr>
                <a:noFill/>
                <a:tableStyleId>{B0530251-C406-4842-BE4E-697FB0008ECC}</a:tableStyleId>
              </a:tblPr>
              <a:tblGrid>
                <a:gridCol w="135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NAME </a:t>
                      </a:r>
                      <a:endParaRPr sz="800" b="1">
                        <a:solidFill>
                          <a:schemeClr val="lt1"/>
                        </a:solidFill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EMAIL</a:t>
                      </a:r>
                      <a:endParaRPr sz="800" b="1"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PHONE</a:t>
                      </a:r>
                      <a:endParaRPr sz="800" b="1"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FILMING AVAILABILITY</a:t>
                      </a:r>
                      <a:endParaRPr sz="800" b="1">
                        <a:solidFill>
                          <a:schemeClr val="lt1"/>
                        </a:solidFill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(between 10AM-3PM on 10/29)</a:t>
                      </a:r>
                      <a:endParaRPr sz="600">
                        <a:solidFill>
                          <a:schemeClr val="lt1"/>
                        </a:solidFill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PROJECT SHARING</a:t>
                      </a:r>
                      <a:endParaRPr sz="800" b="1">
                        <a:solidFill>
                          <a:schemeClr val="lt1"/>
                        </a:solidFill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SHARE WITH </a:t>
                      </a:r>
                      <a:br>
                        <a:rPr lang="en" sz="800" b="1">
                          <a:solidFill>
                            <a:schemeClr val="lt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</a:br>
                      <a:r>
                        <a:rPr lang="en" sz="600">
                          <a:solidFill>
                            <a:schemeClr val="lt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(provide emails)</a:t>
                      </a:r>
                      <a:endParaRPr sz="600"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lt1"/>
                          </a:solidFill>
                        </a:rPr>
                        <a:t>Amogh U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bg1"/>
                          </a:solidFill>
                        </a:rPr>
                        <a:t>Amogh.Upadhyay@cox.com</a:t>
                      </a: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678-644-2677</a:t>
                      </a: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yes</a:t>
                      </a: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i="1" dirty="0">
                          <a:solidFill>
                            <a:schemeClr val="bg1"/>
                          </a:solidFill>
                        </a:rPr>
                        <a:t>Yes</a:t>
                      </a:r>
                      <a:endParaRPr sz="800" i="1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bg1"/>
                          </a:solidFill>
                        </a:rPr>
                        <a:t>murali@pisharat@cox.com</a:t>
                      </a: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lt1"/>
                          </a:solidFill>
                        </a:rPr>
                        <a:t>Nabil B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bg1"/>
                          </a:solidFill>
                        </a:rPr>
                        <a:t>Nabil.bendannoun@randstadusa.com</a:t>
                      </a: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678-696-9940</a:t>
                      </a: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yes</a:t>
                      </a: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lt1"/>
                          </a:solidFill>
                        </a:rPr>
                        <a:t>Mastan  S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bg1"/>
                          </a:solidFill>
                        </a:rPr>
                        <a:t>Mastan_Sheik@homedepot.com</a:t>
                      </a: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404-820-5556</a:t>
                      </a: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</a:rPr>
                        <a:t>Julio G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 err="1">
                          <a:solidFill>
                            <a:schemeClr val="bg1"/>
                          </a:solidFill>
                        </a:rPr>
                        <a:t>Julio.Garciagil@Equifax.com</a:t>
                      </a: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786-447-0835</a:t>
                      </a: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yes</a:t>
                      </a: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6" name="Google Shape;126;p29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27" name="Google Shape;127;p29"/>
          <p:cNvSpPr txBox="1"/>
          <p:nvPr/>
        </p:nvSpPr>
        <p:spPr>
          <a:xfrm>
            <a:off x="3415450" y="468350"/>
            <a:ext cx="53760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Filming Availability: </a:t>
            </a:r>
            <a:r>
              <a:rPr lang="en" sz="8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Should your team be selected as the winner, indicate if and when you are able to return to the Coca-Cola Roxy between 1:00-4:00 PM on Thursday 10/29 to film a team pitch of your project. </a:t>
            </a:r>
            <a:endParaRPr sz="8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Project Sharing: </a:t>
            </a:r>
            <a:r>
              <a:rPr lang="en" sz="8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Mark “yes” if you are OK with us sharing what you built with your team at work.</a:t>
            </a:r>
            <a:endParaRPr sz="8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Share With: </a:t>
            </a:r>
            <a:r>
              <a:rPr lang="en" sz="8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If “yes” to the above, is there anyone specific you’d like us to share it with at work?  Provide email(s).</a:t>
            </a:r>
            <a:endParaRPr sz="8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👉 </a:t>
            </a:r>
            <a:r>
              <a:rPr lang="en" sz="800" b="1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Check your Discord channel tonight to learn if you won. We will contact you no later than 9:00 PM.  </a:t>
            </a:r>
            <a:endParaRPr sz="800" b="1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C72925-4A0F-0D48-C14B-6D5BE9F4B1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3" name="Title"/>
          <p:cNvSpPr txBox="1"/>
          <p:nvPr/>
        </p:nvSpPr>
        <p:spPr>
          <a:xfrm>
            <a:off x="347472" y="237744"/>
            <a:ext cx="8430768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50" b="1">
                <a:solidFill>
                  <a:srgbClr val="FFFFFF"/>
                </a:solidFill>
                <a:latin typeface="Calibri"/>
              </a:rPr>
              <a:t>From a closure notice to funded grants, before anyone applies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347472" y="685800"/>
            <a:ext cx="8430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>
                <a:solidFill>
                  <a:srgbClr val="B8C4C6"/>
                </a:solidFill>
                <a:latin typeface="Calibri"/>
              </a:rPr>
              <a:t>Anchor-closure track · our user: the city's economic-development officer · 90 days' notice, $50,000, and no applications yet</a:t>
            </a:r>
          </a:p>
        </p:txBody>
      </p:sp>
      <p:sp>
        <p:nvSpPr>
          <p:cNvPr id="5" name="How the officer uses it"/>
          <p:cNvSpPr/>
          <p:nvPr/>
        </p:nvSpPr>
        <p:spPr>
          <a:xfrm>
            <a:off x="347472" y="1060704"/>
            <a:ext cx="4846320" cy="3127248"/>
          </a:xfrm>
          <a:prstGeom prst="roundRect">
            <a:avLst>
              <a:gd name="adj" fmla="val 4000"/>
            </a:avLst>
          </a:prstGeom>
          <a:solidFill>
            <a:srgbClr val="E3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teps heading"/>
          <p:cNvSpPr txBox="1"/>
          <p:nvPr/>
        </p:nvSpPr>
        <p:spPr>
          <a:xfrm>
            <a:off x="512064" y="115214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25" b="1">
                <a:solidFill>
                  <a:srgbClr val="12343B"/>
                </a:solidFill>
                <a:latin typeface="Calibri"/>
              </a:rPr>
              <a:t>How the officer uses it</a:t>
            </a:r>
          </a:p>
        </p:txBody>
      </p:sp>
      <p:sp>
        <p:nvSpPr>
          <p:cNvPr id="7" name="Step 1"/>
          <p:cNvSpPr/>
          <p:nvPr/>
        </p:nvSpPr>
        <p:spPr>
          <a:xfrm>
            <a:off x="475488" y="1463040"/>
            <a:ext cx="4590288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tep 1 number"/>
          <p:cNvSpPr/>
          <p:nvPr/>
        </p:nvSpPr>
        <p:spPr>
          <a:xfrm>
            <a:off x="585216" y="1613916"/>
            <a:ext cx="274320" cy="274320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Step 1 text"/>
          <p:cNvSpPr txBox="1"/>
          <p:nvPr/>
        </p:nvSpPr>
        <p:spPr>
          <a:xfrm>
            <a:off x="987552" y="1527048"/>
            <a:ext cx="39867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12343B"/>
                </a:solidFill>
                <a:latin typeface="Calibri"/>
              </a:rPr>
              <a:t>Name the closure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5D"/>
                </a:solidFill>
                <a:latin typeface="Calibri"/>
              </a:rPr>
              <a:t>Click the closing employer on the map. Set the budget and what a grant is assumed to change.</a:t>
            </a:r>
          </a:p>
        </p:txBody>
      </p:sp>
      <p:sp>
        <p:nvSpPr>
          <p:cNvPr id="10" name="Step 2"/>
          <p:cNvSpPr/>
          <p:nvPr/>
        </p:nvSpPr>
        <p:spPr>
          <a:xfrm>
            <a:off x="475488" y="2130552"/>
            <a:ext cx="4590288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tep 2 number"/>
          <p:cNvSpPr/>
          <p:nvPr/>
        </p:nvSpPr>
        <p:spPr>
          <a:xfrm>
            <a:off x="585216" y="2281428"/>
            <a:ext cx="274320" cy="274320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Step 2 text"/>
          <p:cNvSpPr txBox="1"/>
          <p:nvPr/>
        </p:nvSpPr>
        <p:spPr>
          <a:xfrm>
            <a:off x="987552" y="2194560"/>
            <a:ext cx="39867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12343B"/>
                </a:solidFill>
                <a:latin typeface="Calibri"/>
              </a:rPr>
              <a:t>See who is exposed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5D"/>
                </a:solidFill>
                <a:latin typeface="Calibri"/>
              </a:rPr>
              <a:t>The map lights up the shops losing weekday trade, then the suppliers behind them, every path drawn.</a:t>
            </a:r>
          </a:p>
        </p:txBody>
      </p:sp>
      <p:sp>
        <p:nvSpPr>
          <p:cNvPr id="13" name="Step 3"/>
          <p:cNvSpPr/>
          <p:nvPr/>
        </p:nvSpPr>
        <p:spPr>
          <a:xfrm>
            <a:off x="475488" y="2798064"/>
            <a:ext cx="4590288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tep 3 number"/>
          <p:cNvSpPr/>
          <p:nvPr/>
        </p:nvSpPr>
        <p:spPr>
          <a:xfrm>
            <a:off x="585216" y="2948940"/>
            <a:ext cx="274320" cy="274320"/>
          </a:xfrm>
          <a:prstGeom prst="ellipse">
            <a:avLst/>
          </a:prstGeom>
          <a:solidFill>
            <a:srgbClr val="C2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Step 3 text"/>
          <p:cNvSpPr txBox="1"/>
          <p:nvPr/>
        </p:nvSpPr>
        <p:spPr>
          <a:xfrm>
            <a:off x="987552" y="2862072"/>
            <a:ext cx="39867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12343B"/>
                </a:solidFill>
                <a:latin typeface="Calibri"/>
              </a:rPr>
              <a:t>Question any decision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5D"/>
                </a:solidFill>
                <a:latin typeface="Calibri"/>
              </a:rPr>
              <a:t>Hover a business for its grant, what it protects, and why it beat the runner-up.</a:t>
            </a:r>
          </a:p>
        </p:txBody>
      </p:sp>
      <p:sp>
        <p:nvSpPr>
          <p:cNvPr id="16" name="Step 4"/>
          <p:cNvSpPr/>
          <p:nvPr/>
        </p:nvSpPr>
        <p:spPr>
          <a:xfrm>
            <a:off x="475488" y="3465576"/>
            <a:ext cx="4590288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Step 4 number"/>
          <p:cNvSpPr/>
          <p:nvPr/>
        </p:nvSpPr>
        <p:spPr>
          <a:xfrm>
            <a:off x="585216" y="3616452"/>
            <a:ext cx="274320" cy="274320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Step 4 text"/>
          <p:cNvSpPr txBox="1"/>
          <p:nvPr/>
        </p:nvSpPr>
        <p:spPr>
          <a:xfrm>
            <a:off x="987552" y="3529584"/>
            <a:ext cx="39867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12343B"/>
                </a:solidFill>
                <a:latin typeface="Calibri"/>
              </a:rPr>
              <a:t>Stress-test it, then take it to the meeting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5D"/>
                </a:solidFill>
                <a:latin typeface="Calibri"/>
              </a:rPr>
              <a:t>Change the assumption and rerun. Export the grant memo, with assumptions and modeled evidence stated.</a:t>
            </a:r>
          </a:p>
        </p:txBody>
      </p:sp>
      <p:sp>
        <p:nvSpPr>
          <p:cNvPr id="19" name="Outcomes heading"/>
          <p:cNvSpPr txBox="1"/>
          <p:nvPr/>
        </p:nvSpPr>
        <p:spPr>
          <a:xfrm>
            <a:off x="5413248" y="1097280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25" b="1">
                <a:solidFill>
                  <a:srgbClr val="FFFFFF"/>
                </a:solidFill>
                <a:latin typeface="Calibri"/>
              </a:rPr>
              <a:t>What changes for them</a:t>
            </a:r>
          </a:p>
        </p:txBody>
      </p:sp>
      <p:sp>
        <p:nvSpPr>
          <p:cNvPr id="20" name="Outcome 1"/>
          <p:cNvSpPr/>
          <p:nvPr/>
        </p:nvSpPr>
        <p:spPr>
          <a:xfrm>
            <a:off x="5413248" y="1371600"/>
            <a:ext cx="3383280" cy="630936"/>
          </a:xfrm>
          <a:prstGeom prst="roundRect">
            <a:avLst>
              <a:gd name="adj" fmla="val 8000"/>
            </a:avLst>
          </a:prstGeom>
          <a:solidFill>
            <a:srgbClr val="E3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utcome 1 text"/>
          <p:cNvSpPr txBox="1"/>
          <p:nvPr/>
        </p:nvSpPr>
        <p:spPr>
          <a:xfrm>
            <a:off x="5522976" y="1426464"/>
            <a:ext cx="3182112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1F6F6B"/>
                </a:solidFill>
                <a:latin typeface="Calibri"/>
              </a:rPr>
              <a:t>They reach people before the damage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5D"/>
                </a:solidFill>
                <a:latin typeface="Calibri"/>
              </a:rPr>
              <a:t>The 90 days go to prevention, including suppliers that never served the office.</a:t>
            </a:r>
          </a:p>
        </p:txBody>
      </p:sp>
      <p:sp>
        <p:nvSpPr>
          <p:cNvPr id="22" name="Outcome 2"/>
          <p:cNvSpPr/>
          <p:nvPr/>
        </p:nvSpPr>
        <p:spPr>
          <a:xfrm>
            <a:off x="5413248" y="2080260"/>
            <a:ext cx="3383280" cy="630936"/>
          </a:xfrm>
          <a:prstGeom prst="roundRect">
            <a:avLst>
              <a:gd name="adj" fmla="val 8000"/>
            </a:avLst>
          </a:prstGeom>
          <a:solidFill>
            <a:srgbClr val="E3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utcome 2 text"/>
          <p:cNvSpPr txBox="1"/>
          <p:nvPr/>
        </p:nvSpPr>
        <p:spPr>
          <a:xfrm>
            <a:off x="5522976" y="2135124"/>
            <a:ext cx="3182112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1F6F6B"/>
                </a:solidFill>
                <a:latin typeface="Calibri"/>
              </a:rPr>
              <a:t>A case they can defend, not a score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5D"/>
                </a:solidFill>
                <a:latin typeface="Calibri"/>
              </a:rPr>
              <a:t>Our tools compute every dollar; Gemini explains it. Paths shown, runner-up named.</a:t>
            </a:r>
          </a:p>
        </p:txBody>
      </p:sp>
      <p:sp>
        <p:nvSpPr>
          <p:cNvPr id="24" name="Outcome 3"/>
          <p:cNvSpPr/>
          <p:nvPr/>
        </p:nvSpPr>
        <p:spPr>
          <a:xfrm>
            <a:off x="5413248" y="2788920"/>
            <a:ext cx="3383280" cy="630936"/>
          </a:xfrm>
          <a:prstGeom prst="roundRect">
            <a:avLst>
              <a:gd name="adj" fmla="val 8000"/>
            </a:avLst>
          </a:prstGeom>
          <a:solidFill>
            <a:srgbClr val="E3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utcome 3 text"/>
          <p:cNvSpPr txBox="1"/>
          <p:nvPr/>
        </p:nvSpPr>
        <p:spPr>
          <a:xfrm>
            <a:off x="5522976" y="2843784"/>
            <a:ext cx="3182112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1F6F6B"/>
                </a:solidFill>
                <a:latin typeface="Calibri"/>
              </a:rPr>
              <a:t>Honest about what it cannot know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5D"/>
                </a:solidFill>
                <a:latin typeface="Calibri"/>
              </a:rPr>
              <a:t>States what a grant is assumed to change and flags which links are modeled.</a:t>
            </a:r>
          </a:p>
        </p:txBody>
      </p:sp>
      <p:sp>
        <p:nvSpPr>
          <p:cNvPr id="26" name="Outcome 4"/>
          <p:cNvSpPr/>
          <p:nvPr/>
        </p:nvSpPr>
        <p:spPr>
          <a:xfrm>
            <a:off x="5413248" y="3497580"/>
            <a:ext cx="3383280" cy="630936"/>
          </a:xfrm>
          <a:prstGeom prst="roundRect">
            <a:avLst>
              <a:gd name="adj" fmla="val 8000"/>
            </a:avLst>
          </a:prstGeom>
          <a:solidFill>
            <a:srgbClr val="E3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utcome 4 text"/>
          <p:cNvSpPr txBox="1"/>
          <p:nvPr/>
        </p:nvSpPr>
        <p:spPr>
          <a:xfrm>
            <a:off x="5522976" y="3552444"/>
            <a:ext cx="3182112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1F6F6B"/>
                </a:solidFill>
                <a:latin typeface="Calibri"/>
              </a:rPr>
              <a:t>Fairer by design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5D"/>
                </a:solidFill>
                <a:latin typeface="Calibri"/>
              </a:rPr>
              <a:t>It does not just fund the biggest hub, and audits who benefits by neighborhood.</a:t>
            </a:r>
          </a:p>
        </p:txBody>
      </p:sp>
      <p:sp>
        <p:nvSpPr>
          <p:cNvPr id="28" name="Before and after"/>
          <p:cNvSpPr/>
          <p:nvPr/>
        </p:nvSpPr>
        <p:spPr>
          <a:xfrm>
            <a:off x="347472" y="4334256"/>
            <a:ext cx="8458200" cy="530352"/>
          </a:xfrm>
          <a:prstGeom prst="roundRect">
            <a:avLst>
              <a:gd name="adj" fmla="val 1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Banner text"/>
          <p:cNvSpPr txBox="1"/>
          <p:nvPr/>
        </p:nvSpPr>
        <p:spPr>
          <a:xfrm>
            <a:off x="512064" y="4389120"/>
            <a:ext cx="81290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B8D4D0"/>
                </a:solidFill>
                <a:latin typeface="Calibri"/>
              </a:rPr>
              <a:t>Today: </a:t>
            </a:r>
            <a:r>
              <a:rPr sz="1050" b="0">
                <a:solidFill>
                  <a:srgbClr val="FFFFFF"/>
                </a:solidFill>
                <a:latin typeface="Calibri"/>
              </a:rPr>
              <a:t>the city learns who was hurt when they close or apply, after the 90 days are gone.   </a:t>
            </a:r>
            <a:r>
              <a:rPr sz="1050" b="1">
                <a:solidFill>
                  <a:srgbClr val="B8D4D0"/>
                </a:solidFill>
                <a:latin typeface="Calibri"/>
              </a:rPr>
              <a:t>With our agent: </a:t>
            </a:r>
            <a:r>
              <a:rPr sz="1050" b="0">
                <a:solidFill>
                  <a:srgbClr val="FFFFFF"/>
                </a:solidFill>
                <a:latin typeface="Calibri"/>
              </a:rPr>
              <a:t>on day one the officer knows who to call, how much to offer, and why.</a:t>
            </a:r>
          </a:p>
        </p:txBody>
      </p:sp>
    </p:spTree>
    <p:extLst>
      <p:ext uri="{BB962C8B-B14F-4D97-AF65-F5344CB8AC3E}">
        <p14:creationId xmlns:p14="http://schemas.microsoft.com/office/powerpoint/2010/main" val="659851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900" y="240031"/>
            <a:ext cx="843534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50" b="1">
                <a:solidFill>
                  <a:srgbClr val="FFFFFF"/>
                </a:solidFill>
                <a:latin typeface="Calibri"/>
              </a:rPr>
              <a:t>The data behind our grant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0" y="672084"/>
            <a:ext cx="843534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75">
                <a:solidFill>
                  <a:srgbClr val="B8C4C6"/>
                </a:solidFill>
                <a:latin typeface="Calibri"/>
              </a:rPr>
              <a:t>Anchor-closure track · Central Market, San Francisco · BigQuery dataset a4i_econ · nothing is trained: Gemini works from these tables at query time</a:t>
            </a:r>
          </a:p>
        </p:txBody>
      </p:sp>
      <p:graphicFrame>
        <p:nvGraphicFramePr>
          <p:cNvPr id="4" name="Dataset table"/>
          <p:cNvGraphicFramePr>
            <a:graphicFrameLocks noGrp="1"/>
          </p:cNvGraphicFramePr>
          <p:nvPr/>
        </p:nvGraphicFramePr>
        <p:xfrm>
          <a:off x="342900" y="1062990"/>
          <a:ext cx="5863590" cy="3154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Table / file</a:t>
                      </a:r>
                    </a:p>
                  </a:txBody>
                  <a:tcPr marL="54864" marR="54864" marT="20574" marB="20574" anchor="ctr"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20574" marB="20574" anchor="ctr"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it holds</a:t>
                      </a:r>
                    </a:p>
                  </a:txBody>
                  <a:tcPr marL="54864" marR="54864" marT="20574" marB="20574" anchor="ctr"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4864" marR="54864" marT="20574" marB="20574" anchor="ctr"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How real</a:t>
                      </a:r>
                    </a:p>
                  </a:txBody>
                  <a:tcPr marL="54864" marR="54864" marT="20574" marB="20574" anchor="ctr">
                    <a:solidFill>
                      <a:srgbClr val="123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2343B"/>
                          </a:solidFill>
                          <a:latin typeface="Calibri"/>
                        </a:rPr>
                        <a:t>businesses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Node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43B"/>
                          </a:solidFill>
                          <a:latin typeface="Calibri"/>
                        </a:rPr>
                        <a:t>230 registered businesses, 65 industries: name, address, NAICS, lat/lon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SF Registered Business Locations (PDDL)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54864" marR="54864" marT="20574" marB="20574" anchor="ctr">
                    <a:solidFill>
                      <a:srgbClr val="1F6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12343B"/>
                          </a:solidFill>
                          <a:latin typeface="Calibri"/>
                        </a:rPr>
                        <a:t>employer_blocks</a:t>
                      </a:r>
                      <a:endParaRPr sz="900" b="1" dirty="0">
                        <a:solidFill>
                          <a:srgbClr val="12343B"/>
                        </a:solidFill>
                        <a:latin typeface="Calibri"/>
                      </a:endParaRP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Node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43B"/>
                          </a:solidFill>
                          <a:latin typeface="Calibri"/>
                        </a:rPr>
                        <a:t>Census workplace blocks with total job counts; placed at tract centre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Census LEHD LODES8 WAC 2023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54864" marR="54864" marT="20574" marB="20574" anchor="ctr">
                    <a:solidFill>
                      <a:srgbClr val="1F6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2343B"/>
                          </a:solidFill>
                          <a:latin typeface="Calibri"/>
                        </a:rPr>
                        <a:t>draws_footfall_from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Edge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43B"/>
                          </a:solidFill>
                          <a:latin typeface="Calibri"/>
                        </a:rPr>
                        <a:t>Block → consumer shops within 500 m; worker_share = jobs ÷ shops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Derived from LODES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Rate real · pairing modeled</a:t>
                      </a:r>
                    </a:p>
                  </a:txBody>
                  <a:tcPr marL="54864" marR="54864" marT="20574" marB="20574" anchor="ctr">
                    <a:solidFill>
                      <a:srgbClr val="C27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2343B"/>
                          </a:solidFill>
                          <a:latin typeface="Calibri"/>
                        </a:rPr>
                        <a:t>supplies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Edge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43B"/>
                          </a:solidFill>
                          <a:latin typeface="Calibri"/>
                        </a:rPr>
                        <a:t>Supplier → buyer within 1,200 m; intensity = cents of input per $ of output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BEA Input-Output Use table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Rate real · pairing modeled</a:t>
                      </a:r>
                    </a:p>
                  </a:txBody>
                  <a:tcPr marL="54864" marR="54864" marT="20574" marB="20574" anchor="ctr">
                    <a:solidFill>
                      <a:srgbClr val="C27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2343B"/>
                          </a:solidFill>
                          <a:latin typeface="Calibri"/>
                        </a:rPr>
                        <a:t>borrowed_from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Lookup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43B"/>
                          </a:solidFill>
                          <a:latin typeface="Calibri"/>
                        </a:rPr>
                        <a:t>Business → lender: amount, date, status, charged_off (real failures)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SBA 7(a) FOIA loans, FY2020–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54864" marR="54864" marT="20574" marB="20574" anchor="ctr">
                    <a:solidFill>
                      <a:srgbClr val="1F6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2343B"/>
                          </a:solidFill>
                          <a:latin typeface="Calibri"/>
                        </a:rPr>
                        <a:t>tract_demographics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43B"/>
                          </a:solidFill>
                          <a:latin typeface="Calibri"/>
                        </a:rPr>
                        <a:t>7 tracts: poverty, no-vehicle, public-assistance rates, income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ACS 5-year (BigQuery public data)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54864" marR="54864" marT="20574" marB="20574" anchor="ctr">
                    <a:solidFill>
                      <a:srgbClr val="1F6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2343B"/>
                          </a:solidFill>
                          <a:latin typeface="Calibri"/>
                        </a:rPr>
                        <a:t>bea_*.csv (repo)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43B"/>
                          </a:solidFill>
                          <a:latin typeface="Calibri"/>
                        </a:rPr>
                        <a:t>44,867 industry-pair coefficients + 244-row BEA→NAICS map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BEA, public domain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54864" marR="54864" marT="20574" marB="20574" anchor="ctr">
                    <a:solidFill>
                      <a:srgbClr val="1F6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How the modeled edges are made"/>
          <p:cNvSpPr/>
          <p:nvPr/>
        </p:nvSpPr>
        <p:spPr>
          <a:xfrm>
            <a:off x="6412230" y="1062990"/>
            <a:ext cx="2386584" cy="1028700"/>
          </a:xfrm>
          <a:prstGeom prst="roundRect">
            <a:avLst>
              <a:gd name="adj" fmla="val 6000"/>
            </a:avLst>
          </a:prstGeom>
          <a:solidFill>
            <a:srgbClr val="E3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6" name="TextBox 5"/>
          <p:cNvSpPr txBox="1"/>
          <p:nvPr/>
        </p:nvSpPr>
        <p:spPr>
          <a:xfrm>
            <a:off x="6515100" y="1131570"/>
            <a:ext cx="2180844" cy="887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50"/>
              </a:spcAft>
            </a:pPr>
            <a:r>
              <a:rPr sz="975" b="1">
                <a:solidFill>
                  <a:srgbClr val="1F6F6B"/>
                </a:solidFill>
                <a:latin typeface="Calibri"/>
              </a:rPr>
              <a:t>How the modeled edges are made</a:t>
            </a:r>
          </a:p>
          <a:p>
            <a:pPr>
              <a:spcAft>
                <a:spcPts val="150"/>
              </a:spcAft>
            </a:pPr>
            <a:r>
              <a:rPr sz="825" b="1">
                <a:solidFill>
                  <a:srgbClr val="C27C00"/>
                </a:solidFill>
                <a:latin typeface="Calibri"/>
              </a:rPr>
              <a:t>• </a:t>
            </a:r>
            <a:r>
              <a:rPr sz="825">
                <a:solidFill>
                  <a:srgbClr val="12343B"/>
                </a:solidFill>
                <a:latin typeface="Calibri"/>
              </a:rPr>
              <a:t>No randomness. BEA coefficient ≥ 0.005</a:t>
            </a:r>
          </a:p>
          <a:p>
            <a:pPr>
              <a:spcAft>
                <a:spcPts val="150"/>
              </a:spcAft>
            </a:pPr>
            <a:r>
              <a:rPr sz="825" b="1">
                <a:solidFill>
                  <a:srgbClr val="C27C00"/>
                </a:solidFill>
                <a:latin typeface="Calibri"/>
              </a:rPr>
              <a:t>• </a:t>
            </a:r>
            <a:r>
              <a:rPr sz="825">
                <a:solidFill>
                  <a:srgbClr val="12343B"/>
                </a:solidFill>
                <a:latin typeface="Calibri"/>
              </a:rPr>
              <a:t>Top 10% most ubiquitous suppliers dropped</a:t>
            </a:r>
          </a:p>
          <a:p>
            <a:pPr>
              <a:spcAft>
                <a:spcPts val="150"/>
              </a:spcAft>
            </a:pPr>
            <a:r>
              <a:rPr sz="825" b="1">
                <a:solidFill>
                  <a:srgbClr val="C27C00"/>
                </a:solidFill>
                <a:latin typeface="Calibri"/>
              </a:rPr>
              <a:t>• </a:t>
            </a:r>
            <a:r>
              <a:rPr sz="825">
                <a:solidFill>
                  <a:srgbClr val="12343B"/>
                </a:solidFill>
                <a:latin typeface="Calibri"/>
              </a:rPr>
              <a:t>Each buyer keeps its 5 strongest suppliers</a:t>
            </a:r>
          </a:p>
          <a:p>
            <a:pPr>
              <a:spcAft>
                <a:spcPts val="150"/>
              </a:spcAft>
            </a:pPr>
            <a:r>
              <a:rPr sz="825" b="1">
                <a:solidFill>
                  <a:srgbClr val="C27C00"/>
                </a:solidFill>
                <a:latin typeface="Calibri"/>
              </a:rPr>
              <a:t>• </a:t>
            </a:r>
            <a:r>
              <a:rPr sz="825">
                <a:solidFill>
                  <a:srgbClr val="12343B"/>
                </a:solidFill>
                <a:latin typeface="Calibri"/>
              </a:rPr>
              <a:t>Footfall: all of a block's jobs, split evenly over retail, food, personal-service and arts shops</a:t>
            </a:r>
          </a:p>
        </p:txBody>
      </p:sp>
      <p:sp>
        <p:nvSpPr>
          <p:cNvPr id="7" name="How the agent reaches it"/>
          <p:cNvSpPr/>
          <p:nvPr/>
        </p:nvSpPr>
        <p:spPr>
          <a:xfrm>
            <a:off x="6412230" y="2194560"/>
            <a:ext cx="2386584" cy="1062990"/>
          </a:xfrm>
          <a:prstGeom prst="roundRect">
            <a:avLst>
              <a:gd name="adj" fmla="val 6000"/>
            </a:avLst>
          </a:prstGeom>
          <a:solidFill>
            <a:srgbClr val="E3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TextBox 7"/>
          <p:cNvSpPr txBox="1"/>
          <p:nvPr/>
        </p:nvSpPr>
        <p:spPr>
          <a:xfrm>
            <a:off x="6515100" y="2263141"/>
            <a:ext cx="2180844" cy="836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50"/>
              </a:spcAft>
            </a:pPr>
            <a:r>
              <a:rPr sz="975" b="1">
                <a:solidFill>
                  <a:srgbClr val="1F6F6B"/>
                </a:solidFill>
                <a:latin typeface="Calibri"/>
              </a:rPr>
              <a:t>How the agent reaches it</a:t>
            </a:r>
          </a:p>
          <a:p>
            <a:pPr>
              <a:spcAft>
                <a:spcPts val="150"/>
              </a:spcAft>
            </a:pPr>
            <a:r>
              <a:rPr sz="825" b="1">
                <a:solidFill>
                  <a:srgbClr val="C27C00"/>
                </a:solidFill>
                <a:latin typeface="Calibri"/>
              </a:rPr>
              <a:t>• </a:t>
            </a:r>
            <a:r>
              <a:rPr sz="825">
                <a:solidFill>
                  <a:srgbClr val="12343B"/>
                </a:solidFill>
                <a:latin typeface="Calibri"/>
              </a:rPr>
              <a:t>MCP Toolbox: anchor_cascade (GQL, footfall → then &lt;-[:Supplies]-), supply_cascade, profiles, loan_history</a:t>
            </a:r>
          </a:p>
          <a:p>
            <a:pPr>
              <a:spcAft>
                <a:spcPts val="150"/>
              </a:spcAft>
            </a:pPr>
            <a:r>
              <a:rPr sz="825" b="1">
                <a:solidFill>
                  <a:srgbClr val="C27C00"/>
                </a:solidFill>
                <a:latin typeface="Calibri"/>
              </a:rPr>
              <a:t>• </a:t>
            </a:r>
            <a:r>
              <a:rPr sz="825">
                <a:solidFill>
                  <a:srgbClr val="12343B"/>
                </a:solidFill>
                <a:latin typeface="Calibri"/>
              </a:rPr>
              <a:t>Python tools score, allocate, test sensitivity, audit equity</a:t>
            </a:r>
          </a:p>
        </p:txBody>
      </p:sp>
      <p:sp>
        <p:nvSpPr>
          <p:cNvPr id="9" name="Filtered out, on purpose"/>
          <p:cNvSpPr/>
          <p:nvPr/>
        </p:nvSpPr>
        <p:spPr>
          <a:xfrm>
            <a:off x="6412230" y="3360420"/>
            <a:ext cx="2386584" cy="788670"/>
          </a:xfrm>
          <a:prstGeom prst="roundRect">
            <a:avLst>
              <a:gd name="adj" fmla="val 6000"/>
            </a:avLst>
          </a:prstGeom>
          <a:solidFill>
            <a:srgbClr val="E3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0" name="TextBox 9"/>
          <p:cNvSpPr txBox="1"/>
          <p:nvPr/>
        </p:nvSpPr>
        <p:spPr>
          <a:xfrm>
            <a:off x="6515100" y="3429000"/>
            <a:ext cx="2180844" cy="455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50"/>
              </a:spcAft>
            </a:pPr>
            <a:r>
              <a:rPr sz="975" b="1">
                <a:solidFill>
                  <a:srgbClr val="1F6F6B"/>
                </a:solidFill>
                <a:latin typeface="Calibri"/>
              </a:rPr>
              <a:t>Filtered out, on purpose</a:t>
            </a:r>
          </a:p>
          <a:p>
            <a:pPr>
              <a:spcAft>
                <a:spcPts val="150"/>
              </a:spcAft>
            </a:pPr>
            <a:r>
              <a:rPr sz="825" b="1">
                <a:solidFill>
                  <a:srgbClr val="C27C00"/>
                </a:solidFill>
                <a:latin typeface="Calibri"/>
              </a:rPr>
              <a:t>• </a:t>
            </a:r>
            <a:r>
              <a:rPr sz="825">
                <a:solidFill>
                  <a:srgbClr val="12343B"/>
                </a:solidFill>
                <a:latin typeface="Calibri"/>
              </a:rPr>
              <a:t>Sole proprietors and home addresses</a:t>
            </a:r>
          </a:p>
          <a:p>
            <a:pPr>
              <a:spcAft>
                <a:spcPts val="150"/>
              </a:spcAft>
            </a:pPr>
            <a:r>
              <a:rPr sz="825" b="1">
                <a:solidFill>
                  <a:srgbClr val="C27C00"/>
                </a:solidFill>
                <a:latin typeface="Calibri"/>
              </a:rPr>
              <a:t>• </a:t>
            </a:r>
            <a:r>
              <a:rPr sz="825">
                <a:solidFill>
                  <a:srgbClr val="12343B"/>
                </a:solidFill>
                <a:latin typeface="Calibri"/>
              </a:rPr>
              <a:t>Race and ethnicity: audit only, never an input</a:t>
            </a:r>
          </a:p>
        </p:txBody>
      </p:sp>
      <p:sp>
        <p:nvSpPr>
          <p:cNvPr id="11" name="Real vs modeled"/>
          <p:cNvSpPr/>
          <p:nvPr/>
        </p:nvSpPr>
        <p:spPr>
          <a:xfrm>
            <a:off x="342900" y="4334256"/>
            <a:ext cx="8455914" cy="534924"/>
          </a:xfrm>
          <a:prstGeom prst="roundRect">
            <a:avLst>
              <a:gd name="adj" fmla="val 6000"/>
            </a:avLst>
          </a:prstGeom>
          <a:solidFill>
            <a:srgbClr val="1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2" name="TextBox 11"/>
          <p:cNvSpPr txBox="1"/>
          <p:nvPr/>
        </p:nvSpPr>
        <p:spPr>
          <a:xfrm>
            <a:off x="514350" y="4463219"/>
            <a:ext cx="812673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1">
                <a:solidFill>
                  <a:srgbClr val="B8D4D0"/>
                </a:solidFill>
                <a:latin typeface="Calibri"/>
              </a:rPr>
              <a:t>Real vs modeled: </a:t>
            </a:r>
            <a:r>
              <a:rPr sz="900">
                <a:solidFill>
                  <a:srgbClr val="FFFFFF"/>
                </a:solidFill>
                <a:latin typeface="Calibri"/>
              </a:rPr>
              <a:t>businesses, loans, job counts, demographics and industry purchase rates are measured. Which business buys from which, and which shops a block's workers use, is our model. Limits: footfall location is tract-level and cascades count businesses, not jobs.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42900" y="260605"/>
            <a:ext cx="843534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2550" b="1" dirty="0">
                <a:solidFill>
                  <a:srgbClr val="FFFFFF"/>
                </a:solidFill>
                <a:latin typeface="Calibri"/>
              </a:rPr>
              <a:t>How our grant decision agents work together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42900" y="685801"/>
            <a:ext cx="84353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1050">
                <a:solidFill>
                  <a:srgbClr val="B8C4C6"/>
                </a:solidFill>
                <a:latin typeface="Calibri"/>
              </a:rPr>
              <a:t>Anchor-closure track · Central Market, San Francisco · four ADK agents in one chain, data through MCP, everything on Google Cloud</a:t>
            </a:r>
          </a:p>
        </p:txBody>
      </p:sp>
      <p:sp>
        <p:nvSpPr>
          <p:cNvPr id="4" name="User card"/>
          <p:cNvSpPr/>
          <p:nvPr/>
        </p:nvSpPr>
        <p:spPr>
          <a:xfrm>
            <a:off x="342900" y="1062990"/>
            <a:ext cx="1577340" cy="672084"/>
          </a:xfrm>
          <a:prstGeom prst="roundRect">
            <a:avLst>
              <a:gd name="adj" fmla="val 12000"/>
            </a:avLst>
          </a:prstGeom>
          <a:solidFill>
            <a:srgbClr val="E3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5" name="TextBox 4"/>
          <p:cNvSpPr txBox="1"/>
          <p:nvPr/>
        </p:nvSpPr>
        <p:spPr>
          <a:xfrm>
            <a:off x="466344" y="1124712"/>
            <a:ext cx="1330452" cy="568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1050" b="1">
                <a:solidFill>
                  <a:srgbClr val="12343B"/>
                </a:solidFill>
                <a:latin typeface="Calibri"/>
              </a:rPr>
              <a:t>Grant officer</a:t>
            </a:r>
          </a:p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Picks the closing employer, the budget and the grant-effect assumption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31570" y="1735074"/>
            <a:ext cx="0" cy="219456"/>
          </a:xfrm>
          <a:prstGeom prst="line">
            <a:avLst/>
          </a:prstGeom>
          <a:ln w="22225">
            <a:solidFill>
              <a:srgbClr val="C27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ont end card"/>
          <p:cNvSpPr/>
          <p:nvPr/>
        </p:nvSpPr>
        <p:spPr>
          <a:xfrm>
            <a:off x="342900" y="1954530"/>
            <a:ext cx="1577340" cy="133731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9050">
            <a:solidFill>
              <a:srgbClr val="C2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TextBox 7"/>
          <p:cNvSpPr txBox="1"/>
          <p:nvPr/>
        </p:nvSpPr>
        <p:spPr>
          <a:xfrm>
            <a:off x="466344" y="2023110"/>
            <a:ext cx="1330452" cy="1000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1050" b="1">
                <a:solidFill>
                  <a:srgbClr val="12343B"/>
                </a:solidFill>
                <a:latin typeface="Calibri"/>
              </a:rPr>
              <a:t>Interactive map</a:t>
            </a:r>
          </a:p>
          <a:p>
            <a:pPr>
              <a:spcAft>
                <a:spcPts val="225"/>
              </a:spcAft>
            </a:pPr>
            <a:r>
              <a:rPr sz="825" b="1">
                <a:solidFill>
                  <a:srgbClr val="C27C00"/>
                </a:solidFill>
                <a:latin typeface="Calibri"/>
              </a:rPr>
              <a:t>Cloud Run · Google Maps JS API</a:t>
            </a:r>
          </a:p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Hover a business: amount, justification, impact</a:t>
            </a:r>
          </a:p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The cascade is drawn on the map, anchor to supplier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2297430"/>
            <a:ext cx="651510" cy="0"/>
          </a:xfrm>
          <a:prstGeom prst="line">
            <a:avLst/>
          </a:prstGeom>
          <a:ln w="22225">
            <a:solidFill>
              <a:srgbClr val="C27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47672" y="2057401"/>
            <a:ext cx="596646" cy="10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25"/>
              </a:spcAft>
            </a:pPr>
            <a:r>
              <a:rPr sz="675" b="1">
                <a:solidFill>
                  <a:srgbClr val="C27C00"/>
                </a:solidFill>
                <a:latin typeface="Calibri"/>
              </a:rPr>
              <a:t>POST /scenario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920240" y="2914650"/>
            <a:ext cx="651510" cy="0"/>
          </a:xfrm>
          <a:prstGeom prst="line">
            <a:avLst/>
          </a:prstGeom>
          <a:ln w="22225">
            <a:solidFill>
              <a:srgbClr val="C27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47672" y="2955798"/>
            <a:ext cx="596646" cy="10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25"/>
              </a:spcAft>
            </a:pPr>
            <a:r>
              <a:rPr sz="675" b="1">
                <a:solidFill>
                  <a:srgbClr val="C27C00"/>
                </a:solidFill>
                <a:latin typeface="Calibri"/>
              </a:rPr>
              <a:t>decisions.json</a:t>
            </a:r>
          </a:p>
        </p:txBody>
      </p:sp>
      <p:sp>
        <p:nvSpPr>
          <p:cNvPr id="13" name="ADK root agent"/>
          <p:cNvSpPr/>
          <p:nvPr/>
        </p:nvSpPr>
        <p:spPr>
          <a:xfrm>
            <a:off x="2571750" y="1028700"/>
            <a:ext cx="6227064" cy="2023110"/>
          </a:xfrm>
          <a:prstGeom prst="roundRect">
            <a:avLst>
              <a:gd name="adj" fmla="val 4067"/>
            </a:avLst>
          </a:prstGeom>
          <a:solidFill>
            <a:srgbClr val="E3EFED"/>
          </a:solidFill>
          <a:ln w="12700">
            <a:solidFill>
              <a:srgbClr val="B8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4" name="TextBox 13"/>
          <p:cNvSpPr txBox="1"/>
          <p:nvPr/>
        </p:nvSpPr>
        <p:spPr>
          <a:xfrm>
            <a:off x="2708910" y="1097281"/>
            <a:ext cx="595274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1050" b="1">
                <a:solidFill>
                  <a:srgbClr val="12343B"/>
                </a:solidFill>
                <a:latin typeface="Calibri"/>
              </a:rPr>
              <a:t>ADK root agent </a:t>
            </a:r>
            <a:r>
              <a:rPr sz="1050">
                <a:solidFill>
                  <a:srgbClr val="1F6F6B"/>
                </a:solidFill>
                <a:latin typeface="Calibri"/>
              </a:rPr>
              <a:t>· SequentialAgent · Gemini · deployed on Agent Runtime</a:t>
            </a:r>
          </a:p>
        </p:txBody>
      </p:sp>
      <p:sp>
        <p:nvSpPr>
          <p:cNvPr id="15" name="Agent 1"/>
          <p:cNvSpPr/>
          <p:nvPr/>
        </p:nvSpPr>
        <p:spPr>
          <a:xfrm>
            <a:off x="2708910" y="1405889"/>
            <a:ext cx="1323594" cy="116586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12700">
            <a:solidFill>
              <a:srgbClr val="B8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6" name="Oval 15"/>
          <p:cNvSpPr/>
          <p:nvPr/>
        </p:nvSpPr>
        <p:spPr>
          <a:xfrm>
            <a:off x="2804922" y="1501902"/>
            <a:ext cx="246888" cy="246888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75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4922" y="1817370"/>
            <a:ext cx="113157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975" b="1">
                <a:solidFill>
                  <a:srgbClr val="12343B"/>
                </a:solidFill>
                <a:latin typeface="Calibri"/>
              </a:rPr>
              <a:t>Cascade Scout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4922" y="2036826"/>
            <a:ext cx="1131570" cy="38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Walks the graph: footfall forward, then supplies backward, 1 to 2 hops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9936" y="1988820"/>
            <a:ext cx="164592" cy="0"/>
          </a:xfrm>
          <a:prstGeom prst="line">
            <a:avLst/>
          </a:prstGeom>
          <a:ln w="25400">
            <a:solidFill>
              <a:srgbClr val="1F6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Agent 2"/>
          <p:cNvSpPr/>
          <p:nvPr/>
        </p:nvSpPr>
        <p:spPr>
          <a:xfrm>
            <a:off x="4251960" y="1405889"/>
            <a:ext cx="1323594" cy="116586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12700">
            <a:solidFill>
              <a:srgbClr val="B8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1" name="Oval 20"/>
          <p:cNvSpPr/>
          <p:nvPr/>
        </p:nvSpPr>
        <p:spPr>
          <a:xfrm>
            <a:off x="4347972" y="1501902"/>
            <a:ext cx="246888" cy="246888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75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7972" y="1817370"/>
            <a:ext cx="113157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975" b="1">
                <a:solidFill>
                  <a:srgbClr val="12343B"/>
                </a:solidFill>
                <a:latin typeface="Calibri"/>
              </a:rPr>
              <a:t>Risk Assessor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7972" y="2036826"/>
            <a:ext cx="1131570" cy="38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Scores exposure, fragility and tract need for each business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02986" y="1988820"/>
            <a:ext cx="164592" cy="0"/>
          </a:xfrm>
          <a:prstGeom prst="line">
            <a:avLst/>
          </a:prstGeom>
          <a:ln w="25400">
            <a:solidFill>
              <a:srgbClr val="1F6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gent 3"/>
          <p:cNvSpPr/>
          <p:nvPr/>
        </p:nvSpPr>
        <p:spPr>
          <a:xfrm>
            <a:off x="5795009" y="1405889"/>
            <a:ext cx="1323594" cy="116586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12700">
            <a:solidFill>
              <a:srgbClr val="B8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6" name="Oval 25"/>
          <p:cNvSpPr/>
          <p:nvPr/>
        </p:nvSpPr>
        <p:spPr>
          <a:xfrm>
            <a:off x="5891022" y="1501902"/>
            <a:ext cx="246888" cy="246888"/>
          </a:xfrm>
          <a:prstGeom prst="ellipse">
            <a:avLst/>
          </a:prstGeom>
          <a:solidFill>
            <a:srgbClr val="C2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75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1022" y="1817370"/>
            <a:ext cx="113157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975" b="1">
                <a:solidFill>
                  <a:srgbClr val="12343B"/>
                </a:solidFill>
                <a:latin typeface="Calibri"/>
              </a:rPr>
              <a:t>Grant Allocator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1022" y="2036826"/>
            <a:ext cx="1131570" cy="38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Splits the budget, names the runner-up, tests the assumption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46036" y="1988820"/>
            <a:ext cx="164593" cy="0"/>
          </a:xfrm>
          <a:prstGeom prst="line">
            <a:avLst/>
          </a:prstGeom>
          <a:ln w="25400">
            <a:solidFill>
              <a:srgbClr val="1F6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Agent 4"/>
          <p:cNvSpPr/>
          <p:nvPr/>
        </p:nvSpPr>
        <p:spPr>
          <a:xfrm>
            <a:off x="7338060" y="1405889"/>
            <a:ext cx="1323594" cy="116586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12700">
            <a:solidFill>
              <a:srgbClr val="B8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1" name="Oval 30"/>
          <p:cNvSpPr/>
          <p:nvPr/>
        </p:nvSpPr>
        <p:spPr>
          <a:xfrm>
            <a:off x="7434072" y="1501902"/>
            <a:ext cx="246888" cy="246888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75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4072" y="1817370"/>
            <a:ext cx="113157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975" b="1">
                <a:solidFill>
                  <a:srgbClr val="12343B"/>
                </a:solidFill>
                <a:latin typeface="Calibri"/>
              </a:rPr>
              <a:t>Memo Writer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34072" y="2036826"/>
            <a:ext cx="113157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Writes every justification and the grant memo</a:t>
            </a:r>
          </a:p>
        </p:txBody>
      </p:sp>
      <p:sp>
        <p:nvSpPr>
          <p:cNvPr id="34" name="Session state"/>
          <p:cNvSpPr/>
          <p:nvPr/>
        </p:nvSpPr>
        <p:spPr>
          <a:xfrm>
            <a:off x="2708910" y="2647188"/>
            <a:ext cx="5952744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5" name="TextBox 34"/>
          <p:cNvSpPr txBox="1"/>
          <p:nvPr/>
        </p:nvSpPr>
        <p:spPr>
          <a:xfrm>
            <a:off x="2811780" y="2720870"/>
            <a:ext cx="5747004" cy="126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225"/>
              </a:spcAft>
            </a:pPr>
            <a:r>
              <a:rPr sz="825" b="1">
                <a:solidFill>
                  <a:srgbClr val="1F6F6B"/>
                </a:solidFill>
                <a:latin typeface="Calibri"/>
              </a:rPr>
              <a:t>Shared session.state   </a:t>
            </a:r>
            <a:r>
              <a:rPr sz="825">
                <a:solidFill>
                  <a:srgbClr val="12343B"/>
                </a:solidFill>
                <a:latin typeface="Calibri"/>
              </a:rPr>
              <a:t>cascade  →  risk  →  allocation  →  decisions</a:t>
            </a:r>
          </a:p>
        </p:txBody>
      </p:sp>
      <p:sp>
        <p:nvSpPr>
          <p:cNvPr id="36" name="MCP Toolbox"/>
          <p:cNvSpPr/>
          <p:nvPr/>
        </p:nvSpPr>
        <p:spPr>
          <a:xfrm>
            <a:off x="2708911" y="3326130"/>
            <a:ext cx="2866643" cy="72009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9050">
            <a:solidFill>
              <a:srgbClr val="1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7" name="TextBox 36"/>
          <p:cNvSpPr txBox="1"/>
          <p:nvPr/>
        </p:nvSpPr>
        <p:spPr>
          <a:xfrm>
            <a:off x="2832354" y="3394710"/>
            <a:ext cx="2619756" cy="429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975" b="1">
                <a:solidFill>
                  <a:srgbClr val="12343B"/>
                </a:solidFill>
                <a:latin typeface="Calibri"/>
              </a:rPr>
              <a:t>MCP Toolbox for Databases </a:t>
            </a:r>
            <a:r>
              <a:rPr sz="825">
                <a:solidFill>
                  <a:srgbClr val="1F6F6B"/>
                </a:solidFill>
                <a:latin typeface="Calibri"/>
              </a:rPr>
              <a:t>· Cloud Run</a:t>
            </a:r>
          </a:p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anchor_cascade (GQL) · supply_cascade · business_profile · tract_profile · loan_history</a:t>
            </a:r>
          </a:p>
        </p:txBody>
      </p:sp>
      <p:sp>
        <p:nvSpPr>
          <p:cNvPr id="38" name="Python tools"/>
          <p:cNvSpPr/>
          <p:nvPr/>
        </p:nvSpPr>
        <p:spPr>
          <a:xfrm>
            <a:off x="5795010" y="3326130"/>
            <a:ext cx="2866643" cy="72009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9050">
            <a:solidFill>
              <a:srgbClr val="C2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9" name="TextBox 38"/>
          <p:cNvSpPr txBox="1"/>
          <p:nvPr/>
        </p:nvSpPr>
        <p:spPr>
          <a:xfrm>
            <a:off x="5918453" y="3394710"/>
            <a:ext cx="2619756" cy="429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975" b="1">
                <a:solidFill>
                  <a:srgbClr val="12343B"/>
                </a:solidFill>
                <a:latin typeface="Calibri"/>
              </a:rPr>
              <a:t>Custom Python tools </a:t>
            </a:r>
            <a:r>
              <a:rPr sz="825">
                <a:solidFill>
                  <a:srgbClr val="C27C00"/>
                </a:solidFill>
                <a:latin typeface="Calibri"/>
              </a:rPr>
              <a:t>· ADK FunctionTool</a:t>
            </a:r>
          </a:p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score_exposure · fragility · allocate_budget · sensitivity · equity_audit · build_memo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370707" y="3051810"/>
            <a:ext cx="0" cy="274320"/>
          </a:xfrm>
          <a:prstGeom prst="line">
            <a:avLst/>
          </a:prstGeom>
          <a:ln w="22225">
            <a:solidFill>
              <a:srgbClr val="1F6F6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913757" y="3051810"/>
            <a:ext cx="0" cy="274320"/>
          </a:xfrm>
          <a:prstGeom prst="line">
            <a:avLst/>
          </a:prstGeom>
          <a:ln w="22225">
            <a:solidFill>
              <a:srgbClr val="1F6F6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456807" y="3051810"/>
            <a:ext cx="0" cy="274320"/>
          </a:xfrm>
          <a:prstGeom prst="line">
            <a:avLst/>
          </a:prstGeom>
          <a:ln w="22225">
            <a:solidFill>
              <a:srgbClr val="C27C00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999857" y="3051810"/>
            <a:ext cx="0" cy="274320"/>
          </a:xfrm>
          <a:prstGeom prst="line">
            <a:avLst/>
          </a:prstGeom>
          <a:ln w="22225">
            <a:solidFill>
              <a:srgbClr val="C27C00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BigQuery"/>
          <p:cNvSpPr/>
          <p:nvPr/>
        </p:nvSpPr>
        <p:spPr>
          <a:xfrm>
            <a:off x="2708910" y="4286250"/>
            <a:ext cx="5952744" cy="534924"/>
          </a:xfrm>
          <a:prstGeom prst="roundRect">
            <a:avLst>
              <a:gd name="adj" fmla="val 12000"/>
            </a:avLst>
          </a:prstGeom>
          <a:solidFill>
            <a:srgbClr val="1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5" name="TextBox 44"/>
          <p:cNvSpPr txBox="1"/>
          <p:nvPr/>
        </p:nvSpPr>
        <p:spPr>
          <a:xfrm>
            <a:off x="2846071" y="4416105"/>
            <a:ext cx="5678423" cy="3026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225"/>
              </a:spcAft>
            </a:pPr>
            <a:r>
              <a:rPr sz="975" b="1">
                <a:solidFill>
                  <a:srgbClr val="FFFFFF"/>
                </a:solidFill>
                <a:latin typeface="Calibri"/>
              </a:rPr>
              <a:t>BigQuery </a:t>
            </a:r>
            <a:r>
              <a:rPr sz="825">
                <a:solidFill>
                  <a:srgbClr val="B8D4D0"/>
                </a:solidFill>
                <a:latin typeface="Calibri"/>
              </a:rPr>
              <a:t>· a4i_econ · property graph LocalEconomy, queried with GQL · Enterprise reservation</a:t>
            </a:r>
          </a:p>
          <a:p>
            <a:pPr>
              <a:spcAft>
                <a:spcPts val="225"/>
              </a:spcAft>
            </a:pPr>
            <a:r>
              <a:rPr sz="825">
                <a:solidFill>
                  <a:srgbClr val="FFFFFF"/>
                </a:solidFill>
                <a:latin typeface="Calibri"/>
              </a:rPr>
              <a:t>businesses · employer_blocks · supplies · draws_footfall_from · borrowed_from · tract_demographics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142232" y="4046220"/>
            <a:ext cx="0" cy="240031"/>
          </a:xfrm>
          <a:prstGeom prst="line">
            <a:avLst/>
          </a:prstGeom>
          <a:ln w="22225">
            <a:solidFill>
              <a:srgbClr val="1F6F6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Legend"/>
          <p:cNvSpPr/>
          <p:nvPr/>
        </p:nvSpPr>
        <p:spPr>
          <a:xfrm>
            <a:off x="342900" y="3566160"/>
            <a:ext cx="1577340" cy="1255014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B8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8" name="TextBox 47"/>
          <p:cNvSpPr txBox="1"/>
          <p:nvPr/>
        </p:nvSpPr>
        <p:spPr>
          <a:xfrm>
            <a:off x="466344" y="3634740"/>
            <a:ext cx="1330452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975" b="1">
                <a:solidFill>
                  <a:srgbClr val="12343B"/>
                </a:solidFill>
                <a:latin typeface="Calibri"/>
              </a:rPr>
              <a:t>How they talk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66344" y="3963924"/>
            <a:ext cx="342900" cy="0"/>
          </a:xfrm>
          <a:prstGeom prst="line">
            <a:avLst/>
          </a:prstGeom>
          <a:ln w="22225">
            <a:solidFill>
              <a:srgbClr val="C27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91541" y="3907304"/>
            <a:ext cx="925829" cy="126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HTTPS request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66344" y="4169664"/>
            <a:ext cx="342900" cy="0"/>
          </a:xfrm>
          <a:prstGeom prst="line">
            <a:avLst/>
          </a:prstGeom>
          <a:ln w="22225">
            <a:solidFill>
              <a:srgbClr val="1F6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91541" y="4113044"/>
            <a:ext cx="925829" cy="126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ADK state handoff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66344" y="4375404"/>
            <a:ext cx="342900" cy="0"/>
          </a:xfrm>
          <a:prstGeom prst="line">
            <a:avLst/>
          </a:prstGeom>
          <a:ln w="22225">
            <a:solidFill>
              <a:srgbClr val="1F6F6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91541" y="4318784"/>
            <a:ext cx="925829" cy="126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MCP tool call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66344" y="4581144"/>
            <a:ext cx="342900" cy="0"/>
          </a:xfrm>
          <a:prstGeom prst="line">
            <a:avLst/>
          </a:prstGeom>
          <a:ln w="22225">
            <a:solidFill>
              <a:srgbClr val="C27C00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91541" y="4524524"/>
            <a:ext cx="925829" cy="126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Python function call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1479</Words>
  <Application>Microsoft Macintosh PowerPoint</Application>
  <PresentationFormat>On-screen Show (16:9)</PresentationFormat>
  <Paragraphs>156</Paragraphs>
  <Slides>6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Google Sans</vt:lpstr>
      <vt:lpstr>Google Sans Flex</vt:lpstr>
      <vt:lpstr>Google Sans Flex Medium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Amogh Upadhyay</cp:lastModifiedBy>
  <cp:revision>7</cp:revision>
  <dcterms:modified xsi:type="dcterms:W3CDTF">2026-10-27T18:43:12Z</dcterms:modified>
</cp:coreProperties>
</file>